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8120592e8b48a2" /><Relationship Type="http://schemas.openxmlformats.org/officeDocument/2006/relationships/extended-properties" Target="/docProps/app.xml" Id="R7df00bc888ed42ec" /><Relationship Type="http://schemas.openxmlformats.org/officeDocument/2006/relationships/officeDocument" Target="/ppt/presentation.xml" Id="Ra4bae674970c49ea" /></Relationships>
</file>

<file path=ppt/presentation.xml><?xml version="1.0" encoding="utf-8"?>
<p:presentation xmlns:p="http://schemas.openxmlformats.org/presentationml/2006/main">
  <p:sldMasterIdLst>
    <p:sldMasterId xmlns:r="http://schemas.openxmlformats.org/officeDocument/2006/relationships" id="2147483648" r:id="R908bc3ce4abe4f4e"/>
  </p:sldMasterIdLst>
  <p:notesMasterIdLst>
    <p:notesMasterId xmlns:r="http://schemas.openxmlformats.org/officeDocument/2006/relationships" r:id="Ra7d5c0f74c464eb4"/>
  </p:notesMasterIdLst>
  <p:sldIdLst>
    <p:sldId xmlns:r="http://schemas.openxmlformats.org/officeDocument/2006/relationships" id="256" r:id="R1c6865d8fe514da7"/>
    <p:sldId xmlns:r="http://schemas.openxmlformats.org/officeDocument/2006/relationships" id="257" r:id="R9d212cd943ad43e9"/>
    <p:sldId xmlns:r="http://schemas.openxmlformats.org/officeDocument/2006/relationships" id="258" r:id="Re29b18d7f28942aa"/>
    <p:sldId xmlns:r="http://schemas.openxmlformats.org/officeDocument/2006/relationships" id="259" r:id="R6de590e701d9434c"/>
    <p:sldId xmlns:r="http://schemas.openxmlformats.org/officeDocument/2006/relationships" id="260" r:id="R18a156504a3c4334"/>
    <p:sldId xmlns:r="http://schemas.openxmlformats.org/officeDocument/2006/relationships" id="261" r:id="R647556e4a51640e2"/>
    <p:sldId xmlns:r="http://schemas.openxmlformats.org/officeDocument/2006/relationships" id="262" r:id="R43866d26b8544f90"/>
    <p:sldId xmlns:r="http://schemas.openxmlformats.org/officeDocument/2006/relationships" id="263" r:id="R65ac46c6c8f5435a"/>
    <p:sldId xmlns:r="http://schemas.openxmlformats.org/officeDocument/2006/relationships" id="264" r:id="Rbd208912e1914864"/>
    <p:sldId xmlns:r="http://schemas.openxmlformats.org/officeDocument/2006/relationships" id="265" r:id="Ra8afa5410fd84a41"/>
    <p:sldId xmlns:r="http://schemas.openxmlformats.org/officeDocument/2006/relationships" id="266" r:id="R692655933bfa4ccc"/>
    <p:sldId xmlns:r="http://schemas.openxmlformats.org/officeDocument/2006/relationships" id="267" r:id="Rdd380d2024ce4e55"/>
    <p:sldId xmlns:r="http://schemas.openxmlformats.org/officeDocument/2006/relationships" id="268" r:id="Rcbed8e067aaa4f8f"/>
    <p:sldId xmlns:r="http://schemas.openxmlformats.org/officeDocument/2006/relationships" id="269" r:id="R0b688d40e8a44e95"/>
    <p:sldId xmlns:r="http://schemas.openxmlformats.org/officeDocument/2006/relationships" id="270" r:id="R99a3f9f25c2944b6"/>
    <p:sldId xmlns:r="http://schemas.openxmlformats.org/officeDocument/2006/relationships" id="271" r:id="R8c7a4f82dfae4f03"/>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e732e1cffd4afe" /><Relationship Type="http://schemas.openxmlformats.org/officeDocument/2006/relationships/slideMaster" Target="/ppt/slideMasters/slideMaster1.xml" Id="R908bc3ce4abe4f4e" /><Relationship Type="http://schemas.openxmlformats.org/officeDocument/2006/relationships/notesMaster" Target="/ppt/notesMasters/notesMaster1.xml" Id="Ra7d5c0f74c464eb4" /><Relationship Type="http://schemas.openxmlformats.org/officeDocument/2006/relationships/presProps" Target="/ppt/presProps.xml" Id="R4626d930da9f4ef1" /><Relationship Type="http://schemas.openxmlformats.org/officeDocument/2006/relationships/tableStyles" Target="/ppt/tableStyles.xml" Id="R2a965d753d744ff0" /><Relationship Type="http://schemas.openxmlformats.org/officeDocument/2006/relationships/slide" Target="/ppt/slides/slide1.xml" Id="R1c6865d8fe514da7" /><Relationship Type="http://schemas.openxmlformats.org/officeDocument/2006/relationships/slide" Target="/ppt/slides/slide2.xml" Id="R9d212cd943ad43e9" /><Relationship Type="http://schemas.openxmlformats.org/officeDocument/2006/relationships/slide" Target="/ppt/slides/slide3.xml" Id="Re29b18d7f28942aa" /><Relationship Type="http://schemas.openxmlformats.org/officeDocument/2006/relationships/slide" Target="/ppt/slides/slide4.xml" Id="R6de590e701d9434c" /><Relationship Type="http://schemas.openxmlformats.org/officeDocument/2006/relationships/slide" Target="/ppt/slides/slide5.xml" Id="R18a156504a3c4334" /><Relationship Type="http://schemas.openxmlformats.org/officeDocument/2006/relationships/slide" Target="/ppt/slides/slide6.xml" Id="R647556e4a51640e2" /><Relationship Type="http://schemas.openxmlformats.org/officeDocument/2006/relationships/slide" Target="/ppt/slides/slide7.xml" Id="R43866d26b8544f90" /><Relationship Type="http://schemas.openxmlformats.org/officeDocument/2006/relationships/slide" Target="/ppt/slides/slide8.xml" Id="R65ac46c6c8f5435a" /><Relationship Type="http://schemas.openxmlformats.org/officeDocument/2006/relationships/slide" Target="/ppt/slides/slide9.xml" Id="Rbd208912e1914864" /><Relationship Type="http://schemas.openxmlformats.org/officeDocument/2006/relationships/slide" Target="/ppt/slides/slide10.xml" Id="Ra8afa5410fd84a41" /><Relationship Type="http://schemas.openxmlformats.org/officeDocument/2006/relationships/slide" Target="/ppt/slides/slide11.xml" Id="R692655933bfa4ccc" /><Relationship Type="http://schemas.openxmlformats.org/officeDocument/2006/relationships/slide" Target="/ppt/slides/slide12.xml" Id="Rdd380d2024ce4e55" /><Relationship Type="http://schemas.openxmlformats.org/officeDocument/2006/relationships/slide" Target="/ppt/slides/slide13.xml" Id="Rcbed8e067aaa4f8f" /><Relationship Type="http://schemas.openxmlformats.org/officeDocument/2006/relationships/slide" Target="/ppt/slides/slide14.xml" Id="R0b688d40e8a44e95" /><Relationship Type="http://schemas.openxmlformats.org/officeDocument/2006/relationships/slide" Target="/ppt/slides/slide15.xml" Id="R99a3f9f25c2944b6" /><Relationship Type="http://schemas.openxmlformats.org/officeDocument/2006/relationships/slide" Target="/ppt/slides/slide16.xml" Id="R8c7a4f82dfae4f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cc3f5f5e234c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ec4149bd42446b" /><Relationship Type="http://schemas.openxmlformats.org/officeDocument/2006/relationships/notesMaster" Target="/ppt/notesMasters/notesMaster1.xml" Id="Rc0dd0e8bf21944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a7ca32ad284507" /><Relationship Type="http://schemas.openxmlformats.org/officeDocument/2006/relationships/notesMaster" Target="/ppt/notesMasters/notesMaster1.xml" Id="R149de1adbb064d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45d65b6cda4bda" /><Relationship Type="http://schemas.openxmlformats.org/officeDocument/2006/relationships/notesMaster" Target="/ppt/notesMasters/notesMaster1.xml" Id="R7490e74c0e3942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438ca637f249e6" /><Relationship Type="http://schemas.openxmlformats.org/officeDocument/2006/relationships/notesMaster" Target="/ppt/notesMasters/notesMaster1.xml" Id="R6927f8373c3a41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ed27ade46f4aaa" /><Relationship Type="http://schemas.openxmlformats.org/officeDocument/2006/relationships/notesMaster" Target="/ppt/notesMasters/notesMaster1.xml" Id="R319be563bd0947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57565f1c014dca" /><Relationship Type="http://schemas.openxmlformats.org/officeDocument/2006/relationships/notesMaster" Target="/ppt/notesMasters/notesMaster1.xml" Id="Rdbd533d5bf254f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89a77ee23f460a" /><Relationship Type="http://schemas.openxmlformats.org/officeDocument/2006/relationships/notesMaster" Target="/ppt/notesMasters/notesMaster1.xml" Id="Rc7edcc21ba2e42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63beff92db402e" /><Relationship Type="http://schemas.openxmlformats.org/officeDocument/2006/relationships/notesMaster" Target="/ppt/notesMasters/notesMaster1.xml" Id="R8078ebd86f7247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55b52d85d146a5" /><Relationship Type="http://schemas.openxmlformats.org/officeDocument/2006/relationships/notesMaster" Target="/ppt/notesMasters/notesMaster1.xml" Id="R8bddba67568545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2389fb2b184cda" /><Relationship Type="http://schemas.openxmlformats.org/officeDocument/2006/relationships/notesMaster" Target="/ppt/notesMasters/notesMaster1.xml" Id="R4a148e026eee40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d3df80f8294520" /><Relationship Type="http://schemas.openxmlformats.org/officeDocument/2006/relationships/notesMaster" Target="/ppt/notesMasters/notesMaster1.xml" Id="R683d9c7ad5fd40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d6b30ab81a46d3" /><Relationship Type="http://schemas.openxmlformats.org/officeDocument/2006/relationships/notesMaster" Target="/ppt/notesMasters/notesMaster1.xml" Id="R8ba75d5b241c48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39e02398874f03" /><Relationship Type="http://schemas.openxmlformats.org/officeDocument/2006/relationships/notesMaster" Target="/ppt/notesMasters/notesMaster1.xml" Id="R8a570f6bc6264b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2403071f574230" /><Relationship Type="http://schemas.openxmlformats.org/officeDocument/2006/relationships/notesMaster" Target="/ppt/notesMasters/notesMaster1.xml" Id="Rd60f6f13b44d40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70504c48254167" /><Relationship Type="http://schemas.openxmlformats.org/officeDocument/2006/relationships/notesMaster" Target="/ppt/notesMasters/notesMaster1.xml" Id="Rd8469a5427b340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df62fd1a464997" /><Relationship Type="http://schemas.openxmlformats.org/officeDocument/2006/relationships/notesMaster" Target="/ppt/notesMasters/notesMaster1.xml" Id="R9b1ba37df36f4d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Официальная тема сохранена точно: An Intelligent Computer Vision System for Plant Disease Diagnosis in Kazakhstan. Команда и полный proposal приведены в PROJECT_PROPOSAL.md. Сведения об именах и группах перед официальной сдачей сверяются с регистрационными данными. Этап: исследование и проектирование. Обученная модель и работающее приложение не заявляются. Материалы к заданию на 24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An Intelligent Computer Vision System for Plant Disease Diagnosis in Kazakhstan</a:t>
            </a:r>
          </a:p>
          <a:p xmlns:a="http://schemas.openxmlformats.org/drawingml/2006/main">
            <a:r>
              <a:t/>
            </a:r>
          </a:p>
          <a:p xmlns:a="http://schemas.openxmlformats.org/drawingml/2006/main">
            <a:r>
              <a:t>## Project proposal к этапу 24 октября 2026 года</a:t>
            </a:r>
          </a:p>
          <a:p xmlns:a="http://schemas.openxmlformats.org/drawingml/2006/main">
            <a:r>
              <a:t/>
            </a:r>
          </a:p>
          <a:p xmlns:a="http://schemas.openxmlformats.org/drawingml/2006/main">
            <a:r>
              <a:t>**Рабочее название продукта:** AgroVision.  </a:t>
            </a:r>
          </a:p>
          <a:p xmlns:a="http://schemas.openxmlformats.org/drawingml/2006/main">
            <a:r>
              <a:t>**Назначение:** исследовательский прототип многокультурной системы предварительной оценки видимых симптомов по фотографии растения, с мобильным интерфейсом и общей серверной платформой.  </a:t>
            </a:r>
          </a:p>
          <a:p xmlns:a="http://schemas.openxmlformats.org/drawingml/2006/main">
            <a:r>
              <a:t>**Текущий этап:** исследование, проектирование, интерактивный мобильный прототип и подготовка к реализации. Обученная модель и работающее приложение этим документом не заявляются.</a:t>
            </a:r>
          </a:p>
          <a:p xmlns:a="http://schemas.openxmlformats.org/drawingml/2006/main">
            <a:r>
              <a:t/>
            </a:r>
          </a:p>
          <a:p xmlns:a="http://schemas.openxmlformats.org/drawingml/2006/main">
            <a:r>
              <a:t>## Команда и распределение ответственности</a:t>
            </a:r>
          </a:p>
          <a:p xmlns:a="http://schemas.openxmlformats.org/drawingml/2006/main">
            <a:r>
              <a:t/>
            </a:r>
          </a:p>
          <a:p xmlns:a="http://schemas.openxmlformats.org/drawingml/2006/main">
            <a:r>
              <a:t>Сведения об именах и группах перенесены из предоставленного командой контекста; перед официальной сдачей необходимо сверить их с действующими регистрационными данными.</a:t>
            </a:r>
          </a:p>
          <a:p xmlns:a="http://schemas.openxmlformats.org/drawingml/2006/main">
            <a:r>
              <a:t/>
            </a:r>
          </a:p>
          <a:p xmlns:a="http://schemas.openxmlformats.org/drawingml/2006/main">
            <a:r>
              <a:t>| Участник | Группа | Предлагаемая зона ответственности |</a:t>
            </a:r>
          </a:p>
          <a:p xmlns:a="http://schemas.openxmlformats.org/drawingml/2006/main">
            <a:r>
              <a:t>|---|---|---|</a:t>
            </a:r>
          </a:p>
          <a:p xmlns:a="http://schemas.openxmlformats.org/drawingml/2006/main">
            <a:r>
              <a:t>| Сыртбай Мақсат Берікұлы | SE-2401 | Мобильное приложение, API, модель данных, надежность обработки, инфраструктура, интеграция, Git и YouTrack |</a:t>
            </a:r>
          </a:p>
          <a:p xmlns:a="http://schemas.openxmlformats.org/drawingml/2006/main">
            <a:r>
              <a:t>| Матығұл Қайсар Алмасұлы | SE-2402 | Аудит данных, онтология меток, обучение, оценка, экспорт модели, воспроизводимость экспериментов |</a:t>
            </a:r>
          </a:p>
          <a:p xmlns:a="http://schemas.openxmlformats.org/drawingml/2006/main">
            <a:r>
              <a:t>| Кутпанова Зарина Алмабековна | Руководитель | Содержательная обратная связь по цели, исследовательскому протоколу и границам проекта |</a:t>
            </a:r>
          </a:p>
          <a:p xmlns:a="http://schemas.openxmlformats.org/drawingml/2006/main">
            <a:r>
              <a:t/>
            </a:r>
          </a:p>
          <a:p xmlns:a="http://schemas.openxmlformats.org/drawingml/2006/main">
            <a:r>
              <a:t>Указание руководителя не означает, что он уже рассмотрел или утвердил данный пакет. Оба студента участвуют в интервью и взаимном review. Авторство фиксируется собственными Git-аккаунтами и содержательными изменениями.</a:t>
            </a:r>
          </a:p>
          <a:p xmlns:a="http://schemas.openxmlformats.org/drawingml/2006/main">
            <a:r>
              <a:t/>
            </a:r>
          </a:p>
          <a:p xmlns:a="http://schemas.openxmlformats.org/drawingml/2006/main">
            <a:r>
              <a:t>## Проблема и целевые пользователи</a:t>
            </a:r>
          </a:p>
          <a:p xmlns:a="http://schemas.openxmlformats.org/drawingml/2006/main">
            <a:r>
              <a:t/>
            </a:r>
          </a:p>
          <a:p xmlns:a="http://schemas.openxmlformats.org/drawingml/2006/main">
            <a:r>
              <a:t>Целевая ситуация — пользователь замечает изменение листа в поле или хозяйстве, делает фото на телефон и хочет понять, какие следующие действия разумны. Приложение должно сохранить наблюдение, предложить ограниченный список вероятных состояний, показать границы вывода и позволить вернуться к случаю позже. Возможность сохранить фото при отсутствии связи важнее обещания обязательной диагностики прямо на телефоне в первой версии.</a:t>
            </a:r>
          </a:p>
          <a:p xmlns:a="http://schemas.openxmlformats.org/drawingml/2006/main">
            <a:r>
              <a:t/>
            </a:r>
          </a:p>
          <a:p xmlns:a="http://schemas.openxmlformats.org/drawingml/2006/main">
            <a:r>
              <a:t>Основные пользователи — фермеры и работники растениеводческих хозяйств. Вторичная роль — агроном или специалист, проверяющий отдельные наблюдения и качество разметки. Исследовательская команда выступает оператором данных и версий модели. Существование этих ролей является проектной гипотезой; конкретные рабочие процессы и приоритеты должны быть подтверждены разговорами с потенциальными пользователями.</a:t>
            </a:r>
          </a:p>
          <a:p xmlns:a="http://schemas.openxmlformats.org/drawingml/2006/main">
            <a:r>
              <a:t/>
            </a:r>
          </a:p>
          <a:p xmlns:a="http://schemas.openxmlformats.org/drawingml/2006/main">
            <a:r>
              <a:t>Казахстанский контекст предполагает подбор реально выращиваемых культур, русскую и казахскую локализацию, съемку на доступные телефоны, участие местного специалиста и отдельную проверку на локальных данных. Официальная публикация Министерства сельского хозяйства о посевной 2026 года подтверждает разнообразие зерновых, масличных, картофеля и овощей. Она не является доказательством распространенности конкретной болезни или спроса на приложение [S1].</a:t>
            </a:r>
          </a:p>
          <a:p xmlns:a="http://schemas.openxmlformats.org/drawingml/2006/main">
            <a:r>
              <a:t/>
            </a:r>
          </a:p>
          <a:p xmlns:a="http://schemas.openxmlformats.org/drawingml/2006/main">
            <a:r>
              <a:t>## Цель</a:t>
            </a:r>
          </a:p>
          <a:p xmlns:a="http://schemas.openxmlformats.org/drawingml/2006/main">
            <a:r>
              <a:t/>
            </a:r>
          </a:p>
          <a:p xmlns:a="http://schemas.openxmlformats.org/drawingml/2006/main">
            <a:r>
              <a:t>**Спроектировать, реализовать и экспериментально оценить воспроизводимую систему предварительной визуальной диагностики ограниченного набора состояний нескольких сельскохозяйственных культур, ориентированную на использование в Казахстане и способную явно сообщать о недостаточности данных.**</a:t>
            </a:r>
          </a:p>
          <a:p xmlns:a="http://schemas.openxmlformats.org/drawingml/2006/main">
            <a:r>
              <a:t/>
            </a:r>
          </a:p>
          <a:p xmlns:a="http://schemas.openxmlformats.org/drawingml/2006/main">
            <a:r>
              <a:t>Слово Diagnosis сохраняется в официальной теме. В пользовательском интерфейсе вывод формулируется как гипотеза по видимым признакам: отдельные причины повреждения нельзя надежно подтвердить одним RGB-фото. Ограничения описываются в model card и проверяются в эксперименте, а не скрываются общей цифрой accuracy [S2–S4].</a:t>
            </a:r>
          </a:p>
          <a:p xmlns:a="http://schemas.openxmlformats.org/drawingml/2006/main">
            <a:r>
              <a:t/>
            </a:r>
          </a:p>
          <a:p xmlns:a="http://schemas.openxmlformats.org/drawingml/2006/main">
            <a:r>
              <a:t>## Исследовательские вопросы</a:t>
            </a:r>
          </a:p>
          <a:p xmlns:a="http://schemas.openxmlformats.org/drawingml/2006/main">
            <a:r>
              <a:t/>
            </a:r>
          </a:p>
          <a:p xmlns:a="http://schemas.openxmlformats.org/drawingml/2006/main">
            <a:r>
              <a:t>1. Какая из компактных моделей EfficientNet-B0, MobileNetV3-Large и ResNet18 дает лучший компромисс между macro-F1, переносом на новый источник, потреблением памяти и CPU-задержкой при одинаковом протоколе?</a:t>
            </a:r>
          </a:p>
          <a:p xmlns:a="http://schemas.openxmlformats.org/drawingml/2006/main">
            <a:r>
              <a:t>2. Насколько результат ухудшается при переходе от исходных публичных наборов к новому источнику и локальным фотографиям из Казахстана?</a:t>
            </a:r>
          </a:p>
          <a:p xmlns:a="http://schemas.openxmlformats.org/drawingml/2006/main">
            <a:r>
              <a:t>3. Помогает ли явно выбранная пользователем культура при сохранении информации о конфликте между культурой и изображением?</a:t>
            </a:r>
          </a:p>
          <a:p xmlns:a="http://schemas.openxmlformats.org/drawingml/2006/main">
            <a:r>
              <a:t>4. Как меняются ошибки и полезное покрытие, когда система отказывается от ненадежного ответа?</a:t>
            </a:r>
          </a:p>
          <a:p xmlns:a="http://schemas.openxmlformats.org/drawingml/2006/main">
            <a:r>
              <a:t>5. Можно ли воспроизвести обучение на GPU с 4–6 GB памяти и интегрировать выбранную модель в надежный мобильный сценарий?</a:t>
            </a:r>
          </a:p>
          <a:p xmlns:a="http://schemas.openxmlformats.org/drawingml/2006/main">
            <a:r>
              <a:t/>
            </a:r>
          </a:p>
          <a:p xmlns:a="http://schemas.openxmlformats.org/drawingml/2006/main">
            <a:r>
              <a:t>Это проверяемые вопросы. Итог эксперимента может показать, что MobileNetV3 лучше B0, что данных для одной культуры недостаточно или что локальный перенос пока слаб. Такой результат полезен, если он получен корректно и приводит к обоснованному ограничению системы.</a:t>
            </a:r>
          </a:p>
          <a:p xmlns:a="http://schemas.openxmlformats.org/drawingml/2006/main">
            <a:r>
              <a:t/>
            </a:r>
          </a:p>
          <a:p xmlns:a="http://schemas.openxmlformats.org/drawingml/2006/main">
            <a:r>
              <a:t>## Задачи</a:t>
            </a:r>
          </a:p>
          <a:p xmlns:a="http://schemas.openxmlformats.org/drawingml/2006/main">
            <a:r>
              <a:t/>
            </a:r>
          </a:p>
          <a:p xmlns:a="http://schemas.openxmlformats.org/drawingml/2006/main">
            <a:r>
              <a:t>1. Провести 3–5 обсуждений с представителями целевых пользователей либо получить содержательное соглашение с реальным заказчиком. Зафиксировать подтвержденные потребности и измененные требования.</a:t>
            </a:r>
          </a:p>
          <a:p xmlns:a="http://schemas.openxmlformats.org/drawingml/2006/main">
            <a:r>
              <a:t>2. Выполнить критический обзор литературы и сравнить существующие решения по одинаковым критериям.</a:t>
            </a:r>
          </a:p>
          <a:p xmlns:a="http://schemas.openxmlformats.org/drawingml/2006/main">
            <a:r>
              <a:t>3. Проверить происхождение, версии, условия использования и классы выбранных наборов; создать единый manifest и словарь меток.</a:t>
            </a:r>
          </a:p>
          <a:p xmlns:a="http://schemas.openxmlformats.org/drawingml/2006/main">
            <a:r>
              <a:t>4. Подготовить разделения без пересечения связанных изображений, отдельный источник для проверки переноса и план локального сбора.</a:t>
            </a:r>
          </a:p>
          <a:p xmlns:a="http://schemas.openxmlformats.org/drawingml/2006/main">
            <a:r>
              <a:t>5. Обучить и сопоставить три компактные модели с переносом ImageNet-весов; измерить память, время и качество.</a:t>
            </a:r>
          </a:p>
          <a:p xmlns:a="http://schemas.openxmlformats.org/drawingml/2006/main">
            <a:r>
              <a:t>6. Реализовать модельный bundle с фиксированными классами, preprocessing, postprocessing, порогами и происхождением данных.</a:t>
            </a:r>
          </a:p>
          <a:p xmlns:a="http://schemas.openxmlformats.org/drawingml/2006/main">
            <a:r>
              <a:t>7. Реализовать мобильный сценарий съемки, отправки, ожидания, результата, истории и обратной связи через общий API.</a:t>
            </a:r>
          </a:p>
          <a:p xmlns:a="http://schemas.openxmlformats.org/drawingml/2006/main">
            <a:r>
              <a:t>8. Проверить восстановление задач, изоляцию пользовательских данных, согласованность экспорта и понятность интерфейса.</a:t>
            </a:r>
          </a:p>
          <a:p xmlns:a="http://schemas.openxmlformats.org/drawingml/2006/main">
            <a:r>
              <a:t>9. Документировать результаты, ограничения, индивидуальный вклад команды и ответы на замечания руководителя.</a:t>
            </a:r>
          </a:p>
          <a:p xmlns:a="http://schemas.openxmlformats.org/drawingml/2006/main">
            <a:r>
              <a:t/>
            </a:r>
          </a:p>
          <a:p xmlns:a="http://schemas.openxmlformats.org/drawingml/2006/main">
            <a:r>
              <a:t>## Объем первой версии</a:t>
            </a:r>
          </a:p>
          <a:p xmlns:a="http://schemas.openxmlformats.org/drawingml/2006/main">
            <a:r>
              <a:t/>
            </a:r>
          </a:p>
          <a:p xmlns:a="http://schemas.openxmlformats.org/drawingml/2006/main">
            <a:r>
              <a:t>**Кандидаты пилота:** пшеница, картофель, томат. Это выбор для аудита данных и обсуждения с партнером, а не уже подтвержденный перечень возможностей. Кукуруза — ближайший кандидат расширения. Если реальные пользователи работают с другими культурами, приоритет корректируется до обучения и фиксируется в ADR.</a:t>
            </a:r>
          </a:p>
          <a:p xmlns:a="http://schemas.openxmlformats.org/drawingml/2006/main">
            <a:r>
              <a:t/>
            </a:r>
          </a:p>
          <a:p xmlns:a="http://schemas.openxmlformats.org/drawingml/2006/main">
            <a:r>
              <a:t>Единица поддержки — конкретная пара `crop_id × condition_id` и допустимый орган растения. Например, наличие пшеницы в каталоге не означает распознавание любых болезней пшеницы. В первой версии анализируется одно основное RGB-фото листа. Дополнительные фото могут сохраняться как контекст; автоматическое объединение нескольких ракурсов требует отдельного протокола.</a:t>
            </a:r>
          </a:p>
          <a:p xmlns:a="http://schemas.openxmlformats.org/drawingml/2006/main">
            <a:r>
              <a:t/>
            </a:r>
          </a:p>
          <a:p xmlns:a="http://schemas.openxmlformats.org/drawingml/2006/main">
            <a:r>
              <a:t>В MVP входят выбор культуры, съемка/загрузка, проверка допустимости изображения, асинхронная обработка, результат или явный отказ, история наблюдений, обратная связь и воспроизводимый ML-процесс. Offline-сценарий — сохранение фото и последующая отправка. Начальная обязательная клиентская проверка проводится на Android; iOS добавляется в обязательную матрицу при наличии среды и устройства. Общий контракт предусматривает React web, но дизайн и реализация веб-интерфейса сейчас отложены по решению команды.</a:t>
            </a:r>
          </a:p>
          <a:p xmlns:a="http://schemas.openxmlformats.org/drawingml/2006/main">
            <a:r>
              <a:t/>
            </a:r>
          </a:p>
          <a:p xmlns:a="http://schemas.openxmlformats.org/drawingml/2006/main">
            <a:r>
              <a:t>Автоматическое назначение препаратов, дозировок, прогноз эпидемий, оценка потери урожая, универсальная диагностика любых растений, обязательная сегментация и работа модели без сети на телефоне не входят в первый проверяемый объем. Эти функции можно обсуждать после подтверждения качества базового сценария и доступности подходящих данных.</a:t>
            </a:r>
          </a:p>
          <a:p xmlns:a="http://schemas.openxmlformats.org/drawingml/2006/main">
            <a:r>
              <a:t/>
            </a:r>
          </a:p>
          <a:p xmlns:a="http://schemas.openxmlformats.org/drawingml/2006/main">
            <a:r>
              <a:t>## Архитектурное решение</a:t>
            </a:r>
          </a:p>
          <a:p xmlns:a="http://schemas.openxmlformats.org/drawingml/2006/main">
            <a:r>
              <a:t/>
            </a:r>
          </a:p>
          <a:p xmlns:a="http://schemas.openxmlformats.org/drawingml/2006/main">
            <a:r>
              <a:t>Предлагается модульный монолит: одна Python-кодовая база, отдельные процессы FastAPI и inference worker, PostgreSQL для метаданных и устойчивой очереди, приватное объектное хранилище для изображений. Модули организуются по предметным функциям. Ports &amp; Adapters используются на границах хранения и предсказания; избыточные универсальные базовые классы не нужны.</a:t>
            </a:r>
          </a:p>
          <a:p xmlns:a="http://schemas.openxmlformats.org/drawingml/2006/main">
            <a:r>
              <a:t/>
            </a:r>
          </a:p>
          <a:p xmlns:a="http://schemas.openxmlformats.org/drawingml/2006/main">
            <a:r>
              <a:t>Модель не запускается как длительная операция внутри HTTP-запроса. API возвращает `202 Accepted`; worker получает задачу с lease token, выполняет обработку вне транзакции и публикует результат только при актуальной аренде. Идемпотентность защищает от дублей при повторной отправке с телефона. Версия модели фиксируется при создании assessment. Подробности и альтернативы приведены в `architecture/SYSTEM_DESIGN.md` и `architecture/DECISIONS.md` [S5–S6].</a:t>
            </a:r>
          </a:p>
          <a:p xmlns:a="http://schemas.openxmlformats.org/drawingml/2006/main">
            <a:r>
              <a:t/>
            </a:r>
          </a:p>
          <a:p xmlns:a="http://schemas.openxmlformats.org/drawingml/2006/main">
            <a:r>
              <a:t>Монорепозиторий содержит `apps/mobile`, будущий `apps/web`, общий TS-клиент API, `server`, независимый от FastAPI ML-runtime и отдельный training-проект. TypeScript-пакеты управляются pnpm workspace, Python-проекты — uv с отдельным окружением обучения там, где это требуется CUDA-зависимостям. OpenAPI является источником клиентского контракта [S7–S8].</a:t>
            </a:r>
          </a:p>
          <a:p xmlns:a="http://schemas.openxmlformats.org/drawingml/2006/main">
            <a:r>
              <a:t/>
            </a:r>
          </a:p>
          <a:p xmlns:a="http://schemas.openxmlformats.org/drawingml/2006/main">
            <a:r>
              <a:t>## Данные и обучение</a:t>
            </a:r>
          </a:p>
          <a:p xmlns:a="http://schemas.openxmlformats.org/drawingml/2006/main">
            <a:r>
              <a:t/>
            </a:r>
          </a:p>
          <a:p xmlns:a="http://schemas.openxmlformats.org/drawingml/2006/main">
            <a:r>
              <a:t>PlantVillage подходит для начального многокультурного baseline и отладки. Его контролируемые условия не заменяют внешний тест. В исходной работе очень высокий результат внутри PlantVillage сопровождался значительным падением на небольшом внешнем наборе; это исторический пример изменения условий, а не прогноз качества AgroVision [S2].</a:t>
            </a:r>
          </a:p>
          <a:p xmlns:a="http://schemas.openxmlformats.org/drawingml/2006/main">
            <a:r>
              <a:t/>
            </a:r>
          </a:p>
          <a:p xmlns:a="http://schemas.openxmlformats.org/drawingml/2006/main">
            <a:r>
              <a:t>В проверенном каталоге 14 кандидатов. Для пшеницы есть небольшой открытый набор из 407 снимков и публичная часть CerealConv из 999 снимков; полный CerealConv требует запроса. Для картофеля найден полевой набор с широкими категориями причин, которые нельзя без эксперта приравнять к конкретным болезням PlantVillage. Для томата проверяются версия и условия отдельного набора. PlantDoc, PlantWild и PlantSeg полезны для исследования сложного фона, но имеют собственные ограничения происхождения, разметки и лицензирования. Все сведения, URL и ограничения приведены в `data/DATASET_CATALOG.md`; архивы еще не прошли файловый аудит.</a:t>
            </a:r>
          </a:p>
          <a:p xmlns:a="http://schemas.openxmlformats.org/drawingml/2006/main">
            <a:r>
              <a:t/>
            </a:r>
          </a:p>
          <a:p xmlns:a="http://schemas.openxmlformats.org/drawingml/2006/main">
            <a:r>
              <a:t>Стартовый кандидат — EfficientNet-B0 с предобучением ImageNet и входом 224×224; обязательные соперники — MobileNetV3-Large и ResNet18. Финальный выбор определяется единым экспериментом. Для RTX 2060 6 GB предлагается начать с microbatch 8 и accumulation 4; для RTX 3050 Laptop 4 GB — с 4 и 8 соответственно. Оба дают effective batch 32. Это стартовые настройки для проверки, а не измеренные пределы памяти. Включаются FP16 AMP и корректный GradScaler; маленький microbatch требует отдельного решения для BatchNorm. Память двух компьютеров не складывается в общую 10 GB видеокарту [S9].</a:t>
            </a:r>
          </a:p>
          <a:p xmlns:a="http://schemas.openxmlformats.org/drawingml/2006/main">
            <a:r>
              <a:t/>
            </a:r>
          </a:p>
          <a:p xmlns:a="http://schemas.openxmlformats.org/drawingml/2006/main">
            <a:r>
              <a:t>## Проверка результата</a:t>
            </a:r>
          </a:p>
          <a:p xmlns:a="http://schemas.openxmlformats.org/drawingml/2006/main">
            <a:r>
              <a:t/>
            </a:r>
          </a:p>
          <a:p xmlns:a="http://schemas.openxmlformats.org/drawingml/2006/main">
            <a:r>
              <a:t>Основная ML-метрика — macro-F1 с отдельными значениями по культуре и классу, support и confusion matrix. Нужны как минимум внутренняя групповая оценка, тест на отложенном источнике и, при доступности, независимый локальный тест. Тестовые изображения не используются для выбора архитектуры, калибровки или порога отказа.</a:t>
            </a:r>
          </a:p>
          <a:p xmlns:a="http://schemas.openxmlformats.org/drawingml/2006/main">
            <a:r>
              <a:t/>
            </a:r>
          </a:p>
          <a:p xmlns:a="http://schemas.openxmlformats.org/drawingml/2006/main">
            <a:r>
              <a:t>Для неопределенности оцениваются риск среди выданных ответов и coverage, ошибки на неизвестных состояниях и конфликт культуры. Значение softmax не называется вероятностью правильного диагноза без проверки. Выбор культуры не должен скрывать малую исходную вероятность этой культуры после перенормировки [S10–S11].</a:t>
            </a:r>
          </a:p>
          <a:p xmlns:a="http://schemas.openxmlformats.org/drawingml/2006/main">
            <a:r>
              <a:t/>
            </a:r>
          </a:p>
          <a:p xmlns:a="http://schemas.openxmlformats.org/drawingml/2006/main">
            <a:r>
              <a:t>Системная оценка включает export parity PyTorch/ONNX, CPU p50/p95, обработку отказов worker, повторных запросов и чужих object IDs, сохранность offline-черновика и формативную проверку основного сценария с пользователями. Все конкретные targets и методики в `ml/TRAINING_AND_EVALUATION.md` и `planning/REQUIREMENTS_AND_TRACEABILITY.md` являются будущими критериями, а не выполненными тестами.</a:t>
            </a:r>
          </a:p>
          <a:p xmlns:a="http://schemas.openxmlformats.org/drawingml/2006/main">
            <a:r>
              <a:t/>
            </a:r>
          </a:p>
          <a:p xmlns:a="http://schemas.openxmlformats.org/drawingml/2006/main">
            <a:r>
              <a:t>## Ожидаемые результаты</a:t>
            </a:r>
          </a:p>
          <a:p xmlns:a="http://schemas.openxmlformats.org/drawingml/2006/main">
            <a:r>
              <a:t/>
            </a:r>
          </a:p>
          <a:p xmlns:a="http://schemas.openxmlformats.org/drawingml/2006/main">
            <a:r>
              <a:t>Ожидаются: проверенный каталог поддерживаемых классов; воспроизводимые manifests и split; сравнение трех baseline; выбранный model bundle и model card; мобильное приложение с общим API; отчет о переносе и отказах; документация архитектуры и проверки; история индивидуального вклада через Git/YouTrack. Если локальных данных недостаточно, результат формулируется как прототип для последующей проверки в Казахстане. Национальная валидированность без локального теста не заявляется.</a:t>
            </a:r>
          </a:p>
          <a:p xmlns:a="http://schemas.openxmlformats.org/drawingml/2006/main">
            <a:r>
              <a:t/>
            </a:r>
          </a:p>
          <a:p xmlns:a="http://schemas.openxmlformats.org/drawingml/2006/main">
            <a:r>
              <a:t>## Состояние доказательств к сдаче</a:t>
            </a:r>
          </a:p>
          <a:p xmlns:a="http://schemas.openxmlformats.org/drawingml/2006/main">
            <a:r>
              <a:t/>
            </a:r>
          </a:p>
          <a:p xmlns:a="http://schemas.openxmlformats.org/drawingml/2006/main">
            <a:r>
              <a:t>Подготовлены проектные материалы, исследования, требования, схемы, мобильный прототип и план проверки. Для фактического закрытия задания команда должна приложить реальные обсуждения/соглашение с заказчиком, доступные Git- и YouTrack-ссылки с содержательной историей, а также замечания руководителя и ответы на них. Шаблоны и план включены в пакет. Необходимо также проверить разницу между заголовком задания «До 22 октября» и разделом требований «24 October»: формы и комплект могут иметь разные сроки.</a:t>
            </a:r>
          </a:p>
          <a:p xmlns:a="http://schemas.openxmlformats.org/drawingml/2006/main">
            <a:r>
              <a:t/>
            </a:r>
          </a:p>
          <a:p xmlns:a="http://schemas.openxmlformats.org/drawingml/2006/main">
            <a:r>
              <a:t>## Источники proposal</a:t>
            </a:r>
          </a:p>
          <a:p xmlns:a="http://schemas.openxmlformats.org/drawingml/2006/main">
            <a:r>
              <a:t/>
            </a:r>
          </a:p>
          <a:p xmlns:a="http://schemas.openxmlformats.org/drawingml/2006/main">
            <a:r>
              <a:t>- **S1.** Министерство сельского хозяйства Казахстана, посевная 2026: https://www.gov.kz/org/moa/press/news/details/1236048?lang=ru</a:t>
            </a:r>
          </a:p>
          <a:p xmlns:a="http://schemas.openxmlformats.org/drawingml/2006/main">
            <a:r>
              <a:t>- **S2.** Mohanty et al. 2016: https://doi.org/10.3389/fpls.2016.01419</a:t>
            </a:r>
          </a:p>
          <a:p xmlns:a="http://schemas.openxmlformats.org/drawingml/2006/main">
            <a:r>
              <a:t>- **S3.** Xu et al. 2024, dataset challenges: https://doi.org/10.3389/fpls.2024.1452551</a:t>
            </a:r>
          </a:p>
          <a:p xmlns:a="http://schemas.openxmlformats.org/drawingml/2006/main">
            <a:r>
              <a:t>- **S4.** APS, Plant Disease Diagnosis: https://www.apsnet.org/edcenter/Pages/PlantDiseaseDiagnosis.aspx</a:t>
            </a:r>
          </a:p>
          <a:p xmlns:a="http://schemas.openxmlformats.org/drawingml/2006/main">
            <a:r>
              <a:t>- **S5.** PostgreSQL SELECT и SKIP LOCKED: https://www.postgresql.org/docs/current/sql-select.html</a:t>
            </a:r>
          </a:p>
          <a:p xmlns:a="http://schemas.openxmlformats.org/drawingml/2006/main">
            <a:r>
              <a:t>- **S6.** FastAPI Background Tasks: https://fastapi.tiangolo.com/tutorial/background-tasks/</a:t>
            </a:r>
          </a:p>
          <a:p xmlns:a="http://schemas.openxmlformats.org/drawingml/2006/main">
            <a:r>
              <a:t>- **S7.** Expo monorepos: https://docs.expo.dev/guides/monorepos/</a:t>
            </a:r>
          </a:p>
          <a:p xmlns:a="http://schemas.openxmlformats.org/drawingml/2006/main">
            <a:r>
              <a:t>- **S8.** uv workspaces: https://docs.astral.sh/uv/concepts/projects/workspaces/</a:t>
            </a:r>
          </a:p>
          <a:p xmlns:a="http://schemas.openxmlformats.org/drawingml/2006/main">
            <a:r>
              <a:t>- **S9.** PyTorch Automatic Mixed Precision: https://docs.pytorch.org/docs/stable/amp.html</a:t>
            </a:r>
          </a:p>
          <a:p xmlns:a="http://schemas.openxmlformats.org/drawingml/2006/main">
            <a:r>
              <a:t>- **S10.** Guo et al. 2017, calibration: https://proceedings.mlr.press/v70/guo17a.html</a:t>
            </a:r>
          </a:p>
          <a:p xmlns:a="http://schemas.openxmlformats.org/drawingml/2006/main">
            <a:r>
              <a:t>- **S11.** Ovadia et al. 2019, uncertainty under shift: https://proceedings.neurips.cc/paper/2019/hash/8558cb408c1d76621371888657d2eb1d-Abstract.html</a:t>
            </a:r>
          </a:p>
          <a:p xmlns:a="http://schemas.openxmlformats.org/drawingml/2006/main">
            <a:r>
              <a:t/>
            </a:r>
          </a:p>
          <a:p xmlns:a="http://schemas.openxmlformats.org/drawingml/2006/main">
            <a:r>
              <a:t>Источники проверялись 21.10.2026. Подробная критическая матрица и библиография находятся в `references/`.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Пункт 2 задания требует 3–5 реальных обсуждений с потенциальными пользователями ИЛИ содержательное соглашение с реальным заказчиком. Эти действия ещё не выполнены.</a:t>
            </a:r>
          </a:p>
          <a:p xmlns:a="http://schemas.openxmlformats.org/drawingml/2006/main">
            <a:r>
              <a:t>Источники:</a:t>
            </a:r>
          </a:p>
          <a:p xmlns:a="http://schemas.openxmlformats.org/drawingml/2006/main">
            <a:r>
              <a:t>Xu et al. 2024, DOI 10.3389/fpls.2024.1452551</a:t>
            </a:r>
          </a:p>
          <a:p xmlns:a="http://schemas.openxmlformats.org/drawingml/2006/main">
            <a:r>
              <a:t>Wu et al. 2023, DOI 10.34133/plantphenomics.0038</a:t>
            </a:r>
          </a:p>
          <a:p xmlns:a="http://schemas.openxmlformats.org/drawingml/2006/main">
            <a:r>
              <a:t>Rsaliyev et al. 2025, DOI 10.3390/plants14071146. Работа об устойчивости пшеницы к ржавчине, а не CV-валидация или национальная распространённость болезни.</a:t>
            </a:r>
          </a:p>
          <a:p xmlns:a="http://schemas.openxmlformats.org/drawingml/2006/main">
            <a:r>
              <a:t>Министерство сельского хозяйства Казахстана, посевная 2026: https://www.gov.kz/org/moa/press/news/details/1236048?lang=ru . Разнообразие культур не доказывает спрос на AgroVision.</a:t>
            </a:r>
          </a:p>
          <a:p xmlns:a="http://schemas.openxmlformats.org/drawingml/2006/main">
            <a:r>
              <a:t>Прототип: https://www.figma.com/design/07cVYgjO4tZw4IaR7kUxEz . Макет не подтверждает работающую реализацию или ML-качество.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AgroVision: критический обзор литературы и матрица источников</a:t>
            </a:r>
          </a:p>
          <a:p xmlns:a="http://schemas.openxmlformats.org/drawingml/2006/main">
            <a:r>
              <a:t/>
            </a:r>
          </a:p>
          <a:p xmlns:a="http://schemas.openxmlformats.org/drawingml/2006/main">
            <a:r>
              <a:t>**Тема:** An Intelligent Computer Vision System for Plant Disease Diagnosis in Kazakhstan.  </a:t>
            </a:r>
          </a:p>
          <a:p xmlns:a="http://schemas.openxmlformats.org/drawingml/2006/main">
            <a:r>
              <a:t>**Дата проверки:** 21 октября 2026 года.  </a:t>
            </a:r>
          </a:p>
          <a:p xmlns:a="http://schemas.openxmlformats.org/drawingml/2006/main">
            <a:r>
              <a:t>**Назначение:** критический обзор для обоснования архитектуры, данных и протокола оценки дипломного проекта. Предыдущие проектные материалы используются как черновики.</a:t>
            </a:r>
          </a:p>
          <a:p xmlns:a="http://schemas.openxmlformats.org/drawingml/2006/main">
            <a:r>
              <a:t/>
            </a:r>
          </a:p>
          <a:p xmlns:a="http://schemas.openxmlformats.org/drawingml/2006/main">
            <a:r>
              <a:t>## 1. Что покрывает обзор</a:t>
            </a:r>
          </a:p>
          <a:p xmlns:a="http://schemas.openxmlformats.org/drawingml/2006/main">
            <a:r>
              <a:t/>
            </a:r>
          </a:p>
          <a:p xmlns:a="http://schemas.openxmlformats.org/drawingml/2006/main">
            <a:r>
              <a:t>Подборка содержит **16 содержательно используемых источников: 14 рецензируемых научных публикаций, один явно обозначенный препринт и одну официальную техническую документацию**. Среди рецензируемых публикаций девять относятся к 2023–2026 годам и пять — к необходимым фундаментальным работам 2016–2019 годов. Таким образом, требование задания «не менее 12 источников, включая не менее 8 научных публикаций; современное ядро последних пяти лет» выполняется с запасом. Xu et al. — рецензируемая Perspective, а PlantSeg и Tomato leaf dataset — научные статьи о данных; это обозначено отдельно. Даже без Perspective в современном ядре остаются восемь научных публикаций.</a:t>
            </a:r>
          </a:p>
          <a:p xmlns:a="http://schemas.openxmlformats.org/drawingml/2006/main">
            <a:r>
              <a:t/>
            </a:r>
          </a:p>
          <a:p xmlns:a="http://schemas.openxmlformats.org/drawingml/2006/main">
            <a:r>
              <a:t>Это адресный критический обзор для выбора архитектуры, данных и протокола оценки. Он не объявляется систематическим обзором или PRISMA-анализом. Для каждого источника выделены вклад, ограничения применимости и конкретное решение, на которое он влияет. Числа качества из публикаций **не являются оценкой будущего AgroVision**. Наличие исследовательской статьи или открытой карточки данных также не означает, что архив уже скачан, лицензия разрешает любой сценарий использования или данные подходят для независимого локального теста.</a:t>
            </a:r>
          </a:p>
          <a:p xmlns:a="http://schemas.openxmlformats.org/drawingml/2006/main">
            <a:r>
              <a:t/>
            </a:r>
          </a:p>
          <a:p xmlns:a="http://schemas.openxmlformats.org/drawingml/2006/main">
            <a:r>
              <a:t>## 2. Структурированная матрица</a:t>
            </a:r>
          </a:p>
          <a:p xmlns:a="http://schemas.openxmlformats.org/drawingml/2006/main">
            <a:r>
              <a:t/>
            </a:r>
          </a:p>
          <a:p xmlns:a="http://schemas.openxmlformats.org/drawingml/2006/main">
            <a:r>
              <a:t>| ID | Публикация и статус | Подход и полезный результат | Ограничение для нашей задачи | Решение для AgroVision |</a:t>
            </a:r>
          </a:p>
          <a:p xmlns:a="http://schemas.openxmlformats.org/drawingml/2006/main">
            <a:r>
              <a:t>|---|---|---|---|---|</a:t>
            </a:r>
          </a:p>
          <a:p xmlns:a="http://schemas.openxmlformats.org/drawingml/2006/main">
            <a:r>
              <a:t>| R1 | **Xu et al., 2024. Plant disease recognition datasets in the age of deep learning: challenges and opportunities.** Frontiers in Plant Science 15:1452551. Рецензируемая Perspective. | Рассматривает качество и разнообразие данных, изменения распределений, открытый набор неизвестных состояний; подчёркивает значение метаданных места и времени. | Это аналитическая перспектива, а не систематическое сравнение всех методов и не экспериментальная проверка AgroVision. | Проектировать manifest с источником, местом, временем, группой съёмки; оценивать перенос по источникам и локальным условиям, а не только случайное разделение изображений. |</a:t>
            </a:r>
          </a:p>
          <a:p xmlns:a="http://schemas.openxmlformats.org/drawingml/2006/main">
            <a:r>
              <a:t>| R2 | **Wu et al., 2023. From Laboratory to Field: Unsupervised Domain Adaptation for Plant Disease Recognition in the Wild.** Plant Phenomics 5:0038. Рецензируемая исследовательская статья. | MSUN использует несколько представлений, адаптацию поддоменов и регуляризацию неопределённости для переноса из лабораторных условий в полевые; использует неразмеченные данные целевого домена. | Доступ к целевым изображениям при адаптации — отдельное условие эксперимента. Такой результат нельзя выдавать за перенос на полностью невидимый регион. Метод сложнее исходного supervised baseline. | Сначала измерить обычный перенос на отложенном источнике. Рассматривать domain adaptation только после подтверждения проблемы и появления отдельного набора разрешённых целевых изображений. |</a:t>
            </a:r>
          </a:p>
          <a:p xmlns:a="http://schemas.openxmlformats.org/drawingml/2006/main">
            <a:r>
              <a:t>| R3 | **Wei et al., 2024. Benchmarking In-the-wild Multimodal Disease Recognition and A Versatile Baseline.** ACM Multimedia 2024. Рецензируемая конференционная статья; PlantWild/MVPDR. | Многокультурный набор и визуально-текстовый подход с предобученными представлениями. Версия v1: 18 542 изображения, 89 классов. Полезный контраст к контролируемому фону. | Веб-изображения не дают автоматически репрезентативную выборку фотографий фермеров Казахстана. Версии v1/v2 имеют разную таксономию; нельзя переносить количество изображений между ними. | Включить как возможный исследовательский источник после проверки версии, классов, лицензии и дубликатов. Мультимодальные признаки — дополнительный эксперимент, а не обязательная тяжёлая LLM. |</a:t>
            </a:r>
          </a:p>
          <a:p xmlns:a="http://schemas.openxmlformats.org/drawingml/2006/main">
            <a:r>
              <a:t>| R4 | **Wei et al., 2026. A Large-Scale In-the-wild Dataset for Plant Disease Segmentation.** Scientific Data 13:205. Рецензируемый Data Descriptor; PlantSeg. | Опубликованная версия описывает 7 774 больных изображения с масками; 115 комбинаций растение–болезнь. Даёт основание исследовать локализацию поражений. | Ранние версии содержали другие числа. Набор веб-происхождения, связанный с семейством PlantWild; независимость от других источников надо проверять. Маска поражения сама по себе не равна агрономической стадии болезни. | Сегментацию добавлять при отдельной задаче локализации/тяжести и наличии валидных масок. Не делать её обязательной зависимостью первого классификатора. |</a:t>
            </a:r>
          </a:p>
          <a:p xmlns:a="http://schemas.openxmlformats.org/drawingml/2006/main">
            <a:r>
              <a:t>| R5 | **Petchiammal A et al., 2023. Paddy Doctor: A Visual Image Dataset for Automated Paddy Disease Classification and Benchmarking.** CODS-COMAD 2023. Рецензируемая конференционная статья; препринт 2022 года. | 16 225 изображений риса, 13 классов; полевая съёмка смартфоном, участие сельскохозяйственного специалиста, сравнение CNN и transfer learning. | Одна культура и индийский контекст. Среди меток есть повреждения вредителями; это не 12 однородных инфекционных болезней. Kaggle subset — другой объём данных. | Поддержка риса возможна при локальном партнёре. В онтологии разделить infection, pest damage и healthy appearance; сохранять исходные названия и версию набора. |</a:t>
            </a:r>
          </a:p>
          <a:p xmlns:a="http://schemas.openxmlformats.org/drawingml/2006/main">
            <a:r>
              <a:t>| R6 | **Long et al., 2023. Classification of wheat diseases using deep learning networks with field and glasshouse images.** Plant Pathology 72(3):536–547; online 2022. Рецензируемая статья; CerealConv. | Пшеница в полевых и тепличных условиях; healthy, yellow/brown rust, powdery mildew, Septoria leaf blotch. Есть сравнение с экспертами на выделенном наборе. | Экспертное сравнение относится к определённому протоколу. Публично доступны 999 изображений; полный набор — по запросу. Нельзя планировать все 19 172 изображения как уже доступные. | Приоритетный кандидат по пшенице, но доступ — проверяемая зависимость. Экспертную оценку строить на одинаковых изображениях и критериях, не сравнивать произвольные проценты из разных работ. |</a:t>
            </a:r>
          </a:p>
          <a:p xmlns:a="http://schemas.openxmlformats.org/drawingml/2006/main">
            <a:r>
              <a:t>| R7 | **Imtiaz et al., 2025. Tomato leaf dataset: A dataset for multiclass disease detection and classification.** Data in Brief 60:111520. Рецензируемая статья о данных. | 731 фото томата из трёх локаций Бангладеш, 1 621 аннотация, семь классов; исходники и bounding boxes полезны для сравнения классификации и локализации. | Сбор за семь дней ограничивает сезонную вариативность. Участие садоводов не равно лабораторному подтверждению возбудителей. Непрозрачные названия вроде Black Spot требуют уточнения соответствия другим наборам. | Использовать как ограниченный дополнительный источник после аудита меток; делить по исходному фото/сессии, не по отдельным boxes. Не объявлять его полным покрытием томата. |</a:t>
            </a:r>
          </a:p>
          <a:p xmlns:a="http://schemas.openxmlformats.org/drawingml/2006/main">
            <a:r>
              <a:t>| R8 | **Rsaliyev et al., 2025. Characterizing the Genetic Basis of Winter Wheat Rust Resistance in Southern Kazakhstan.** Plants 14(7):1146. Рецензируемая агрономическая статья. | Локальная работа по устойчивости озимой пшеницы к ржавчине; полевые и генетические исследования в Южном Казахстане. | Это исследование устойчивости генотипов, не набор пользовательских фотографий и не проверка компьютерной диагностики. Оно не охватывает все регионы и культуры страны. | Обосновывает локальную предметную актуальность и потребность в агрономической экспертизе. Не использовать как доказательство качества модели или национальной распространённости всех выбранных болезней. |</a:t>
            </a:r>
          </a:p>
          <a:p xmlns:a="http://schemas.openxmlformats.org/drawingml/2006/main">
            <a:r>
              <a:t>| R9 | **Oquab et al., 2024. DINOv2: Learning Robust Visual Features without Supervision.** Transactions on Machine Learning Research, январь 2024; препринт 2023. Рецензируемая статья. | Самообученные универсальные визуальные представления; возможность использовать готовый encoder и простую линейную голову без полного дообучения. | Предобучение ресурсоёмкое; общее качество признаков не гарантирует распознавания конкретных болезней. Замороженный encoder экономит обучение, но его стоимость инференса сохраняется. | Дополнительный контрольный эксперимент: frozen ViT-S/14 embeddings + linear classifier. Сопоставить macro-F1 и фактическую CPU-задержку с компактными CNN. |</a:t>
            </a:r>
          </a:p>
          <a:p xmlns:a="http://schemas.openxmlformats.org/drawingml/2006/main">
            <a:r>
              <a:t>| R10 | **Mohanty, Hughes, Salathé, 2016. Using Deep Learning for Image-Based Plant Disease Detection.** Frontiers in Plant Science 7:1419. Рецензируемая фундаментальная статья. | Ранняя многокультурная классификация на PlantVillage; рассматривает transfer learning, представления изображений и внешний набор. | Контролируемый фон и небольшой внешний тест ограничивают выводы о практическом переносе. Исторический результат не является современным общепринятым уровнем полевой точности. | Использовать PlantVillage для baseline и отладки, отдельно от независимой внешней/казахстанской оценки. Сохранять группировку одного листа между преобразованными изображениями. |</a:t>
            </a:r>
          </a:p>
          <a:p xmlns:a="http://schemas.openxmlformats.org/drawingml/2006/main">
            <a:r>
              <a:t>| R11 | **Tan, Le, 2019. EfficientNet: Rethinking Model Scaling for Convolutional Neural Networks.** ICML, PMLR 97:6105–6114. Рецензируемая фундаментальная статья. | Совместное масштабирование глубины, ширины и разрешения; семейство CNN с полезным соотношением точности и вычислений. | Параметры и FLOPs не определяют задержку конкретного CPU. Результаты ImageNet/transfer learning не определяют победителя на AgroVision. | EfficientNet-B0 — разумный стартовый кандидат; B2 проверять только при измеримом выигрыше. Сравнивать с baseline при одинаковых split, разрешении и бюджете подбора. |</a:t>
            </a:r>
          </a:p>
          <a:p xmlns:a="http://schemas.openxmlformats.org/drawingml/2006/main">
            <a:r>
              <a:t>| R12 | **Howard et al., 2019. Searching for MobileNetV3.** ICCV 2019. Рецензируемая фундаментальная статья. | Аппаратно ориентированный поиск архитектуры, NetAdapt и эффективные блоки; вариант Large ориентирован на мобильные ресурсы. | Оптимизация для выбранного мобильного CPU не обещает тот же выигрыш на любом сервере или телефоне. Низкие FLOPs не заменяют профилирование. | MobileNetV3-Large — обязательный практический конкурент B0; измерять реальный размер, CPU p50/p95 и качество в том же протоколе. |</a:t>
            </a:r>
          </a:p>
          <a:p xmlns:a="http://schemas.openxmlformats.org/drawingml/2006/main">
            <a:r>
              <a:t>| R13 | **Guo et al., 2017. On Calibration of Modern Neural Networks.** ICML, PMLR 70:1321–1330. Рецензируемая фундаментальная статья. | Показывает проблему некалиброванных вероятностей и практический post-hoc метод temperature scaling. | Калибровка на validation не гарантирует надёжность в новом домене и не обнаруживает все неизвестные болезни. | Выделить calibration split; показывать reliability diagrams, NLL/Brier/ECE, отдельно от macro-F1. Подбирать пороги отказа без доступа к тестовым меткам. |</a:t>
            </a:r>
          </a:p>
          <a:p xmlns:a="http://schemas.openxmlformats.org/drawingml/2006/main">
            <a:r>
              <a:t>| R14 | **Ovadia et al., 2019. Can you trust your model's uncertainty? Evaluating predictive uncertainty under dataset shift.** NeurIPS 32. Рецензируемая фундаментальная статья. | Сравнивает методы оценки неопределённости при изменении распределения; показывает ограничения обычной post-hoc калибровки при сдвиге. | Исследование общих задач, не готовый порог для болезней растений. Ансамбли добавляют вычисления; выигрыш надо соотносить с ресурсами. | Оценивать calibration и risk–coverage на внешнем и локальном тестах. Отказ от ответа — измеряемое поведение; нельзя обещать, что softmax ≥ 0.9 означает 90% правильных диагнозов в Казахстане. |</a:t>
            </a:r>
          </a:p>
          <a:p xmlns:a="http://schemas.openxmlformats.org/drawingml/2006/main">
            <a:r>
              <a:t>| R15 | **Nalwanga et al., 2026. Multi-Crop Leaf Disease Recognition: A Unified Benchmark and Cross-Region Study.** arXiv:2610.04456v1, 3 октября 2026. **Препринт; рецензирование не подтверждено.** | MLD объединяет шесть источников, 18 культур, 56 классов; рассматривает crop-conditioned архитектуру и перенос между источниками. | В pooled-протоколе train/test содержат изображения из тех же источников; это не автоматически новый регион. Группировка растений/сессий и дедупликация не описаны достаточно для признания полной независимости. | Актуальная гипотеза для ablation: joint classes против crop conditioning. Не использовать как обязательное основание архитектуры, не считать опубликованной peer-reviewed работой. |</a:t>
            </a:r>
          </a:p>
          <a:p xmlns:a="http://schemas.openxmlformats.org/drawingml/2006/main">
            <a:r>
              <a:t>| R16 | **ONNX Runtime documentation. Quantize ONNX models.** Официальная документация, проверена 21.10.2026; **не научная публикация**. | Описывает static/dynamic quantization, calibration данных, QDQ/QOperator и диагностику потери точности. | Это руководство по механизму; оно не подтверждает ускорение конкретной модели на доступном устройстве. | Начинать с FP32 ONNX и проверки численного соответствия; static INT8 для CNN испытывать отдельно с измерением задержки и повторной оценкой качества/порогов. |</a:t>
            </a:r>
          </a:p>
          <a:p xmlns:a="http://schemas.openxmlformats.org/drawingml/2006/main">
            <a:r>
              <a:t/>
            </a:r>
          </a:p>
          <a:p xmlns:a="http://schemas.openxmlformats.org/drawingml/2006/main">
            <a:r>
              <a:t>## 3. Критический синтез: что следует из работ</a:t>
            </a:r>
          </a:p>
          <a:p xmlns:a="http://schemas.openxmlformats.org/drawingml/2006/main">
            <a:r>
              <a:t/>
            </a:r>
          </a:p>
          <a:p xmlns:a="http://schemas.openxmlformats.org/drawingml/2006/main">
            <a:r>
              <a:t>### 3.1. Главный исследовательский вопрос — перенос между условиями съёмки</a:t>
            </a:r>
          </a:p>
          <a:p xmlns:a="http://schemas.openxmlformats.org/drawingml/2006/main">
            <a:r>
              <a:t/>
            </a:r>
          </a:p>
          <a:p xmlns:a="http://schemas.openxmlformats.org/drawingml/2006/main">
            <a:r>
              <a:t>R10 даёт историческую основу многокультурной классификации; R1 и R2 показывают, почему высокая оценка на исходном наборе не решает переход к полевому применению. R3–R7 расширяют разнообразие фонов и задач, но сами имеют ограничения источников, географии, времени и разметки. Поэтому обоснованная цель диплома — проверить **компактную многокультурную систему при изменении источника и на локальных фотографиях**, включая неопределённость, а не объявить новую сеть лучшей на любых болезнях растений.</a:t>
            </a:r>
          </a:p>
          <a:p xmlns:a="http://schemas.openxmlformats.org/drawingml/2006/main">
            <a:r>
              <a:t/>
            </a:r>
          </a:p>
          <a:p xmlns:a="http://schemas.openxmlformats.org/drawingml/2006/main">
            <a:r>
              <a:t>Предлагаемый исследовательский вклад: воспроизводимое объединение данных с явной онтологией, сравнение компактных моделей в одинаковых условиях, анализ переноса и отказа от ненадёжного ответа, проверка вычислительной стоимости. Это инженерно и исследовательски содержательная работа для бакалаврской команды. Вывод представляет нашу интерпретацию совокупности источников, а не обещанный результат эксперимента.</a:t>
            </a:r>
          </a:p>
          <a:p xmlns:a="http://schemas.openxmlformats.org/drawingml/2006/main">
            <a:r>
              <a:t/>
            </a:r>
          </a:p>
          <a:p xmlns:a="http://schemas.openxmlformats.org/drawingml/2006/main">
            <a:r>
              <a:t>### 3.2. Нельзя складывать классы и изображения без проверки происхождения</a:t>
            </a:r>
          </a:p>
          <a:p xmlns:a="http://schemas.openxmlformats.org/drawingml/2006/main">
            <a:r>
              <a:t/>
            </a:r>
          </a:p>
          <a:p xmlns:a="http://schemas.openxmlformats.org/drawingml/2006/main">
            <a:r>
              <a:t>Одинаковое слово rust/spot/blight не гарантирует одинаковую болезнь на разных культурах. R5 содержит также вредителей, R7 — неоднозначные наименования симптомов. Нужен словарь `crop_id`, `condition_id`, тип состояния, степень уверенности разметки, источник и версия. Healthy appearance, неизвестное состояние и некачественное изображение должны оставаться разными понятиями.</a:t>
            </a:r>
          </a:p>
          <a:p xmlns:a="http://schemas.openxmlformats.org/drawingml/2006/main">
            <a:r>
              <a:t/>
            </a:r>
          </a:p>
          <a:p xmlns:a="http://schemas.openxmlformats.org/drawingml/2006/main">
            <a:r>
              <a:t>Отдельно проверить родство PlantWild/PlantWild_v2/PlantSeg: авторский проект описывает их связь, поэтому независимый тест нельзя определять только названием архива. Дедупликация должна предшествовать split; crops, патчи и преобразования одного исходного снимка остаются в одной группе. Число классов и размер фиксируются для **конкретной версии**, а не переписываются из позднего README поверх старого архива.</a:t>
            </a:r>
          </a:p>
          <a:p xmlns:a="http://schemas.openxmlformats.org/drawingml/2006/main">
            <a:r>
              <a:t/>
            </a:r>
          </a:p>
          <a:p xmlns:a="http://schemas.openxmlformats.org/drawingml/2006/main">
            <a:r>
              <a:t>### 3.3. Domain adaptation и независимый перенос — разные экспериментальные условия</a:t>
            </a:r>
          </a:p>
          <a:p xmlns:a="http://schemas.openxmlformats.org/drawingml/2006/main">
            <a:r>
              <a:t/>
            </a:r>
          </a:p>
          <a:p xmlns:a="http://schemas.openxmlformats.org/drawingml/2006/main">
            <a:r>
              <a:t>R2 использует неразмеченные изображения целевого домена во время адаптации. Это допустимый и полезный сценарий, если он заранее заявлен. Для AgroVision следует отдельно отчитать: обучение без доступа к новому источнику; необязательную адаптацию на выделенном целевом наборе; окончательный тест на неиспользованных локальных группах. Нельзя адаптироваться на будущем локальном тесте, а затем описывать его как полностью невидимый.</a:t>
            </a:r>
          </a:p>
          <a:p xmlns:a="http://schemas.openxmlformats.org/drawingml/2006/main">
            <a:r>
              <a:t/>
            </a:r>
          </a:p>
          <a:p xmlns:a="http://schemas.openxmlformats.org/drawingml/2006/main">
            <a:r>
              <a:t>R15 полезен как свежий пример объединения культур и источников, но pooled split проверяет прежде всего работу внутри такой смеси. В дипломе нужны дополнительные source-held-out и local-held-out оценки. Утверждать, что публикация доказала утечку, нельзя; можно обоснованно сказать, что описанных сведений недостаточно для проверки независимости по растениям и сессиям.</a:t>
            </a:r>
          </a:p>
          <a:p xmlns:a="http://schemas.openxmlformats.org/drawingml/2006/main">
            <a:r>
              <a:t/>
            </a:r>
          </a:p>
          <a:p xmlns:a="http://schemas.openxmlformats.org/drawingml/2006/main">
            <a:r>
              <a:t>### 3.4. Компактная CNN — исходная гипотеза; победитель определяется экспериментом</a:t>
            </a:r>
          </a:p>
          <a:p xmlns:a="http://schemas.openxmlformats.org/drawingml/2006/main">
            <a:r>
              <a:t/>
            </a:r>
          </a:p>
          <a:p xmlns:a="http://schemas.openxmlformats.org/drawingml/2006/main">
            <a:r>
              <a:t>R11–R12 поддерживают выбор EfficientNet-B0 и MobileNetV3-Large как практических кандидатов. Вместе с простым ResNet18 они образуют достаточное первоначальное сравнение. R9 оправдывает дополнительный frozen-embedding baseline, если хватает времени; его не следует считать бесплатным по инференсу. Увеличивать модель, разрешение или добавлять детектор следует после анализа конкретных ошибок, иначе меняются сразу несколько факторов и результат трудно объяснить.</a:t>
            </a:r>
          </a:p>
          <a:p xmlns:a="http://schemas.openxmlformats.org/drawingml/2006/main">
            <a:r>
              <a:t/>
            </a:r>
          </a:p>
          <a:p xmlns:a="http://schemas.openxmlformats.org/drawingml/2006/main">
            <a:r>
              <a:t>Планировать одинаковые split и preprocessing, равный бюджет настройки, фиксированные seeds и повторные запуски финалистов. Сравнивать macro-F1, per-crop результат, внешнее падение качества, калибровку, peak VRAM, время обучения и CPU-задержку. R16 связывает выбор модели с реально проверяемым экспортом; рекомендованная архитектура остаётся кандидатом до измерений на RTX 2060/3050 и целевом CPU.</a:t>
            </a:r>
          </a:p>
          <a:p xmlns:a="http://schemas.openxmlformats.org/drawingml/2006/main">
            <a:r>
              <a:t/>
            </a:r>
          </a:p>
          <a:p xmlns:a="http://schemas.openxmlformats.org/drawingml/2006/main">
            <a:r>
              <a:t>### 3.5. «Уверенность» должна оцениваться как часть системы</a:t>
            </a:r>
          </a:p>
          <a:p xmlns:a="http://schemas.openxmlformats.org/drawingml/2006/main">
            <a:r>
              <a:t/>
            </a:r>
          </a:p>
          <a:p xmlns:a="http://schemas.openxmlformats.org/drawingml/2006/main">
            <a:r>
              <a:t>Из R13–R14 следует необходимость разделить discrimination и calibration. Хорошая macro-F1 не означает хороших вероятностей; temperature scaling не гарантирует перенос на иной регион. Для системы с отказом нужен график risk–coverage: как меняется доля ошибок среди выданных ответов при уменьшении доли обработанных фотографий. Конкретный приемлемый риск и полезное покрытие обсуждаются с пользователями и агрономом, затем фиксируются до финального теста.</a:t>
            </a:r>
          </a:p>
          <a:p xmlns:a="http://schemas.openxmlformats.org/drawingml/2006/main">
            <a:r>
              <a:t/>
            </a:r>
          </a:p>
          <a:p xmlns:a="http://schemas.openxmlformats.org/drawingml/2006/main">
            <a:r>
              <a:t>Выбор пользователем культуры также не должен скрывать неопределённость. После фильтрации несовместимых классов их оставшиеся вероятности перенормируются и могут выглядеть высокими даже при малой исходной вероятности выбранной культуры. Система должна сохранять информацию о конфликте культуры и оценивать такой сценарий отдельно. Это проектное следствие условного вывода, а не готовая гарантия из R15.</a:t>
            </a:r>
          </a:p>
          <a:p xmlns:a="http://schemas.openxmlformats.org/drawingml/2006/main">
            <a:r>
              <a:t/>
            </a:r>
          </a:p>
          <a:p xmlns:a="http://schemas.openxmlformats.org/drawingml/2006/main">
            <a:r>
              <a:t>### 3.6. Казахстан должен присутствовать в доказательствах, а не только в названии</a:t>
            </a:r>
          </a:p>
          <a:p xmlns:a="http://schemas.openxmlformats.org/drawingml/2006/main">
            <a:r>
              <a:t/>
            </a:r>
          </a:p>
          <a:p xmlns:a="http://schemas.openxmlformats.org/drawingml/2006/main">
            <a:r>
              <a:t>R8 обосновывает локальную предметную работу по ржавчине пшеницы, но не заменяет фотографии, экспертные метки и пользовательские интервью. Для поддержки нескольких культур нужен локальный партнёр либо заранее честно ограниченный исследовательский scope. Если локальных данных пока нет, результат называется **прототипом для последующей проверки в Казахстане**. Нельзя обещать валидированную диагностику для всех регионов и культур.</a:t>
            </a:r>
          </a:p>
          <a:p xmlns:a="http://schemas.openxmlformats.org/drawingml/2006/main">
            <a:r>
              <a:t/>
            </a:r>
          </a:p>
          <a:p xmlns:a="http://schemas.openxmlformats.org/drawingml/2006/main">
            <a:r>
              <a:t>Сходная осторожность требуется с казахстанскими UAV-наборами: географическая локальность не делает мультиспектральную аэрофотосъёмку эквивалентом RGB-фото листа с телефона. Для каждого источника проверяются одновременно задача, орган растения, устройство, метки и условия съёмки.</a:t>
            </a:r>
          </a:p>
          <a:p xmlns:a="http://schemas.openxmlformats.org/drawingml/2006/main">
            <a:r>
              <a:t/>
            </a:r>
          </a:p>
          <a:p xmlns:a="http://schemas.openxmlformats.org/drawingml/2006/main">
            <a:r>
              <a:t>## 4. Точные библиографические ссылки и первичные тексты</a:t>
            </a:r>
          </a:p>
          <a:p xmlns:a="http://schemas.openxmlformats.org/drawingml/2006/main">
            <a:r>
              <a:t/>
            </a:r>
          </a:p>
          <a:p xmlns:a="http://schemas.openxmlformats.org/drawingml/2006/main">
            <a:r>
              <a:t>| ID | DOI / постоянная страница публикации | Доступный первичный полный текст / примечание |</a:t>
            </a:r>
          </a:p>
          <a:p xmlns:a="http://schemas.openxmlformats.org/drawingml/2006/main">
            <a:r>
              <a:t>|---|---|---|</a:t>
            </a:r>
          </a:p>
          <a:p xmlns:a="http://schemas.openxmlformats.org/drawingml/2006/main">
            <a:r>
              <a:t>| R1 | https://doi.org/10.3389/fpls.2024.1452551 | https://www.frontiersin.org/journals/plant-science/articles/10.3389/fpls.2024.1452551/full |</a:t>
            </a:r>
          </a:p>
          <a:p xmlns:a="http://schemas.openxmlformats.org/drawingml/2006/main">
            <a:r>
              <a:t>| R2 | https://doi.org/10.34133/plantphenomics.0038 | Авторская копия опубликованной статьи: https://wrap.warwick.ac.uk/id/eprint/174265/1/plantphenomics.0038.pdf |</a:t>
            </a:r>
          </a:p>
          <a:p xmlns:a="http://schemas.openxmlformats.org/drawingml/2006/main">
            <a:r>
              <a:t>| R3 | https://doi.org/10.1145/3664647.3680599 | https://arxiv.org/html/2408.03120v1 ; авторский HTML содержит вариант заголовка с дополнительным словом Plant, опубликованную запись идентифицировать по DOI. Проект: https://tqwei05.github.io/PlantWild/ |</a:t>
            </a:r>
          </a:p>
          <a:p xmlns:a="http://schemas.openxmlformats.org/drawingml/2006/main">
            <a:r>
              <a:t>| R4 | https://doi.org/10.1038/s41597-025-06513-4 | Опубликованный PDF: https://digital.library.adelaide.edu.au/server/api/core/bitstreams/58f84495-4d33-49a6-8f89-094d2d9d578f/content ; текущий набор v7: https://zenodo.org/records/17719108 |</a:t>
            </a:r>
          </a:p>
          <a:p xmlns:a="http://schemas.openxmlformats.org/drawingml/2006/main">
            <a:r>
              <a:t>| R5 | https://doi.org/10.1145/3570991.3570994 | https://arxiv.org/html/2205.11108v2 ; на первой странице указана конференция CODS-COMAD 2023. Год arXiv ID — не год конференционной публикации. |</a:t>
            </a:r>
          </a:p>
          <a:p xmlns:a="http://schemas.openxmlformats.org/drawingml/2006/main">
            <a:r>
              <a:t>| R6 | https://doi.org/10.1111/ppa.13684 | https://bsppjournals.onlinelibrary.wiley.com/doi/abs/10.1111/ppa.13684 ; public subset: https://zenodo.org/records/7573133 |</a:t>
            </a:r>
          </a:p>
          <a:p xmlns:a="http://schemas.openxmlformats.org/drawingml/2006/main">
            <a:r>
              <a:t>| R7 | https://doi.org/10.1016/j.dib.2025.111520 | https://pmc.ncbi.nlm.nih.gov/articles/PMC12008584/ ; статья ссылается на данные v2: https://data.mendeley.com/datasets/bpfd9cns5g/2 |</a:t>
            </a:r>
          </a:p>
          <a:p xmlns:a="http://schemas.openxmlformats.org/drawingml/2006/main">
            <a:r>
              <a:t>| R8 | https://doi.org/10.3390/plants14071146 | https://pmc.ncbi.nlm.nih.gov/articles/PMC11991061/ |</a:t>
            </a:r>
          </a:p>
          <a:p xmlns:a="http://schemas.openxmlformats.org/drawingml/2006/main">
            <a:r>
              <a:t>| R9 | https://openreview.net/forum?id=a68SUt6zFt | TMLR, опубликовано 10.01.2024; полный авторский текст: https://arxiv.org/html/2304.07193v2 . Прямое чтение OpenReview периодически блокируется CAPTCHA; статус и дата подтверждаются индексированной первичной записью OpenReview. |</a:t>
            </a:r>
          </a:p>
          <a:p xmlns:a="http://schemas.openxmlformats.org/drawingml/2006/main">
            <a:r>
              <a:t>| R10 | https://doi.org/10.3389/fpls.2016.01419 | https://www.frontiersin.org/journals/plant-science/articles/10.3389/fpls.2016.01419/full |</a:t>
            </a:r>
          </a:p>
          <a:p xmlns:a="http://schemas.openxmlformats.org/drawingml/2006/main">
            <a:r>
              <a:t>| R11 | https://proceedings.mlr.press/v97/tan19a.html | PDF: https://proceedings.mlr.press/v97/tan19a/tan19a.pdf |</a:t>
            </a:r>
          </a:p>
          <a:p xmlns:a="http://schemas.openxmlformats.org/drawingml/2006/main">
            <a:r>
              <a:t>| R12 | https://openaccess.thecvf.com/content_ICCV_2019/html/Howard_Searching_for_MobileNetV3_ICCV_2019_paper.html | Авторская версия с указанием ICCV 2019: https://arxiv.org/abs/1905.02244 |</a:t>
            </a:r>
          </a:p>
          <a:p xmlns:a="http://schemas.openxmlformats.org/drawingml/2006/main">
            <a:r>
              <a:t>| R13 | https://proceedings.mlr.press/v70/guo17a.html | PDF: https://proceedings.mlr.press/v70/guo17a/guo17a.pdf |</a:t>
            </a:r>
          </a:p>
          <a:p xmlns:a="http://schemas.openxmlformats.org/drawingml/2006/main">
            <a:r>
              <a:t>| R14 | https://proceedings.neurips.cc/paper/2019/hash/8558cb408c1d76621371888657d2eb1d-Abstract.html | Авторская версия: https://arxiv.org/abs/1906.02530 |</a:t>
            </a:r>
          </a:p>
          <a:p xmlns:a="http://schemas.openxmlformats.org/drawingml/2006/main">
            <a:r>
              <a:t>| R15 | https://arxiv.org/abs/2610.04456 | Проверенная версия v1: https://arxiv.org/html/2610.04456v1 . Препринт отделён от peer-reviewed публикаций. |</a:t>
            </a:r>
          </a:p>
          <a:p xmlns:a="http://schemas.openxmlformats.org/drawingml/2006/main">
            <a:r>
              <a:t>| R16 | https://onnxruntime.ai/docs/performance/model-optimizations/quantization.html | Официальная изменяемая документация; в воспроизводимом эксперименте фиксировать версию ONNX Runtime и дату доступа. |</a:t>
            </a:r>
          </a:p>
          <a:p xmlns:a="http://schemas.openxmlformats.org/drawingml/2006/main">
            <a:r>
              <a:t/>
            </a:r>
          </a:p>
          <a:p xmlns:a="http://schemas.openxmlformats.org/drawingml/2006/main">
            <a:r>
              <a:t>## 5. Что представить комиссии как результат обзора</a:t>
            </a:r>
          </a:p>
          <a:p xmlns:a="http://schemas.openxmlformats.org/drawingml/2006/main">
            <a:r>
              <a:t/>
            </a:r>
          </a:p>
          <a:p xmlns:a="http://schemas.openxmlformats.org/drawingml/2006/main">
            <a:r>
              <a:t>На слайде достаточно показать несколько групп источников и зависимость решений от них; полная матрица остаётся в приложении. Логика аргументации:</a:t>
            </a:r>
          </a:p>
          <a:p xmlns:a="http://schemas.openxmlformats.org/drawingml/2006/main">
            <a:r>
              <a:t/>
            </a:r>
          </a:p>
          <a:p xmlns:a="http://schemas.openxmlformats.org/drawingml/2006/main">
            <a:r>
              <a:t>1. **Проблема переноса:** R1, R2, R10 → разделение по источникам и локальная проверка.</a:t>
            </a:r>
          </a:p>
          <a:p xmlns:a="http://schemas.openxmlformats.org/drawingml/2006/main">
            <a:r>
              <a:t>2. **Данные и мультикультурность:** R3–R7 → онтология, контроль происхождения, версии, аудит неизвестных/здоровых классов.</a:t>
            </a:r>
          </a:p>
          <a:p xmlns:a="http://schemas.openxmlformats.org/drawingml/2006/main">
            <a:r>
              <a:t>3. **Локальная предметная основа:** R8 → участие местного специалиста и проверка приоритетных болезней.</a:t>
            </a:r>
          </a:p>
          <a:p xmlns:a="http://schemas.openxmlformats.org/drawingml/2006/main">
            <a:r>
              <a:t>4. **Ограниченные ресурсы:** R9, R11, R12, R16 → компактные кандидаты, измеряемая стоимость, воспроизводимый экспорт.</a:t>
            </a:r>
          </a:p>
          <a:p xmlns:a="http://schemas.openxmlformats.org/drawingml/2006/main">
            <a:r>
              <a:t>5. **Надёжность ответа:** R13–R14 → калибровка и оценка отказа при изменении распределения.</a:t>
            </a:r>
          </a:p>
          <a:p xmlns:a="http://schemas.openxmlformats.org/drawingml/2006/main">
            <a:r>
              <a:t>6. **Свежая исследовательская гипотеза:** R15 → сравнение crop conditioning с joint-class baseline, с явным указанием предварительного статуса работы.</a:t>
            </a:r>
          </a:p>
          <a:p xmlns:a="http://schemas.openxmlformats.org/drawingml/2006/main">
            <a:r>
              <a:t/>
            </a:r>
          </a:p>
          <a:p xmlns:a="http://schemas.openxmlformats.org/drawingml/2006/main">
            <a:r>
              <a:t>Это даёт содержательное использование всех 16 источников. Дополнительные статьи стоит включать только если они меняют конкретное решение или закрывают обнаруженный пробел; расширять библиографию ради числа не требуется.</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ПРИЛОЖЕНИЕ К СЛАЙДУ. Полная сравнительная матрица: четыре системы × восемь критериев.</a:t>
            </a:r>
          </a:p>
          <a:p xmlns:a="http://schemas.openxmlformats.org/drawingml/2006/main">
            <a:r>
              <a:t/>
            </a:r>
          </a:p>
          <a:p xmlns:a="http://schemas.openxmlformats.org/drawingml/2006/main">
            <a:r>
              <a:t># Существующие системы: сравнение для AgroVision</a:t>
            </a:r>
          </a:p>
          <a:p xmlns:a="http://schemas.openxmlformats.org/drawingml/2006/main">
            <a:r>
              <a:t/>
            </a:r>
          </a:p>
          <a:p xmlns:a="http://schemas.openxmlformats.org/drawingml/2006/main">
            <a:r>
              <a:t>**Дата проверки:** 21 октября 2026 года.  </a:t>
            </a:r>
          </a:p>
          <a:p xmlns:a="http://schemas.openxmlformats.org/drawingml/2006/main">
            <a:r>
              <a:t>**Тема:** An Intelligent Computer Vision System for Plant Disease Diagnosis in Kazakhstan.  </a:t>
            </a:r>
          </a:p>
          <a:p xmlns:a="http://schemas.openxmlformats.org/drawingml/2006/main">
            <a:r>
              <a:t>**Назначение:** четыре существующих решения сравниваются по восьми единым критериям в соответствии с заданием на 24 октября.</a:t>
            </a:r>
          </a:p>
          <a:p xmlns:a="http://schemas.openxmlformats.org/drawingml/2006/main">
            <a:r>
              <a:t/>
            </a:r>
          </a:p>
          <a:p xmlns:a="http://schemas.openxmlformats.org/drawingml/2006/main">
            <a:r>
              <a:t>## 1. Метод и уровень доказательств</a:t>
            </a:r>
          </a:p>
          <a:p xmlns:a="http://schemas.openxmlformats.org/drawingml/2006/main">
            <a:r>
              <a:t/>
            </a:r>
          </a:p>
          <a:p xmlns:a="http://schemas.openxmlformats.org/drawingml/2006/main">
            <a:r>
              <a:t>Источники — официальные сайты, карточки разработчиков в магазинах приложений и первичная научная публикация Nuru. Приложения не устанавливались, API не вызывались, собственное сравнительное испытание не проводилось. Возможности сервисов ниже являются **документированными заявлениями поставщиков**, а не измеренными результатами команды.</a:t>
            </a:r>
          </a:p>
          <a:p xmlns:a="http://schemas.openxmlformats.org/drawingml/2006/main">
            <a:r>
              <a:t/>
            </a:r>
          </a:p>
          <a:p xmlns:a="http://schemas.openxmlformats.org/drawingml/2006/main">
            <a:r>
              <a:t>Фраза **«не установлено по изученным источникам» не означает «функции нет»**. Она указывает, где требуются уточнение документации или отдельная проверка. Публичные рекламные метрики не используются для итогового ранжирования качества.</a:t>
            </a:r>
          </a:p>
          <a:p xmlns:a="http://schemas.openxmlformats.org/drawingml/2006/main">
            <a:r>
              <a:t/>
            </a:r>
          </a:p>
          <a:p xmlns:a="http://schemas.openxmlformats.org/drawingml/2006/main">
            <a:r>
              <a:t>Выбраны Plantix, текущая PlantVillage+, Agrio и **kindwise crop.health**. Последний заменяет общий Plant.id/plant.health, поскольку сам поставщик выделяет его как сервис для сельскохозяйственных культур. API сравнивается по диагностической и интеграционной роли; наличие готового фермерского интерфейса от него не предполагается [K1].</a:t>
            </a:r>
          </a:p>
          <a:p xmlns:a="http://schemas.openxmlformats.org/drawingml/2006/main">
            <a:r>
              <a:t/>
            </a:r>
          </a:p>
          <a:p xmlns:a="http://schemas.openxmlformats.org/drawingml/2006/main">
            <a:r>
              <a:t>**Исторический PlantVillage Nuru рассматривается отдельно в разделе 3.** Его опубликованные свойства и результаты не переносятся автоматически на нынешнюю PlantVillage+.</a:t>
            </a:r>
          </a:p>
          <a:p xmlns:a="http://schemas.openxmlformats.org/drawingml/2006/main">
            <a:r>
              <a:t/>
            </a:r>
          </a:p>
          <a:p xmlns:a="http://schemas.openxmlformats.org/drawingml/2006/main">
            <a:r>
              <a:t>## 2. Матрица: четыре системы и восемь критериев</a:t>
            </a:r>
          </a:p>
          <a:p xmlns:a="http://schemas.openxmlformats.org/drawingml/2006/main">
            <a:r>
              <a:t/>
            </a:r>
          </a:p>
          <a:p xmlns:a="http://schemas.openxmlformats.org/drawingml/2006/main">
            <a:r>
              <a:t>| Критерий | Plantix | PlantVillage+ — текущая карточка | Agrio | kindwise crop.health |</a:t>
            </a:r>
          </a:p>
          <a:p xmlns:a="http://schemas.openxmlformats.org/drawingml/2006/main">
            <a:r>
              <a:t>|---|---|---|---|---|</a:t>
            </a:r>
          </a:p>
          <a:p xmlns:a="http://schemas.openxmlformats.org/drawingml/2006/main">
            <a:r>
              <a:t>| **1. Культуры и состояния** | Android-карточка: 30 культур, 780+ видов повреждений. API отдельно: 57 культур, 970 биотических/абиотических стрессоров. Каталоги необходимо различать [P2, P3] | Описаны вредители, болезни и другие проблемы культур. Полный текущий перечень культур и классов не установлен [N1] | Болезни, вредители, дефициты питания; фермеры, агрономы, консультанты и садоводы. Исчерпывающий публичный каталог классов не установлен [A1, A2] | Заявлены 23 культуры и 288 проблем; прямо перечислены пшеница, ячмень, кукуруза, рис, картофель и томат [K1] |</a:t>
            </a:r>
          </a:p>
          <a:p xmlns:a="http://schemas.openxmlformats.org/drawingml/2006/main">
            <a:r>
              <a:t>| **2. Фото-ввод и диагностический результат** | Фото → предполагаемая проблема и советы. REST API возвращает JSON с диагнозом, confidence и рекомендациями [P1, P3] | Фотография → AI-supported предположения о проблемах и практические сведения [N1] | Смартфонное фото → вероятные причины и IPM-рекомендации. API заявляет confidence и контекстные варианты действий [A2, A4] | По изображению определяются культура и проблема; доступны описания, симптомы, иллюстрации, EPPO/GBIF и рекомендации. API описывает варианты с confidence [K1, K2] |</a:t>
            </a:r>
          </a:p>
          <a:p xmlns:a="http://schemas.openxmlformats.org/drawingml/2006/main">
            <a:r>
              <a:t>| **3. Мобильный, веб- и API-доступ** | Подтверждены Android-приложение, сайт/сообщество и REST API. Текущее iOS-приложение этого же разработчика не установлено [P1–P3] | Подтверждена Android-карточка package `plantvillage.nuru`. Текущая iOS-доступность и публичный диагностический API не установлены [N1] | Подтверждены Android, iOS и Agriculture API. Полноценный пользовательский веб-интерфейс диагностики в рассмотренных материалах не установлен [A2–A4] | Облачный REST API, веб-демо и административная панель. Готовый собственный мобильный клиент для фермера не установлен [K1, K2] |</a:t>
            </a:r>
          </a:p>
          <a:p xmlns:a="http://schemas.openxmlformats.org/drawingml/2006/main">
            <a:r>
              <a:t>| **4. Работа без связи** | Автономный инференс приложения не установлен. API обращается к серверу [P2, P3] | Текущая карточка оговаривает зависимость функций от соединения/устройства. Полный offline-режим не установлен; исторический Nuru см. отдельно [N1] | Автономный диагностический инференс не установлен; сайт описывает загрузку фото и синхронизацию [A1, A2] | Документирован серверный HTTPS API. Доступная offline-модель не установлена [K2] |</a:t>
            </a:r>
          </a:p>
          <a:p xmlns:a="http://schemas.openxmlformats.org/drawingml/2006/main">
            <a:r>
              <a:t>| **5. История и записи хозяйства** | Полноценный журнал собственных осмотров/обработок не установлен. Архив сообщества не доказывает его наличие [P1, P2] | PV Journal: записи посева, опрыскивания, урожая и наблюдений с датами, фотографиями и заметками [N1] | Полевые вмешательства, обследования, списки участков, команды, задачи и цифровые отчёты [A1, A2] | Доступны просмотр отдельных идентификаций в admin и получение сохранённого результата API. Готовый полевой журнал не установлен [K2, K3] |</a:t>
            </a:r>
          </a:p>
          <a:p xmlns:a="http://schemas.openxmlformats.org/drawingml/2006/main">
            <a:r>
              <a:t>| **6. Геолокация и предупреждения** | Заявлены районные предупреждения о болезнях и агропогода [P2] | Привязка наблюдений к местам и запись маршрута полевой работы, запускаемая пользователем [N1] | Геопривязанные отчёты, спутниковые индексы, погода участка, оповещения о рисках; API AgrioShield [A1, A2, A4] | Общая документация рекомендует GPS/время. Их конкретное влияние в crop.health и отдельные функции мониторинга/региональных предупреждений не установлены [K2] |</a:t>
            </a:r>
          </a:p>
          <a:p xmlns:a="http://schemas.openxmlformats.org/drawingml/2006/main">
            <a:r>
              <a:t>| **7. Человек-эксперт и обратная связь** | Сообщество сельскохозяйственных экспертов; разработчик рекомендует его при неясном фото или неподдерживаемой культуре [P1, P2] | Карточка рекомендует местную экспертизу. Канал обязательной индивидуальной проверки каждого AI-ответа не установлен [N1] | Разработчик описывает передачу нераспознанных снимков людям и использование полевой обратной связи. Обязательность/срок ответа не установлены [A5] | Участие предметных экспертов в данных и контенте описано. Индивидуальная проверка каждого запроса живым агрономом не установлена [K1, K2] |</a:t>
            </a:r>
          </a:p>
          <a:p xmlns:a="http://schemas.openxmlformats.org/drawingml/2006/main">
            <a:r>
              <a:t>| **8. Казахстан и языки** | Заявлены 19 языков. Поддержка именно казахского и независимая местная полевая проверка не установлены [P2, P3] | Возможности могут меняться по стране, культуре и языку. Проверка в Казахстане и полнота RU/KK не установлены [N1] | Независимый казахстанский тест и казахский интерфейс не установлены по изученным материалам [A1–A5] | Есть подходящие кандидаты культур и локализуемые поля. Полнота RU/KK и оценка на местных смартфонных фото не установлены [K1–K3] |</a:t>
            </a:r>
          </a:p>
          <a:p xmlns:a="http://schemas.openxmlformats.org/drawingml/2006/main">
            <a:r>
              <a:t/>
            </a:r>
          </a:p>
          <a:p xmlns:a="http://schemas.openxmlformats.org/drawingml/2006/main">
            <a:r>
              <a:t>Матрица не присваивает баллы за неизвестную функцию и не трактует её как недостаток продукта. Число языков или классов само по себе не показывает качество на казахстанских данных.</a:t>
            </a:r>
          </a:p>
          <a:p xmlns:a="http://schemas.openxmlformats.org/drawingml/2006/main">
            <a:r>
              <a:t/>
            </a:r>
          </a:p>
          <a:p xmlns:a="http://schemas.openxmlformats.org/drawingml/2006/main">
            <a:r>
              <a:t>## 3. Исторический Nuru: отдельное научное свидетельство</a:t>
            </a:r>
          </a:p>
          <a:p xmlns:a="http://schemas.openxmlformats.org/drawingml/2006/main">
            <a:r>
              <a:t/>
            </a:r>
          </a:p>
          <a:p xmlns:a="http://schemas.openxmlformats.org/drawingml/2006/main">
            <a:r>
              <a:t>В работе Mrisho et al. (2020) исследовался **PlantVillage Nuru** для симптомов CMD, CBSD и повреждения cassava green mite на маниоке Восточной Африки. В статье подтверждены автономные диагностика и советы, а также влияние количества осматриваемых листьев на результат [N2]. Penn State отдельно описывал локальную Android-обработку повреждений fall armyworm на кукурузе в 2018 году [N3].</a:t>
            </a:r>
          </a:p>
          <a:p xmlns:a="http://schemas.openxmlformats.org/drawingml/2006/main">
            <a:r>
              <a:t/>
            </a:r>
          </a:p>
          <a:p xmlns:a="http://schemas.openxmlformats.org/drawingml/2006/main">
            <a:r>
              <a:t>Это полезные основания для выбора многоснимочного сценария и исследования работы при слабой связи. Они не подтверждают:</a:t>
            </a:r>
          </a:p>
          <a:p xmlns:a="http://schemas.openxmlformats.org/drawingml/2006/main">
            <a:r>
              <a:t/>
            </a:r>
          </a:p>
          <a:p xmlns:a="http://schemas.openxmlformats.org/drawingml/2006/main">
            <a:r>
              <a:t>- все функции текущей PlantVillage+;</a:t>
            </a:r>
          </a:p>
          <a:p xmlns:a="http://schemas.openxmlformats.org/drawingml/2006/main">
            <a:r>
              <a:t>- текущий полный перечень её поддерживаемых культур;</a:t>
            </a:r>
          </a:p>
          <a:p xmlns:a="http://schemas.openxmlformats.org/drawingml/2006/main">
            <a:r>
              <a:t>- качество на пшенице, картофеле и томате в Казахстане;</a:t>
            </a:r>
          </a:p>
          <a:p xmlns:a="http://schemas.openxmlformats.org/drawingml/2006/main">
            <a:r>
              <a:t>- полную автономность современных журналов, синхронизации и консультаций.</a:t>
            </a:r>
          </a:p>
          <a:p xmlns:a="http://schemas.openxmlformats.org/drawingml/2006/main">
            <a:r>
              <a:t/>
            </a:r>
          </a:p>
          <a:p xmlns:a="http://schemas.openxmlformats.org/drawingml/2006/main">
            <a:r>
              <a:t>Карточка package `plantvillage.nuru` на дату проверки имеет имя **PlantVillage+** и дату обновления 20.10.2026 [N1]. Изменение имени/описания требует фиксировать версию при любом практическом тестировании, а не объединять все сведения о продукте за разные годы.</a:t>
            </a:r>
          </a:p>
          <a:p xmlns:a="http://schemas.openxmlformats.org/drawingml/2006/main">
            <a:r>
              <a:t/>
            </a:r>
          </a:p>
          <a:p xmlns:a="http://schemas.openxmlformats.org/drawingml/2006/main">
            <a:r>
              <a:t>## 4. Ограничения численных и функциональных сравнений</a:t>
            </a:r>
          </a:p>
          <a:p xmlns:a="http://schemas.openxmlformats.org/drawingml/2006/main">
            <a:r>
              <a:t/>
            </a:r>
          </a:p>
          <a:p xmlns:a="http://schemas.openxmlformats.org/drawingml/2006/main">
            <a:r>
              <a:t>**Каталог Plantix.** 30 культур/780+ повреждений относится к мобильной карточке, 57/970 — к API-странице. Эти значения нельзя произвольно заменять друг другом. Одноимённое приложение другого разработчика в App Store не является доказательством наличия iOS-версии PEAT/Plantix [P2, P3].</a:t>
            </a:r>
          </a:p>
          <a:p xmlns:a="http://schemas.openxmlformats.org/drawingml/2006/main">
            <a:r>
              <a:t/>
            </a:r>
          </a:p>
          <a:p xmlns:a="http://schemas.openxmlformats.org/drawingml/2006/main">
            <a:r>
              <a:t>**Точность поставщиков.** Plantix API публикует разные результаты для полевых и curated-изображений; crop.health — свои top-1/top-3 показатели. Различия в классах, данных и протоколе не позволяют объявить победителя по этим числам. Собственная проверка должна использовать согласованные состояния и один независимый набор [P3, K1].</a:t>
            </a:r>
          </a:p>
          <a:p xmlns:a="http://schemas.openxmlformats.org/drawingml/2006/main">
            <a:r>
              <a:t/>
            </a:r>
          </a:p>
          <a:p xmlns:a="http://schemas.openxmlformats.org/drawingml/2006/main">
            <a:r>
              <a:t>**Геоданные.** Возможность сохранять координату и наличие предупреждений о рисках — разные функции. Ни одна сама по себе не подтверждает проверенную эпидемиологическую модель для Казахстана.</a:t>
            </a:r>
          </a:p>
          <a:p xmlns:a="http://schemas.openxmlformats.org/drawingml/2006/main">
            <a:r>
              <a:t/>
            </a:r>
          </a:p>
          <a:p xmlns:a="http://schemas.openxmlformats.org/drawingml/2006/main">
            <a:r>
              <a:t>**Severity.** Справочное поле о тяжести болезни в crop.health не доказывает измерение процента поражения конкретного пользовательского листа. Для такой функции нужны отдельная документация и проверка [K1].</a:t>
            </a:r>
          </a:p>
          <a:p xmlns:a="http://schemas.openxmlformats.org/drawingml/2006/main">
            <a:r>
              <a:t/>
            </a:r>
          </a:p>
          <a:p xmlns:a="http://schemas.openxmlformats.org/drawingml/2006/main">
            <a:r>
              <a:t>**Сохранённый API-результат.** Его наличие не равно полноценному фермерскому журналу. Handbook kindwise указывает доступность результата 6 месяцев, а FAQ формулирует гарантию как минимум 3 месяца. Это не универсальный срок хранения для будущего AgroVision; в требованиях своего продукта его нужно определить самостоятельно [K2, K3].</a:t>
            </a:r>
          </a:p>
          <a:p xmlns:a="http://schemas.openxmlformats.org/drawingml/2006/main">
            <a:r>
              <a:t/>
            </a:r>
          </a:p>
          <a:p xmlns:a="http://schemas.openxmlformats.org/drawingml/2006/main">
            <a:r>
              <a:t>## 5. Обоснование AgroVision</a:t>
            </a:r>
          </a:p>
          <a:p xmlns:a="http://schemas.openxmlformats.org/drawingml/2006/main">
            <a:r>
              <a:t/>
            </a:r>
          </a:p>
          <a:p xmlns:a="http://schemas.openxmlformats.org/drawingml/2006/main">
            <a:r>
              <a:t>Существующие решения подтверждают практический интерес к фото-диагностике и показывают, какие сценарии уже доступны: рекомендации, мобильная работа, журнал наблюдений, экспертное сообщество и интеграционные API. Поэтому новизну диплома нельзя обосновывать утверждением об отсутствии таких функций на рынке.</a:t>
            </a:r>
          </a:p>
          <a:p xmlns:a="http://schemas.openxmlformats.org/drawingml/2006/main">
            <a:r>
              <a:t/>
            </a:r>
          </a:p>
          <a:p xmlns:a="http://schemas.openxmlformats.org/drawingml/2006/main">
            <a:r>
              <a:t>Обоснованная задача AgroVision — проверить перенос методов на **конкретные сельскохозяйственные культуры и реальные условия съёмки Казахстана**, определить границы поддержки и оценить поведение системы, когда данных для конкретного ответа недостаточно. Из изученных источников нельзя заключить, что существующие системы плохо работают в стране: для такого вывода потребуется местный сравнительный эксперимент.</a:t>
            </a:r>
          </a:p>
          <a:p xmlns:a="http://schemas.openxmlformats.org/drawingml/2006/main">
            <a:r>
              <a:t/>
            </a:r>
          </a:p>
          <a:p xmlns:a="http://schemas.openxmlformats.org/drawingml/2006/main">
            <a:r>
              <a:t>Предлагаемый вклад диплома состоит в воспроизводимом протоколе данных, локальной проверке, прозрачном каталоге поддерживаемых состояний и понятном пользовательском сценарии. Обоснование должно соединять эти решения с реальными беседами с пользователями/агрономами. Настоящая матрица не заменяет такие беседы.</a:t>
            </a:r>
          </a:p>
          <a:p xmlns:a="http://schemas.openxmlformats.org/drawingml/2006/main">
            <a:r>
              <a:t/>
            </a:r>
          </a:p>
          <a:p xmlns:a="http://schemas.openxmlformats.org/drawingml/2006/main">
            <a:r>
              <a:t>| Кандидат требования AgroVision | Как проверить после реализации | Текущий статус |</a:t>
            </a:r>
          </a:p>
          <a:p xmlns:a="http://schemas.openxmlformats.org/drawingml/2006/main">
            <a:r>
              <a:t>|---|---|---|</a:t>
            </a:r>
          </a:p>
          <a:p xmlns:a="http://schemas.openxmlformats.org/drawingml/2006/main">
            <a:r>
              <a:t>| Поддержка нескольких культур с явным перечнем состояний | Проверить каталог и результаты отдельно по культуре/классу | Предлагаемое требование |</a:t>
            </a:r>
          </a:p>
          <a:p xmlns:a="http://schemas.openxmlformats.org/drawingml/2006/main">
            <a:r>
              <a:t>| Ответ при неопределённости и неподдерживаемом случае | Специальная выборка сложных/неподдерживаемых случаев; coverage и ошибки принятых ответов | Предлагаемое требование |</a:t>
            </a:r>
          </a:p>
          <a:p xmlns:a="http://schemas.openxmlformats.org/drawingml/2006/main">
            <a:r>
              <a:t>| История осмотра и версия модели | Сохранить запрос, открыть повторно, проверить исходное фото/ответ/версию | Предлагаемое требование |</a:t>
            </a:r>
          </a:p>
          <a:p xmlns:a="http://schemas.openxmlformats.org/drawingml/2006/main">
            <a:r>
              <a:t>| Понятные RU/KK формулировки | Проверка терминов специалистом и пользовательские задачи | Предлагаемое требование |</a:t>
            </a:r>
          </a:p>
          <a:p xmlns:a="http://schemas.openxmlformats.org/drawingml/2006/main">
            <a:r>
              <a:t>| Экспертная проверка при наличии реального партнёра | Подтверждённый участник, маршрут обращения и проверяемый статус | Требует партнёра и согласованного процесса |</a:t>
            </a:r>
          </a:p>
          <a:p xmlns:a="http://schemas.openxmlformats.org/drawingml/2006/main">
            <a:r>
              <a:t/>
            </a:r>
          </a:p>
          <a:p xmlns:a="http://schemas.openxmlformats.org/drawingml/2006/main">
            <a:r>
              <a:t>Внешний API можно использовать как дополнительный baseline после проверки доступа, условий, общих классов и разрешения на передачу снимков. Такая интеграция не считается выполненной и не подменяет обучение/оценку собственного исследовательского baseline.</a:t>
            </a:r>
          </a:p>
          <a:p xmlns:a="http://schemas.openxmlformats.org/drawingml/2006/main">
            <a:r>
              <a:t/>
            </a:r>
          </a:p>
          <a:p xmlns:a="http://schemas.openxmlformats.org/drawingml/2006/main">
            <a:r>
              <a:t>## 6. Реестр первичных источников</a:t>
            </a:r>
          </a:p>
          <a:p xmlns:a="http://schemas.openxmlformats.org/drawingml/2006/main">
            <a:r>
              <a:t/>
            </a:r>
          </a:p>
          <a:p xmlns:a="http://schemas.openxmlformats.org/drawingml/2006/main">
            <a:r>
              <a:t>Для текущих характеристик использован срез на 21.10.2026. Источники 2018/2020 годов относятся только к историческому подразделу.</a:t>
            </a:r>
          </a:p>
          <a:p xmlns:a="http://schemas.openxmlformats.org/drawingml/2006/main">
            <a:r>
              <a:t/>
            </a:r>
          </a:p>
          <a:p xmlns:a="http://schemas.openxmlformats.org/drawingml/2006/main">
            <a:r>
              <a:t>| ID | Источник | URL | Роль |</a:t>
            </a:r>
          </a:p>
          <a:p xmlns:a="http://schemas.openxmlformats.org/drawingml/2006/main">
            <a:r>
              <a:t>|---|---|---|---|</a:t>
            </a:r>
          </a:p>
          <a:p xmlns:a="http://schemas.openxmlformats.org/drawingml/2006/main">
            <a:r>
              <a:t>| P1 | Plantix, официальный сайт | https://plantix.net/en/ | Фото, советы, сообщество |</a:t>
            </a:r>
          </a:p>
          <a:p xmlns:a="http://schemas.openxmlformats.org/drawingml/2006/main">
            <a:r>
              <a:t>| P2 | Plantix, карточка разработчика Google Play | https://play.google.com/store/apps/details?hl=en&amp;id=com.peat.GartenBank | Android, каталог, языки, предупреждения; обновление 16.10.2026 |</a:t>
            </a:r>
          </a:p>
          <a:p xmlns:a="http://schemas.openxmlformats.org/drawingml/2006/main">
            <a:r>
              <a:t>| P3 | Plantix API Toolkit | https://plantix.net/en/plantix-intelligence/api-toolkit/ | REST, каталог API, confidence, самооценка |</a:t>
            </a:r>
          </a:p>
          <a:p xmlns:a="http://schemas.openxmlformats.org/drawingml/2006/main">
            <a:r>
              <a:t>| N1 | PlantVillage+, карточка разработчика Google Play | https://play.google.com/store/apps/details?hl=en&amp;id=plantvillage.nuru | Актуальные функции и ограничения; обновление 20.10.2026 |</a:t>
            </a:r>
          </a:p>
          <a:p xmlns:a="http://schemas.openxmlformats.org/drawingml/2006/main">
            <a:r>
              <a:t>| N2 | Mrisho et al., 2020, Frontiers in Plant Science | https://www.frontiersin.org/journals/plant-science/articles/10.3389/fpls.2020.590889/full | Исследованный Nuru, DOI 10.3389/fpls.2020.590889 |</a:t>
            </a:r>
          </a:p>
          <a:p xmlns:a="http://schemas.openxmlformats.org/drawingml/2006/main">
            <a:r>
              <a:t>| N3 | Penn State, 25.06.2018 | https://www.psu.edu/news/research/story/nuru-becomes-african-farmers-newest-ally-against-fall-armyworm | Историческое развёртывание Nuru на Android |</a:t>
            </a:r>
          </a:p>
          <a:p xmlns:a="http://schemas.openxmlformats.org/drawingml/2006/main">
            <a:r>
              <a:t>| A1 | Agrio, официальный сайт | https://agrio.app/ | Фото, мониторинг, команды |</a:t>
            </a:r>
          </a:p>
          <a:p xmlns:a="http://schemas.openxmlformats.org/drawingml/2006/main">
            <a:r>
              <a:t>| A2 | Agrio, карточка Saillog Google Play | https://play.google.com/store/apps/details?hl=en&amp;id=com.agrio | Android, IPM, журнал, геопривязанные отчёты; обновление 13.10.2026 |</a:t>
            </a:r>
          </a:p>
          <a:p xmlns:a="http://schemas.openxmlformats.org/drawingml/2006/main">
            <a:r>
              <a:t>| A3 | Agrio, официальная карточка App Store | https://apps.apple.com/us/app/agrio-plant-diagnosis-app/id1239193220 | Подтверждение iOS |</a:t>
            </a:r>
          </a:p>
          <a:p xmlns:a="http://schemas.openxmlformats.org/drawingml/2006/main">
            <a:r>
              <a:t>| A4 | Agrio Agriculture API | https://agrio.app/Agriculture-API/ | Фото API и AgrioShield |</a:t>
            </a:r>
          </a:p>
          <a:p xmlns:a="http://schemas.openxmlformats.org/drawingml/2006/main">
            <a:r>
              <a:t>| A5 | Agrio, описание диагностического сценария | https://agrio.app/An-app-that-identifies-plant-diseases-and-pests/ | Уточнение симптомов и передача человеку |</a:t>
            </a:r>
          </a:p>
          <a:p xmlns:a="http://schemas.openxmlformats.org/drawingml/2006/main">
            <a:r>
              <a:t>| K1 | kindwise crop.health | https://www.kindwise.com/crop-health | Сельхозкаталог, метаданные, отличие от plant.health |</a:t>
            </a:r>
          </a:p>
          <a:p xmlns:a="http://schemas.openxmlformats.org/drawingml/2006/main">
            <a:r>
              <a:t>| K2 | kindwise FAQ | https://www.kindwise.com/faq | REST, демо, admin, общие параметры и условия |</a:t>
            </a:r>
          </a:p>
          <a:p xmlns:a="http://schemas.openxmlformats.org/drawingml/2006/main">
            <a:r>
              <a:t>| K3 | kindwise Handbook | https://www.kindwise.com/handbook | Сохранённые результаты и описание crop.health metadata |</a:t>
            </a:r>
          </a:p>
          <a:p xmlns:a="http://schemas.openxmlformats.org/drawingml/2006/main">
            <a:r>
              <a:t>| K4 | Документация crop.health | https://crop.kindwise.com/docs ; https://documenter.getpostman.com/view/3802128/2sA2xh1CXy | Официальный переход на Postman; полный текст не извлечён, не служит основанием для додумывания полей |</a:t>
            </a:r>
          </a:p>
          <a:p xmlns:a="http://schemas.openxmlformats.org/drawingml/2006/main">
            <a:r>
              <a:t/>
            </a:r>
          </a:p>
          <a:p xmlns:a="http://schemas.openxmlformats.org/drawingml/2006/main">
            <a:r>
              <a:t>### Ограничения доступности источников</a:t>
            </a:r>
          </a:p>
          <a:p xmlns:a="http://schemas.openxmlformats.org/drawingml/2006/main">
            <a:r>
              <a:t/>
            </a:r>
          </a:p>
          <a:p xmlns:a="http://schemas.openxmlformats.org/drawingml/2006/main">
            <a:r>
              <a:t>PlantVillage-сайты plantvillage.psu.edu/plantvillage.org блокировали автоматическое извлечение, а plantvillageplus.coop не открылся. Для текущих характеристик использована карточка самого разработчика. Страница IITA была найдена, но не извлечена и не использована как единственное основание утверждения.</a:t>
            </a:r>
          </a:p>
          <a:p xmlns:a="http://schemas.openxmlformats.org/drawingml/2006/main">
            <a:r>
              <a:t/>
            </a:r>
          </a:p>
          <a:p xmlns:a="http://schemas.openxmlformats.org/drawingml/2006/main">
            <a:r>
              <a:t>Цены, сроки внедрения, пользовательские отзывы и рекламные обещания роста урожая не включены в оценку. Эти сведения не нужны для обоснования исследовательской задачи и не заменяют экспериментальные результаты.</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AgroVision: технические решения и альтернативы</a:t>
            </a:r>
          </a:p>
          <a:p xmlns:a="http://schemas.openxmlformats.org/drawingml/2006/main">
            <a:r>
              <a:t/>
            </a:r>
          </a:p>
          <a:p xmlns:a="http://schemas.openxmlformats.org/drawingml/2006/main">
            <a:r>
              <a:t>**Статус:** проектные ADR для этапа 24 октября 2026. Выбор FastAPI, React Native и будущего React web соответствует направлению пользователя. Ни один ADR не является утверждением о существующем коде или согласовании руководителем. На текущем этапе проектируется mobile; web остается архитектурным планом.</a:t>
            </a:r>
          </a:p>
          <a:p xmlns:a="http://schemas.openxmlformats.org/drawingml/2006/main">
            <a:r>
              <a:t/>
            </a:r>
          </a:p>
          <a:p xmlns:a="http://schemas.openxmlformats.org/drawingml/2006/main">
            <a:r>
              <a:t>Критерии: понятность для двух разработчиков, связь с ML на Python, стабильность контрактов/истории, восстановление после обрыва связи, небольшое число эксплуатационных компонентов и возможность независимо проверить качество. Численные benchmark-преимущества без измерений не заявляются.</a:t>
            </a:r>
          </a:p>
          <a:p xmlns:a="http://schemas.openxmlformats.org/drawingml/2006/main">
            <a:r>
              <a:t/>
            </a:r>
          </a:p>
          <a:p xmlns:a="http://schemas.openxmlformats.org/drawingml/2006/main">
            <a:r>
              <a:t>## ADR-01. Backend-платформа</a:t>
            </a:r>
          </a:p>
          <a:p xmlns:a="http://schemas.openxmlformats.org/drawingml/2006/main">
            <a:r>
              <a:t/>
            </a:r>
          </a:p>
          <a:p xmlns:a="http://schemas.openxmlformats.org/drawingml/2006/main">
            <a:r>
              <a:t>**Требования:** FR-02–07/09/14/16; NFR-03/04/06/10. Нужно REST API для mobile и будущего web, связанное с Python ML/runtime, объектным хранилищем и PostgreSQL.</a:t>
            </a:r>
          </a:p>
          <a:p xmlns:a="http://schemas.openxmlformats.org/drawingml/2006/main">
            <a:r>
              <a:t/>
            </a:r>
          </a:p>
          <a:p xmlns:a="http://schemas.openxmlformats.org/drawingml/2006/main">
            <a:r>
              <a:t>| Вариант | Когда рационален | Цена / ограничение в AgroVision |</a:t>
            </a:r>
          </a:p>
          <a:p xmlns:a="http://schemas.openxmlformats.org/drawingml/2006/main">
            <a:r>
              <a:t>|---|---|---|</a:t>
            </a:r>
          </a:p>
          <a:p xmlns:a="http://schemas.openxmlformats.org/drawingml/2006/main">
            <a:r>
              <a:t>| **FastAPI + Pydantic + SQLAlchemy/Alembic** | Небольшое Python API с явными schemas/services; удобно держать serving и ML-adapter в одном языковом окружении | Auth, операции с данными и админ-процедуры надо собрать осознанно; сам framework не создает durable queue |</a:t>
            </a:r>
          </a:p>
          <a:p xmlns:a="http://schemas.openxmlformats.org/drawingml/2006/main">
            <a:r>
              <a:t>| **Django + Django REST Framework** | Много административного CRUD, пользователей и контентных процессов; DRF предоставляет serializers, permissions и REST tooling | Более широкий framework, чем требует первый photo flow; может быть предпочтителен, если экспертный административный интерфейс станет главной частью проекта |</a:t>
            </a:r>
          </a:p>
          <a:p xmlns:a="http://schemas.openxmlformats.org/drawingml/2006/main">
            <a:r>
              <a:t>| **NestJS / Node.js + отдельный Python runtime** | Команда предпочитает TypeScript на backend; нужны структурированные модули Node-приложения | В этом проекте увеличивает число языковых/процессных границ между бизнес-API и существующим ML-стеком; преимущества надо сопоставлять с этим расходом |</a:t>
            </a:r>
          </a:p>
          <a:p xmlns:a="http://schemas.openxmlformats.org/drawingml/2006/main">
            <a:r>
              <a:t/>
            </a:r>
          </a:p>
          <a:p xmlns:a="http://schemas.openxmlformats.org/drawingml/2006/main">
            <a:r>
              <a:t>**Выбор:** FastAPI как модульный монолит. Он соответствует желанию пользователя и позволяет вызывать Python runtime локально из worker. Это не утверждение, что FastAPI всегда быстрее/лучше других frameworks. DRF и NestJS — полноценные альтернативы, а не искусственно слабые варианты.</a:t>
            </a:r>
          </a:p>
          <a:p xmlns:a="http://schemas.openxmlformats.org/drawingml/2006/main">
            <a:r>
              <a:t/>
            </a:r>
          </a:p>
          <a:p xmlns:a="http://schemas.openxmlformats.org/drawingml/2006/main">
            <a:r>
              <a:t>**Последствия:** проектировать auth и DB transactions явно; генерировать OpenAPI/TS из единых schemas; тяжелый inference выносить в worker. Не менять хороший фактический backend исключительно по историческому документу, если свежий репозиторий позже покажет иную ситуацию.</a:t>
            </a:r>
          </a:p>
          <a:p xmlns:a="http://schemas.openxmlformats.org/drawingml/2006/main">
            <a:r>
              <a:t/>
            </a:r>
          </a:p>
          <a:p xmlns:a="http://schemas.openxmlformats.org/drawingml/2006/main">
            <a:r>
              <a:t>**Основание:** [FastAPI](https://fastapi.tiangolo.com/), [DRF](https://www.django-rest-framework.org/), [NestJS](https://docs.nestjs.com/). Решение о меньшей цене интеграции — инженерный вывод для данной команды, не benchmark.</a:t>
            </a:r>
          </a:p>
          <a:p xmlns:a="http://schemas.openxmlformats.org/drawingml/2006/main">
            <a:r>
              <a:t/>
            </a:r>
          </a:p>
          <a:p xmlns:a="http://schemas.openxmlformats.org/drawingml/2006/main">
            <a:r>
              <a:t>## ADR-02. Границы приложения</a:t>
            </a:r>
          </a:p>
          <a:p xmlns:a="http://schemas.openxmlformats.org/drawingml/2006/main">
            <a:r>
              <a:t/>
            </a:r>
          </a:p>
          <a:p xmlns:a="http://schemas.openxmlformats.org/drawingml/2006/main">
            <a:r>
              <a:t>**Требования:** FR-03–07/09/14; NFR-03/06/10. Нужны понятные feature boundaries, общий data model и возможность перезапускать CPU worker без потери заданий.</a:t>
            </a:r>
          </a:p>
          <a:p xmlns:a="http://schemas.openxmlformats.org/drawingml/2006/main">
            <a:r>
              <a:t/>
            </a:r>
          </a:p>
          <a:p xmlns:a="http://schemas.openxmlformats.org/drawingml/2006/main">
            <a:r>
              <a:t>| Вариант | Преимущество | Цена / ограничение |</a:t>
            </a:r>
          </a:p>
          <a:p xmlns:a="http://schemas.openxmlformats.org/drawingml/2006/main">
            <a:r>
              <a:t>|---|---|---|</a:t>
            </a:r>
          </a:p>
          <a:p xmlns:a="http://schemas.openxmlformats.org/drawingml/2006/main">
            <a:r>
              <a:t>| **Модульный монолит, API + worker из одного codebase** | Простые локальные вызовы и единые миграции; разделение CPU-работы и HTTP; одна транзакция для assessment/job | Надо удерживать границы модулей и не превращать общий `core` в склад логики |</a:t>
            </a:r>
          </a:p>
          <a:p xmlns:a="http://schemas.openxmlformats.org/drawingml/2006/main">
            <a:r>
              <a:t>| **Один неразделенный HTTP-процесс со всей логикой** | Минимальный первый локальный эксперимент | CPU/load/restart связаны с HTTP; бизнес-правила, inference и storage быстро переплетаются; долговечность фоновых действий не возникает автоматически |</a:t>
            </a:r>
          </a:p>
          <a:p xmlns:a="http://schemas.openxmlformats.org/drawingml/2006/main">
            <a:r>
              <a:t>| **Отдельные API, ML, catalog, history services** | Независимая эксплуатация и масштабирование действительно самостоятельных частей | Для двух студентов добавляет сетевые контракты, deployment, диагностику и согласование данных, пока нет соответствующей организационной потребности |</a:t>
            </a:r>
          </a:p>
          <a:p xmlns:a="http://schemas.openxmlformats.org/drawingml/2006/main">
            <a:r>
              <a:t/>
            </a:r>
          </a:p>
          <a:p xmlns:a="http://schemas.openxmlformats.org/drawingml/2006/main">
            <a:r>
              <a:t>**Выбор:** первый вариант. `identity`, `catalog`, `farms`, `observations`, `assessments`, `feedback` — модули, а не отдельные deployment units. `ml/runtime` — библиотека worker. Training/evaluation остаются offline-инструментами.</a:t>
            </a:r>
          </a:p>
          <a:p xmlns:a="http://schemas.openxmlformats.org/drawingml/2006/main">
            <a:r>
              <a:t/>
            </a:r>
          </a:p>
          <a:p xmlns:a="http://schemas.openxmlformats.org/drawingml/2006/main">
            <a:r>
              <a:t>**Когда пересмотреть:** устойчиво измеренный bottleneck, отдельная команда/эксплуатационный цикл либо существенно отличающиеся требования к отдельной части. Большой размер файла сам по себе решается модульным рефакторингом, а не обязательным сервисом.</a:t>
            </a:r>
          </a:p>
          <a:p xmlns:a="http://schemas.openxmlformats.org/drawingml/2006/main">
            <a:r>
              <a:t/>
            </a:r>
          </a:p>
          <a:p xmlns:a="http://schemas.openxmlformats.org/drawingml/2006/main">
            <a:r>
              <a:t>**Основание:** границы и стоимость — архитектурное рассуждение; необходимость отделять тяжелую независимую работу согласуется с [FastAPI Background Tasks](https://fastapi.tiangolo.com/tutorial/background-tasks/).</a:t>
            </a:r>
          </a:p>
          <a:p xmlns:a="http://schemas.openxmlformats.org/drawingml/2006/main">
            <a:r>
              <a:t/>
            </a:r>
          </a:p>
          <a:p xmlns:a="http://schemas.openxmlformats.org/drawingml/2006/main">
            <a:r>
              <a:t>## ADR-03. Метаданные и фото</a:t>
            </a:r>
          </a:p>
          <a:p xmlns:a="http://schemas.openxmlformats.org/drawingml/2006/main">
            <a:r>
              <a:t/>
            </a:r>
          </a:p>
          <a:p xmlns:a="http://schemas.openxmlformats.org/drawingml/2006/main">
            <a:r>
              <a:t>**Требования:** FR-03–06/09/10/14/15; NFR-03/04/05/06. Нужны связи владельцев/наблюдений/сезонов/результатов, immutable image/model artifacts и согласованная очередь.</a:t>
            </a:r>
          </a:p>
          <a:p xmlns:a="http://schemas.openxmlformats.org/drawingml/2006/main">
            <a:r>
              <a:t/>
            </a:r>
          </a:p>
          <a:p xmlns:a="http://schemas.openxmlformats.org/drawingml/2006/main">
            <a:r>
              <a:t>| Вариант | Преимущество | Цена / ограничение |</a:t>
            </a:r>
          </a:p>
          <a:p xmlns:a="http://schemas.openxmlformats.org/drawingml/2006/main">
            <a:r>
              <a:t>|---|---|---|</a:t>
            </a:r>
          </a:p>
          <a:p xmlns:a="http://schemas.openxmlformats.org/drawingml/2006/main">
            <a:r>
              <a:t>| **PostgreSQL + private S3-compatible storage** | Реляционные связи и транзакции для metadata/job, отдельно управляемые image/model bytes | DB и storage не имеют общей транзакции: требуются upload states, immutable keys и cleanup |</a:t>
            </a:r>
          </a:p>
          <a:p xmlns:a="http://schemas.openxmlformats.org/drawingml/2006/main">
            <a:r>
              <a:t>| **PostgreSQL с image/model bytes в таблицах** | Один механизм транзакций/backup для данных | Для данного потока увеличивает размер БД/backup и связанность metadata с тяжелыми артефактами; перед выбором нужно измерить реальный объем |</a:t>
            </a:r>
          </a:p>
          <a:p xmlns:a="http://schemas.openxmlformats.org/drawingml/2006/main">
            <a:r>
              <a:t>| **SQLite + локальные файлы** | Очень простой local prototype и хороший формат данных на мобильном устройстве | Для общего server API+worker придется отдельно продумать конкурентную запись, хранение и обслуживание; выбранный протокол PostgreSQL `SKIP LOCKED` не переносится автоматически |</a:t>
            </a:r>
          </a:p>
          <a:p xmlns:a="http://schemas.openxmlformats.org/drawingml/2006/main">
            <a:r>
              <a:t/>
            </a:r>
          </a:p>
          <a:p xmlns:a="http://schemas.openxmlformats.org/drawingml/2006/main">
            <a:r>
              <a:t>**Выбор:** PostgreSQL для server metadata/jobs, private S3-compatible storage для фото/моделей. SQLite используется для **локальной mobile draft queue**, где решает другую задачу. Нельзя описывать SQLite как заведомо непригодную для любого web: ее документация прямо содержит server/web сценарии; выбор PostgreSQL здесь связан с общим серверным доступом и конкретной queue-моделью.</a:t>
            </a:r>
          </a:p>
          <a:p xmlns:a="http://schemas.openxmlformats.org/drawingml/2006/main">
            <a:r>
              <a:t/>
            </a:r>
          </a:p>
          <a:p xmlns:a="http://schemas.openxmlformats.org/drawingml/2006/main">
            <a:r>
              <a:t>**Последствия:** blob key и checksum вместо публичного URL; short-lived URLs после авторизации; `pending/ready/failed` upload lifecycle; регулярная уборка незавершенных uploads. Presigned direct upload возможен позже, с защитой готового input от повторной перезаписи по временной URL.</a:t>
            </a:r>
          </a:p>
          <a:p xmlns:a="http://schemas.openxmlformats.org/drawingml/2006/main">
            <a:r>
              <a:t/>
            </a:r>
          </a:p>
          <a:p xmlns:a="http://schemas.openxmlformats.org/drawingml/2006/main">
            <a:r>
              <a:t>**Основание:** [PostgreSQL SELECT](https://www.postgresql.org/docs/current/sql-select.html), [S3 presigned URLs](https://docs.aws.amazon.com/AmazonS3/latest/userguide/using-presigned-url.html), [SQLite: Appropriate uses](https://sqlite.org/whentouse.html). Оценка цены хранения — проектный tradeoff, а не результат замера.</a:t>
            </a:r>
          </a:p>
          <a:p xmlns:a="http://schemas.openxmlformats.org/drawingml/2006/main">
            <a:r>
              <a:t/>
            </a:r>
          </a:p>
          <a:p xmlns:a="http://schemas.openxmlformats.org/drawingml/2006/main">
            <a:r>
              <a:t>## ADR-04. Выполнение assessment и взаимодействие API/worker</a:t>
            </a:r>
          </a:p>
          <a:p xmlns:a="http://schemas.openxmlformats.org/drawingml/2006/main">
            <a:r>
              <a:t/>
            </a:r>
          </a:p>
          <a:p xmlns:a="http://schemas.openxmlformats.org/drawingml/2006/main">
            <a:r>
              <a:t>**Требования:** FR-05/06/14; NFR-02/03/06. Mobile может потерять ответ; worker может остановиться; система должна сохранить смысл запроса и один итоговый результат.</a:t>
            </a:r>
          </a:p>
          <a:p xmlns:a="http://schemas.openxmlformats.org/drawingml/2006/main">
            <a:r>
              <a:t/>
            </a:r>
          </a:p>
          <a:p xmlns:a="http://schemas.openxmlformats.org/drawingml/2006/main">
            <a:r>
              <a:t>| Вариант | Преимущество | Цена / ограничение |</a:t>
            </a:r>
          </a:p>
          <a:p xmlns:a="http://schemas.openxmlformats.org/drawingml/2006/main">
            <a:r>
              <a:t>|---|---|---|</a:t>
            </a:r>
          </a:p>
          <a:p xmlns:a="http://schemas.openxmlformats.org/drawingml/2006/main">
            <a:r>
              <a:t>| **Dedicated worker + PostgreSQL job table** | Assessment и job создаются одной транзакцией; нет отдельного broker для одного типа задач | Lease, fencing, bounded retry и cleanup надо явно реализовать и проверить; не подходит как бесконтрольная замена полноценной workflow-платформе |</a:t>
            </a:r>
          </a:p>
          <a:p xmlns:a="http://schemas.openxmlformats.org/drawingml/2006/main">
            <a:r>
              <a:t>| **Celery + Redis/RabbitMQ** | Готовые worker, routing/scheduling/workflow/monitoring возможности | Еще один сервис; DB commit и broker publish требуют outbox/согласования; idempotency и корректность side effects все равно нужны |</a:t>
            </a:r>
          </a:p>
          <a:p xmlns:a="http://schemas.openxmlformats.org/drawingml/2006/main">
            <a:r>
              <a:t>| **Синхронный inference в запросе / in-process background callback** | Быстрый первый local proof of concept | Зависимость от request/process lifetime; устойчивость, recovery и распределение нагрузки ограничены; `BackgroundTasks` сам по себе не является durable queue |</a:t>
            </a:r>
          </a:p>
          <a:p xmlns:a="http://schemas.openxmlformats.org/drawingml/2006/main">
            <a:r>
              <a:t/>
            </a:r>
          </a:p>
          <a:p xmlns:a="http://schemas.openxmlformats.org/drawingml/2006/main">
            <a:r>
              <a:t>**Выбор:** узкая PostgreSQL очередь для одного типа inference jobs и отдельный worker. HTTP polling достаточно для статуса одного фото. При появлении кода проверить протокол полностью: claim короткой транзакцией, inference вне lock, точный model pinning, уникальный result, lease fencing, retries, terminal failure.</a:t>
            </a:r>
          </a:p>
          <a:p xmlns:a="http://schemas.openxmlformats.org/drawingml/2006/main">
            <a:r>
              <a:t/>
            </a:r>
          </a:p>
          <a:p xmlns:a="http://schemas.openxmlformats.org/drawingml/2006/main">
            <a:r>
              <a:t>**Гарантия:** at-least-once выполнение, один committed result на assessment. Не обещать exactly-once вычисление. Для replay сохранять idempotency scope/body hash; иной body с тем же key — `409`.</a:t>
            </a:r>
          </a:p>
          <a:p xmlns:a="http://schemas.openxmlformats.org/drawingml/2006/main">
            <a:r>
              <a:t/>
            </a:r>
          </a:p>
          <a:p xmlns:a="http://schemas.openxmlformats.org/drawingml/2006/main">
            <a:r>
              <a:t>**Когда пересмотреть:** потребность в большом числе task types, сложном scheduling, мониторинге нескольких worker pools или измеренном queue bottleneck. Уже работающую зрелую очередь в свежем проекте можно сохранить.</a:t>
            </a:r>
          </a:p>
          <a:p xmlns:a="http://schemas.openxmlformats.org/drawingml/2006/main">
            <a:r>
              <a:t/>
            </a:r>
          </a:p>
          <a:p xmlns:a="http://schemas.openxmlformats.org/drawingml/2006/main">
            <a:r>
              <a:t>**Основание:** [PostgreSQL locking clause](https://www.postgresql.org/docs/current/sql-select.html), [Celery introduction](https://docs.celeryq.dev/en/stable/getting-started/introduction.html), [FastAPI background tasks](https://fastapi.tiangolo.com/tutorial/background-tasks/).</a:t>
            </a:r>
          </a:p>
          <a:p xmlns:a="http://schemas.openxmlformats.org/drawingml/2006/main">
            <a:r>
              <a:t/>
            </a:r>
          </a:p>
          <a:p xmlns:a="http://schemas.openxmlformats.org/drawingml/2006/main">
            <a:r>
              <a:t>## ADR-05. Формат и место inference</a:t>
            </a:r>
          </a:p>
          <a:p xmlns:a="http://schemas.openxmlformats.org/drawingml/2006/main">
            <a:r>
              <a:t/>
            </a:r>
          </a:p>
          <a:p xmlns:a="http://schemas.openxmlformats.org/drawingml/2006/main">
            <a:r>
              <a:t>**Требования:** FR-07/14/16; NFR-01/02/06/08. Требуются воспроизводимый результат, понятная версия и оцененная скорость на доступном оборудовании.</a:t>
            </a:r>
          </a:p>
          <a:p xmlns:a="http://schemas.openxmlformats.org/drawingml/2006/main">
            <a:r>
              <a:t/>
            </a:r>
          </a:p>
          <a:p xmlns:a="http://schemas.openxmlformats.org/drawingml/2006/main">
            <a:r>
              <a:t>| Вариант | Преимущество | Цена / ограничение |</a:t>
            </a:r>
          </a:p>
          <a:p xmlns:a="http://schemas.openxmlformats.org/drawingml/2006/main">
            <a:r>
              <a:t>|---|---|---|</a:t>
            </a:r>
          </a:p>
          <a:p xmlns:a="http://schemas.openxmlformats.org/drawingml/2006/main">
            <a:r>
              <a:t>| **Server CPU + ONNX Runtime** | Единый runtime для клиентов; модель обновляется централизованно; serving отделен от training framework | Нужны export compatibility и parity tests; latency/RAM измеряются, а не предполагаются |</a:t>
            </a:r>
          </a:p>
          <a:p xmlns:a="http://schemas.openxmlformats.org/drawingml/2006/main">
            <a:r>
              <a:t>| **Server CPU/GPU + PyTorch** | Можно сохранить исходный model graph и preprocessing, если ONNX export проблемен | Framework/training зависимости могут увеличивать environment; GPU serving — дополнительный ресурс, его необходимость надо доказать |</a:t>
            </a:r>
          </a:p>
          <a:p xmlns:a="http://schemas.openxmlformats.org/drawingml/2006/main">
            <a:r>
              <a:t>| **On-device ONNX в React Native** | Возможна оценка без сети после загрузки модели | Проверка operator/build/device compatibility, памяти, скорости, обновлений bundle и parity на каждом целевом типе устройств; это отдельный объем |</a:t>
            </a:r>
          </a:p>
          <a:p xmlns:a="http://schemas.openxmlformats.org/drawingml/2006/main">
            <a:r>
              <a:t/>
            </a:r>
          </a:p>
          <a:p xmlns:a="http://schemas.openxmlformats.org/drawingml/2006/main">
            <a:r>
              <a:t>**Выбор:** начать с CPU ONNX, если экспорт сохраняет требуемое поведение; при доказанной проблеме использовать PyTorch serving как осознанный fallback. Выбор architecture сети делает ML-эксперимент, а не этот ADR. Native offline в первой версии — draft/upload queue, не inference.</a:t>
            </a:r>
          </a:p>
          <a:p xmlns:a="http://schemas.openxmlformats.org/drawingml/2006/main">
            <a:r>
              <a:t/>
            </a:r>
          </a:p>
          <a:p xmlns:a="http://schemas.openxmlformats.org/drawingml/2006/main">
            <a:r>
              <a:t>**Последствия:** versioned bundle содержит labels/preprocess/policy/score-space/metrics references; release-проверка отклоняет неготовую policy и null thresholds вместо permissive defaults; worker кеширует по checksum и загружает session заранее; измерять cold/warm время, CPU/RAM и p95, без обещаний скорости по названию технологии.</a:t>
            </a:r>
          </a:p>
          <a:p xmlns:a="http://schemas.openxmlformats.org/drawingml/2006/main">
            <a:r>
              <a:t/>
            </a:r>
          </a:p>
          <a:p xmlns:a="http://schemas.openxmlformats.org/drawingml/2006/main">
            <a:r>
              <a:t>**Основание:** [ONNX Runtime Python](https://onnxruntime.ai/docs/get-started/with-python.html), [ONNX Runtime React Native](https://onnxruntime.ai/docs/get-started/with-javascript/react-native.html). Наличие native-пакета не является доказательством работоспособности конкретной модели.</a:t>
            </a:r>
          </a:p>
          <a:p xmlns:a="http://schemas.openxmlformats.org/drawingml/2006/main">
            <a:r>
              <a:t/>
            </a:r>
          </a:p>
          <a:p xmlns:a="http://schemas.openxmlformats.org/drawingml/2006/main">
            <a:r>
              <a:t>## ADR-06. Monorepo и совместное использование кода</a:t>
            </a:r>
          </a:p>
          <a:p xmlns:a="http://schemas.openxmlformats.org/drawingml/2006/main">
            <a:r>
              <a:t/>
            </a:r>
          </a:p>
          <a:p xmlns:a="http://schemas.openxmlformats.org/drawingml/2006/main">
            <a:r>
              <a:t>**Требования:** FR-01–07/09; NFR-06/08/10. Одна команда изменяет API, mobile и ML; будущий web должен получать тот же контракт без копирования интерфейсов вручную.</a:t>
            </a:r>
          </a:p>
          <a:p xmlns:a="http://schemas.openxmlformats.org/drawingml/2006/main">
            <a:r>
              <a:t/>
            </a:r>
          </a:p>
          <a:p xmlns:a="http://schemas.openxmlformats.org/drawingml/2006/main">
            <a:r>
              <a:t>| Вариант | Преимущество | Цена / ограничение |</a:t>
            </a:r>
          </a:p>
          <a:p xmlns:a="http://schemas.openxmlformats.org/drawingml/2006/main">
            <a:r>
              <a:t>|---|---|---|</a:t>
            </a:r>
          </a:p>
          <a:p xmlns:a="http://schemas.openxmlformats.org/drawingml/2006/main">
            <a:r>
              <a:t>| **pnpm workspaces + uv projects в одном Git repo** | Общие атомарные изменения contract/types; простое ownership; отдельные Python training/runtime environments | Нужно аккуратно закреплять версии native dependencies и Python workspace boundaries |</a:t>
            </a:r>
          </a:p>
          <a:p xmlns:a="http://schemas.openxmlformats.org/drawingml/2006/main">
            <a:r>
              <a:t>| **Monorepo с дополнительным Nx/Turbo orchestration** | Имеет смысл, когда задачи сборки/cache/dependency graph уже создают заметную проблему | Дополнительные настройки и слой инструмента без подтвержденной потребности первой версии |</a:t>
            </a:r>
          </a:p>
          <a:p xmlns:a="http://schemas.openxmlformats.org/drawingml/2006/main">
            <a:r>
              <a:t>| **Отдельные repos для mobile/API/ML** | Независимые циклы версий при независимых командах | Для двух участников добавляет публикацию/синхронизацию контрактов и связанные изменения сразу в нескольких repos |</a:t>
            </a:r>
          </a:p>
          <a:p xmlns:a="http://schemas.openxmlformats.org/drawingml/2006/main">
            <a:r>
              <a:t/>
            </a:r>
          </a:p>
          <a:p xmlns:a="http://schemas.openxmlformats.org/drawingml/2006/main">
            <a:r>
              <a:t>**Выбор:** первый вариант. Общий TS-код — generated API types/client и небольшие pure helpers/tokens. DOM/native UI не объединяется автоматически. Адаптеры camera/storage/auth остаются платформенными. Не создавать web-дизайн или пустое web-приложение в текущей mobile-задаче.</a:t>
            </a:r>
          </a:p>
          <a:p xmlns:a="http://schemas.openxmlformats.org/drawingml/2006/main">
            <a:r>
              <a:t/>
            </a:r>
          </a:p>
          <a:p xmlns:a="http://schemas.openxmlformats.org/drawingml/2006/main">
            <a:r>
              <a:t>**Последствия:** один root script для проверки, lockfiles, простая CI; `workspace:` для локальных TS dependencies; отдельный training uv.lock допустим. При большом реальном времени сборки решение можно пересмотреть.</a:t>
            </a:r>
          </a:p>
          <a:p xmlns:a="http://schemas.openxmlformats.org/drawingml/2006/main">
            <a:r>
              <a:t/>
            </a:r>
          </a:p>
          <a:p xmlns:a="http://schemas.openxmlformats.org/drawingml/2006/main">
            <a:r>
              <a:t>**Основание:** [pnpm workspaces](https://pnpm.io/workspaces), [Expo monorepos](https://docs.expo.dev/guides/monorepos/), [uv workspaces](https://docs.astral.sh/uv/concepts/projects/workspaces/). Цена дополнительной orchestration — проектная оценка, а не benchmark инструментов.</a:t>
            </a:r>
          </a:p>
          <a:p xmlns:a="http://schemas.openxmlformats.org/drawingml/2006/main">
            <a:r>
              <a:t/>
            </a:r>
          </a:p>
          <a:p xmlns:a="http://schemas.openxmlformats.org/drawingml/2006/main">
            <a:r>
              <a:t>## Следующие проверяемые решения</a:t>
            </a:r>
          </a:p>
          <a:p xmlns:a="http://schemas.openxmlformats.org/drawingml/2006/main">
            <a:r>
              <a:t/>
            </a:r>
          </a:p>
          <a:p xmlns:a="http://schemas.openxmlformats.org/drawingml/2006/main">
            <a:r>
              <a:t>Перед первой реализацией зафиксировать поддерживаемые class pairs по аудиту данных, целевые mobile OS/устройства, конкретную auth integration и параметры deployment CPU. После baseline — thresholds, разрешенную область применения и измеримый performance budget. Эти вопросы не должны задерживать авторские материалы этапа, но до получения evidence нельзя выдавать произвольные значения за измеренные или согласованные.</a:t>
            </a:r>
          </a:p>
          <a:p xmlns:a="http://schemas.openxmlformats.org/drawingml/2006/main">
            <a:r>
              <a:t/>
            </a:r>
          </a:p>
          <a:p xmlns:a="http://schemas.openxmlformats.org/drawingml/2006/main">
            <a:r>
              <a:t>Источники проверены 21 октября 2026. Сведения о ценах/конкретных облачных тарифах не использованы; выбор поставщика storage/hosting остается открытым. Связи с требованиями: [REQUIREMENTS_AND_TRACEABILITY.md](../planning/REQUIREMENTS_AND_TRACEABILITY.md).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Представлена компактная часть требований, а не замена полной спецификации. Все критерии описывают будущую приёмку.</a:t>
            </a:r>
          </a:p>
          <a:p xmlns:a="http://schemas.openxmlformats.org/drawingml/2006/main">
            <a:r>
              <a:t># AgroVision — требования и доказательства к этапу 24 октября</a:t>
            </a:r>
          </a:p>
          <a:p xmlns:a="http://schemas.openxmlformats.org/drawingml/2006/main">
            <a:r>
              <a:t/>
            </a:r>
          </a:p>
          <a:p xmlns:a="http://schemas.openxmlformats.org/drawingml/2006/main">
            <a:r>
              <a:t>Проектная спецификация и карта доказательств для этапа 24 октября. Основание: приложенное задание «До 24 октября(1).docx»; актуальное направление пользователя — несколько культур, React Native mobile, будущий React web и Python FastAPI. В текущем пакете UX/Figma разрабатывается **только для mobile**; web сохраняется в плане архитектуры без создания его дизайна или кода. Все прежние материалы являются черновиками; свежий репозиторий не проверен. Кандидаты пилота: пшеница (`wheat`), картофель (`potato`), томат (`tomato`); кукуруза (`maize`) — возможное последующее расширение. Это кандидаты для отбора данных, не подтвержденная поддержка готовой моделью.</a:t>
            </a:r>
          </a:p>
          <a:p xmlns:a="http://schemas.openxmlformats.org/drawingml/2006/main">
            <a:r>
              <a:t/>
            </a:r>
          </a:p>
          <a:p xmlns:a="http://schemas.openxmlformats.org/drawingml/2006/main">
            <a:r>
              <a:t>Официальная тема: **An Intelligent Computer Vision System for Plant Disease Diagnosis in Kazakhstan**.</a:t>
            </a:r>
          </a:p>
          <a:p xmlns:a="http://schemas.openxmlformats.org/drawingml/2006/main">
            <a:r>
              <a:t/>
            </a:r>
          </a:p>
          <a:p xmlns:a="http://schemas.openxmlformats.org/drawingml/2006/main">
            <a:r>
              <a:t>## 1. Что требуется на данном этапе</a:t>
            </a:r>
          </a:p>
          <a:p xmlns:a="http://schemas.openxmlformats.org/drawingml/2006/main">
            <a:r>
              <a:t/>
            </a:r>
          </a:p>
          <a:p xmlns:a="http://schemas.openxmlformats.org/drawingml/2006/main">
            <a:r>
              <a:t>К 24 октября нужен проверяемый комплект **анализа, проектирования, планирования и содержательной работы с руководителем**. Законченное приложение прямо не требуется. Следовательно, приведенные ниже FR/NFR задают приемку будущей реализации, а к 24 октября должны быть оформлены сами требования, обоснования, сценарии, прототипы и план их проверки. Нельзя отмечать будущие тесты как пройденные только потому, что их описание написано.</a:t>
            </a:r>
          </a:p>
          <a:p xmlns:a="http://schemas.openxmlformats.org/drawingml/2006/main">
            <a:r>
              <a:t/>
            </a:r>
          </a:p>
          <a:p xmlns:a="http://schemas.openxmlformats.org/drawingml/2006/main">
            <a:r>
              <a:t>Приоритеты ниже — проектное предложение для первой оцениваемой версии:</a:t>
            </a:r>
          </a:p>
          <a:p xmlns:a="http://schemas.openxmlformats.org/drawingml/2006/main">
            <a:r>
              <a:t/>
            </a:r>
          </a:p>
          <a:p xmlns:a="http://schemas.openxmlformats.org/drawingml/2006/main">
            <a:r>
              <a:t>- **M / Must** — обязательное свойство согласованного MVP; не означает, что код должен быть готов к 24 октября.</a:t>
            </a:r>
          </a:p>
          <a:p xmlns:a="http://schemas.openxmlformats.org/drawingml/2006/main">
            <a:r>
              <a:t>- **S / Should** — полезный следующий объем; перенос допустим с явным изменением плана.</a:t>
            </a:r>
          </a:p>
          <a:p xmlns:a="http://schemas.openxmlformats.org/drawingml/2006/main">
            <a:r>
              <a:t>- Все численные ограничения и цели ниже — **предлагаемые критерии**, а не результаты измерений. После первого baseline их можно изменить с записанным обоснованием до финальной оценки.</a:t>
            </a:r>
          </a:p>
          <a:p xmlns:a="http://schemas.openxmlformats.org/drawingml/2006/main">
            <a:r>
              <a:t/>
            </a:r>
          </a:p>
          <a:p xmlns:a="http://schemas.openxmlformats.org/drawingml/2006/main">
            <a:r>
              <a:t>Прямо подтвержденный пользовательский выбор: несколько культур; web и mobile; FastAPI как основа backend. Конкретный набор культур/болезней, реальные потребности фермеров, наличие эксперта и доступность локальных данных пока не подтверждены полевыми обсуждениями. Их нельзя объявлять установленными фактами.</a:t>
            </a:r>
          </a:p>
          <a:p xmlns:a="http://schemas.openxmlformats.org/drawingml/2006/main">
            <a:r>
              <a:t/>
            </a:r>
          </a:p>
          <a:p xmlns:a="http://schemas.openxmlformats.org/drawingml/2006/main">
            <a:r>
              <a:t>## 2. Карта 11 критериев и требуемых доказательств</a:t>
            </a:r>
          </a:p>
          <a:p xmlns:a="http://schemas.openxmlformats.org/drawingml/2006/main">
            <a:r>
              <a:t/>
            </a:r>
          </a:p>
          <a:p xmlns:a="http://schemas.openxmlformats.org/drawingml/2006/main">
            <a:r>
              <a:t>Таблица указывает созданные артефакты данного пакета и доказательства, которые еще нужны для фактического закрытия. Документ или макет подтверждает подготовку проекта, но не выполнение будущего кода/эксперимента. Статус «подтвержден» допустим только при наличии требуемых реальных свидетельств.</a:t>
            </a:r>
          </a:p>
          <a:p xmlns:a="http://schemas.openxmlformats.org/drawingml/2006/main">
            <a:r>
              <a:t/>
            </a:r>
          </a:p>
          <a:p xmlns:a="http://schemas.openxmlformats.org/drawingml/2006/main">
            <a:r>
              <a:t>| № | Критерий задания | Что можно качественно подготовить сейчас | Что требуется для фактического закрытия / проверки |</a:t>
            </a:r>
          </a:p>
          <a:p xmlns:a="http://schemas.openxmlformats.org/drawingml/2006/main">
            <a:r>
              <a:t>|---|---|---|---|</a:t>
            </a:r>
          </a:p>
          <a:p xmlns:a="http://schemas.openxmlformats.org/drawingml/2006/main">
            <a:r>
              <a:t>| 1 | Project proposal | [PROJECT_PROPOSAL.md](../PROJECT_PROPOSAL.md): точная тема, команда/роли, руководитель, проблема, пользователи, цель, задачи, ожидаемые результаты, границы и исключения. Обозначить много-культурность как явный перечень поддержанных пар «культура–состояние». | Согласованность цели, требований, прототипа и компонентов; ожидаемые результаты сформулированы как будущие. Имена/роли и сведения о руководителе сверены с действительными данными. Имя руководителя не равно его одобрению. |</a:t>
            </a:r>
          </a:p>
          <a:p xmlns:a="http://schemas.openxmlformats.org/drawingml/2006/main">
            <a:r>
              <a:t>| 2 | Evidence of relevance | [USER_INTERVIEW_AND_SUPERVISOR.md](../templates/USER_INTERVIEW_AND_SUPERVISOR.md), пустой журнал обсуждений, вопросы по реальному процессу осмотра растений, таблица «наблюдение → требование → источник», список гипотез. | **3–5 реальных обсуждений с представителями пользователей ИЛИ содержательное соглашение с действительным заказчиком.** Для каждого: дата, роль участника, фактические заметки/доказательство, выводы и изменения требований. Пустой шаблон, выдуманная цитата, анализ рынка или разговор с ИИ не заменяют этого пункта. |</a:t>
            </a:r>
          </a:p>
          <a:p xmlns:a="http://schemas.openxmlformats.org/drawingml/2006/main">
            <a:r>
              <a:t>| 3 | Literature review | [LITERATURE_REVIEW.md](../references/LITERATURE_REVIEW.md), таблица публикаций, [библиография](../references/sources.bib): не менее 12 содержательно использованных источников, включая ≥8 научных; обсуждение методов, данных, ограничений, внешней валидности и вклада проекта. | Проверенные источники действительно существуют, доступны для проверки и связаны с решениями проекта. Для быстро меняющейся области ядро — последние пять лет, фундаментальные ранние работы сохранены по смыслу. Список из 12 ссылок без анализа недостаточен. |</a:t>
            </a:r>
          </a:p>
          <a:p xmlns:a="http://schemas.openxmlformats.org/drawingml/2006/main">
            <a:r>
              <a:t>| 4 | Existing system comparison | [EXISTING_SYSTEMS.md](../references/EXISTING_SYSTEMS.md): 3–5 релевантных систем по одним и тем же 6–10 критериям; источник/дата проверки каждой существенной характеристики; явные неизвестные поля. | Отсутствие найденного подтверждения не выдается за отсутствие функции. Отличия AgroVision связаны с требованиями и доказательствами. Если аналогов меньше трех, дано содержательное обоснование. |</a:t>
            </a:r>
          </a:p>
          <a:p xmlns:a="http://schemas.openxmlformats.org/drawingml/2006/main">
            <a:r>
              <a:t>| 5 | Technology comparison | [DECISIONS.md](../architecture/DECISIONS.md): минимум три решения, у каждого 2–3 разумные альтернативы, критерии, выбор и цена выбора. Например: backend-платформа; хранение; способ выполнения inference/взаимодействия API и worker. | Выбор привязан к масштабу команды, требованиям, эксплуатации и ограничениям. «Популярнее» или «ИИ посоветовал» не достаточное обоснование. Выбор FastAPI можно обосновать сравнением, не заявляя, что он уже реализован. |</a:t>
            </a:r>
          </a:p>
          <a:p xmlns:a="http://schemas.openxmlformats.org/drawingml/2006/main">
            <a:r>
              <a:t>| 6 | Requirements specification | Этот [FR/NFR-набор](REQUIREMENTS_AND_TRACEABILITY.md); приоритеты, приемка, источники/гипотезы, связи с модулями и проверками. | Для каждого Must существует выполнимый метод проверки. Конфликты устранены: неизвестный результат не равен технической ошибке; offline draft не обещает offline inference; web/mobile работают с одним контрактом. |</a:t>
            </a:r>
          </a:p>
          <a:p xmlns:a="http://schemas.openxmlformats.org/drawingml/2006/main">
            <a:r>
              <a:t>| 7 | Architecture and diagrams | [SYSTEM_DESIGN.md](../architecture/SYSTEM_DESIGN.md), [набор схем](../architecture/diagrams/README.md); контекстная схема, **UML Use Case Diagram**, черновая компонентная схема, редактируемые `.puml`/`.mmd` и читаемые `.svg`/`.png`. По желанию ER как дополнение. | Все три обязательные схемы существуют, согласованы между собой, с FR, названиями сущностей и прототипом. Рисунок use-case использует актеров/варианты использования/границу системы; обычный flowchart не объявлен UML use-case. Экспорт соответствует исходнику. |</a:t>
            </a:r>
          </a:p>
          <a:p xmlns:a="http://schemas.openxmlformats.org/drawingml/2006/main">
            <a:r>
              <a:t>| 8 | UX / prototype | [Mobile Figma](https://www.figma.com/design/07cVYgjO4tZw4IaR7kUxEz) и [экспорт экранов](../ux/MOBILE_SCREENS.png): реальные макеты основных mobile-экранов — ввод/фото, обработка, результат, неопределенность/пересъемка, история. API-примеры — дополнение. | **У проекта есть UI, поэтому нужны макеты сценариев или прототип.** Вариант только с API/CLI предназначен в задании для проектов без интерфейса. Пользователь понимает порядок действий, ожидание и следующие действия при неуспехе. Макет не выдается за работающее приложение. Макеты web в текущем пакете не создаются; это не мешает показать основной mobile-сценарий по требованию задания. |</a:t>
            </a:r>
          </a:p>
          <a:p xmlns:a="http://schemas.openxmlformats.org/drawingml/2006/main">
            <a:r>
              <a:t>| 9 | Verification and evaluation plan | [TRAINING_AND_EVALUATION.md](../ml/TRAINING_AND_EVALUATION.md) и FR/NFR-проверки ниже: baseline, наборы/разбиения/группировка, метрики, условия, пользовательские/интеграционные/ML-проверки, шаблоны отчетов. | План позволяет воспроизвести сравнение; метрики по культурам/классам, неопределенности и условиям не заменены одним общим accuracy. Фактические результаты отделены от целей. На этом этапе допустим план без обучения, если это честно обозначено. |</a:t>
            </a:r>
          </a:p>
          <a:p xmlns:a="http://schemas.openxmlformats.org/drawingml/2006/main">
            <a:r>
              <a:t>| 10 | Project management and risks | [BACKLOG.csv](BACKLOG.csv) с исполнителями, приоритетом, результатом, приемкой и сроками; [личный план](../MAQSAT_ACTION_PLAN.md), правила Git и перечень незакрытых доказательств ниже. CSV содержит предложенные задачи, не записи живого YouTrack. | Нужны **действительный GitHub/GitLab-репозиторий и действительный YouTrack** с назначенными приоритизированными задачами. Видимые последовательные вклады обоих студентов, их собственные учетные записи, содержательные commits/PR/MR и взаимное review. Файл импорта или текстовый план не равны созданным задачам. Ссылки и доступ для проверки работают. |</a:t>
            </a:r>
          </a:p>
          <a:p xmlns:a="http://schemas.openxmlformats.org/drawingml/2006/main">
            <a:r>
              <a:t>| 11 | Supervisor feedback | [USER_INTERVIEW_AND_SUPERVISOR.md](../templates/USER_INTERVIEW_AND_SUPERVISOR.md), комплект конкретных вопросов и таблица «замечание → решение → изменение/обоснование». | Нужен **реальный содержательный отзыв руководителя** о ключевых результатах и решения по замечаниям. Запрос на отзыв не равен отзыву, имя/подпись в шаблоне не доказывает рассмотрение. Сохранить исходное сообщение/комментарии разрешенным способом и ссылку на реальные изменения. |</a:t>
            </a:r>
          </a:p>
          <a:p xmlns:a="http://schemas.openxmlformats.org/drawingml/2006/main">
            <a:r>
              <a:t/>
            </a:r>
          </a:p>
          <a:p xmlns:a="http://schemas.openxmlformats.org/drawingml/2006/main">
            <a:r>
              <a:t>### Сквозная доказуемость Git</a:t>
            </a:r>
          </a:p>
          <a:p xmlns:a="http://schemas.openxmlformats.org/drawingml/2006/main">
            <a:r>
              <a:t/>
            </a:r>
          </a:p>
          <a:p xmlns:a="http://schemas.openxmlformats.org/drawingml/2006/main">
            <a:r>
              <a:t>Задание требует один продолжающийся репозиторий, README, разделение кода/документации/схем/тестов/конфигурации, собственные авторские аккаунты, задачи YouTrack, ветки и PR/MR с взаимным review. По этапу требуется tag точной сдаваемой версии, например `pre-defense-1`, затем неизменность ранее сданного tag. В PR/MR указываются реальная задача, изменение и проверка; в задаче — обратная ссылка.</a:t>
            </a:r>
          </a:p>
          <a:p xmlns:a="http://schemas.openxmlformats.org/drawingml/2006/main">
            <a:r>
              <a:t/>
            </a:r>
          </a:p>
          <a:p xmlns:a="http://schemas.openxmlformats.org/drawingml/2006/main">
            <a:r>
              <a:t>Содержательная история важнее числа commits. Если работа до настоящего времени велась без Git, это надо честно указать и начать запись сейчас. Нельзя задним числом изготовить историю, раздать чужое авторство, создавать фиктивное review или называть массовую загрузку непрерывной разработкой. Импорт собственных существующих материалов может быть честным первым commit, но он не доказывает предыдущую историю.</a:t>
            </a:r>
          </a:p>
          <a:p xmlns:a="http://schemas.openxmlformats.org/drawingml/2006/main">
            <a:r>
              <a:t/>
            </a:r>
          </a:p>
          <a:p xmlns:a="http://schemas.openxmlformats.org/drawingml/2006/main">
            <a:r>
              <a:t>В командах, рабочих ветках и отчетах использовать фактический YouTrack ID либо явный placeholder `&lt;YT-ID&gt;`. Предложенные IDs в BACKLOG.csv служат внутренними ключами планирования и должны быть сопоставлены с фактическими задачами; они не доказывают создание YouTrack. Команды запуска и тестов добавляются, когда появляется реально запускаемый код; README этапа проектирования может явно указывать, что runnable implementation пока отсутствует.</a:t>
            </a:r>
          </a:p>
          <a:p xmlns:a="http://schemas.openxmlformats.org/drawingml/2006/main">
            <a:r>
              <a:t/>
            </a:r>
          </a:p>
          <a:p xmlns:a="http://schemas.openxmlformats.org/drawingml/2006/main">
            <a:r>
              <a:t>## 3. Границы и роли</a:t>
            </a:r>
          </a:p>
          <a:p xmlns:a="http://schemas.openxmlformats.org/drawingml/2006/main">
            <a:r>
              <a:t/>
            </a:r>
          </a:p>
          <a:p xmlns:a="http://schemas.openxmlformats.org/drawingml/2006/main">
            <a:r>
              <a:t>**Фермер / растениевод:** снимает лист поддерживаемой культуры, получает предварительную оценку, видит ограничения, сохраняет наблюдение и историю. Интерфейс и рабочие гипотезы еще должны быть проверены обсуждениями с такими пользователями.</a:t>
            </a:r>
          </a:p>
          <a:p xmlns:a="http://schemas.openxmlformats.org/drawingml/2006/main">
            <a:r>
              <a:t/>
            </a:r>
          </a:p>
          <a:p xmlns:a="http://schemas.openxmlformats.org/drawingml/2006/main">
            <a:r>
              <a:t>**Эксперт по растениям / разметчик:** проверяет разрешенные для исследования фотографии и фиксирует референсные метки с уровнем подтверждения. Наличие эксперта, лаборатории или договора не предполагается автоматически. Эксперт не обязан быть оператором инфраструктуры.</a:t>
            </a:r>
          </a:p>
          <a:p xmlns:a="http://schemas.openxmlformats.org/drawingml/2006/main">
            <a:r>
              <a:t/>
            </a:r>
          </a:p>
          <a:p xmlns:a="http://schemas.openxmlformats.org/drawingml/2006/main">
            <a:r>
              <a:t>**Технический оператор / ML-исследователь:** проверяет и выпускает модельные артефакты, запускает воспроизводимую оценку, контролирует сбои. На первом этапе допустим CLI; отдельная большая админ-панель не обязательна.</a:t>
            </a:r>
          </a:p>
          <a:p xmlns:a="http://schemas.openxmlformats.org/drawingml/2006/main">
            <a:r>
              <a:t/>
            </a:r>
          </a:p>
          <a:p xmlns:a="http://schemas.openxmlformats.org/drawingml/2006/main">
            <a:r>
              <a:t>Начальная граница данных — владелец `owner_user_id`. Полноценная enterprise tenancy, подписки, организации и приглашения не требуются. Если реальные интервью подтвердят совместный доступ к одной ферме, выбрать небольшую membership-модель отдельно; не реализовывать обе модели владения параллельно.</a:t>
            </a:r>
          </a:p>
          <a:p xmlns:a="http://schemas.openxmlformats.org/drawingml/2006/main">
            <a:r>
              <a:t/>
            </a:r>
          </a:p>
          <a:p xmlns:a="http://schemas.openxmlformats.org/drawingml/2006/main">
            <a:r>
              <a:t>Вне первой версии: универсальное распознавание любых растений, автоматическое установление причины болезни по региону, прогноз переноса инфекции ветром, обязательная GIS-платформа, on-device inference, автоматическая агрономическая экспертиза, B2B-биллинг. Включение нового объема требует требования и проверки, а не только строки в презентации.</a:t>
            </a:r>
          </a:p>
          <a:p xmlns:a="http://schemas.openxmlformats.org/drawingml/2006/main">
            <a:r>
              <a:t/>
            </a:r>
          </a:p>
          <a:p xmlns:a="http://schemas.openxmlformats.org/drawingml/2006/main">
            <a:r>
              <a:t>## 4. Функциональные требования</a:t>
            </a:r>
          </a:p>
          <a:p xmlns:a="http://schemas.openxmlformats.org/drawingml/2006/main">
            <a:r>
              <a:t/>
            </a:r>
          </a:p>
          <a:p xmlns:a="http://schemas.openxmlformats.org/drawingml/2006/main">
            <a:r>
              <a:t>Обозначения тестов ниже описывают **запланированные проверки**, не существующие файлы и не пройденные тесты. Каждый критерий приемки относится к будущей реализации. Для стадии 24 октября достаточно соответствующего контракта/макета/описания проверки.</a:t>
            </a:r>
          </a:p>
          <a:p xmlns:a="http://schemas.openxmlformats.org/drawingml/2006/main">
            <a:r>
              <a:t/>
            </a:r>
          </a:p>
          <a:p xmlns:a="http://schemas.openxmlformats.org/drawingml/2006/main">
            <a:r>
              <a:t>| ID / приоритет | Требование | Проверяемая приемка | Модули / проверки |</a:t>
            </a:r>
          </a:p>
          <a:p xmlns:a="http://schemas.openxmlformats.org/drawingml/2006/main">
            <a:r>
              <a:t>|---|---|---|---|</a:t>
            </a:r>
          </a:p>
          <a:p xmlns:a="http://schemas.openxmlformats.org/drawingml/2006/main">
            <a:r>
              <a:t>| **FR-01 M** | Система публикует явный каталог поддерживаемых культур, состояний и органов растения. | Исследуемая multi-crop конфигурация включает не менее двух культур. Каждая поддержанная пара «культура–состояние» связана с модельной версией и отчетом. Mobile получает стабильные IDs из API; будущий web использует тот же контракт; неподдержанный `crop_id` не запускает обычную классификацию. Конкретные культуры выбираются по данным, не выдумываются ради числа. | `catalog`, `assessments/model-selection`, `api-client`; **T-CAT**, **T-MOD** |</a:t>
            </a:r>
          </a:p>
          <a:p xmlns:a="http://schemas.openxmlformats.org/drawingml/2006/main">
            <a:r>
              <a:t>| **FR-02 M** | Пользователь входит в mobile-учетную запись и управляет своей сессией; будущий web предусматривает ту же identity. | После повторного входа в mobile доступна собственная серверная история. При последующем добавлении web он обращается к той же identity/history; web-приемка не входит в текущий mobile scope. Выход отзывает соответствующую refresh-сессию; повторное обновление с отозванным credential отклоняется. Неавторизованный доступ к личной истории отклоняется. | `identity`, клиентские auth-adapters; **T-AUTH**, **T-UI** |</a:t>
            </a:r>
          </a:p>
          <a:p xmlns:a="http://schemas.openxmlformats.org/drawingml/2006/main">
            <a:r>
              <a:t>| **FR-03 M** | Пользователь создает наблюдение с фотографией, выбранной культурой и метаданными съемки. | Для выбранной поддерживаемой культуры можно сохранить одно фото, орган/дату и необязательную заметку. `client_observation_id` повторного запроса не создает второе наблюдение. Привязка к полю необязательна: быстрый осмотр не требует настройки фермы. | `observations`, mobile capture; **T-OBS**, **T-UI** |</a:t>
            </a:r>
          </a:p>
          <a:p xmlns:a="http://schemas.openxmlformats.org/drawingml/2006/main">
            <a:r>
              <a:t>| **FR-04 M** | Система принимает и проверяет фото до выполнения assessment. | Предлагаемый входной контракт: JPEG/PNG, не более 10 MiB и 20 мегапикселей; пороги конфигурируемы и отражены в UI/API. Валидные файлы получают `ready`; поврежденный, ложный MIME, превышенный размер и неподдержанный формат дают конкретный ответ. Проверяется декодированное содержимое. Mobile при необходимости конвертирует формат до отправки. | `observations/photos`, storage adapter; **T-UPL** |</a:t>
            </a:r>
          </a:p>
          <a:p xmlns:a="http://schemas.openxmlformats.org/drawingml/2006/main">
            <a:r>
              <a:t>| **FR-05 M** | Пользователь запускает одну оценку готового фото с безопасным повтором запроса. | `POST /v1/assessments` после durable commit возвращает ID и `202`. Два параллельных запроса с одним владельцем, ключом и телом дают один assessment/job. Повтор с тем же ключом и другим телом дает `409`. Фото другого владельца не принимается. | `assessments`, DB transaction, `identity`; **T-JOB**, **T-AUTH** |</a:t>
            </a:r>
          </a:p>
          <a:p xmlns:a="http://schemas.openxmlformats.org/drawingml/2006/main">
            <a:r>
              <a:t>| **FR-06 M** | Пользователь видит состояние выполнения; задача переживает кратковременный сбой worker. | API различает `queued`, `running`, `completed`, `failed`. Перезапуск worker не оставляет задачу бессрочно в `running`; lease recovery и ограниченные retries приводят к одному сохраненному результату либо явной ошибке. UI показывает ожидание и возможность повторить разрешенное действие. | `assessments/jobs`, worker, web/mobile result; **T-JOB**, **T-RES**, **T-UI** |</a:t>
            </a:r>
          </a:p>
          <a:p xmlns:a="http://schemas.openxmlformats.org/drawingml/2006/main">
            <a:r>
              <a:t>| **FR-07 M** | Результат честно различает поддержанную гипотезу и недостаточность данных. | Контракт и UI поддерживают `predicted`, `inconclusive`, `unsupported_input`, `retake_photo`. Есть причина/следующее действие. `predicted` содержит стабильную пару «культура–состояние» и версию модели. Имеются примеры здорового класса, неуверенности, неподдержанного ввода и плохого фото; ошибки сервера отображаются отдельно. Model score не подписывается как проверенная вероятность правильного диагноза. | `assessments/decision-policy`, `catalog`, clients; **T-RES**, **T-UI**, **T-EVAL** |</a:t>
            </a:r>
          </a:p>
          <a:p xmlns:a="http://schemas.openxmlformats.org/drawingml/2006/main">
            <a:r>
              <a:t>| **FR-08 S** | Пользователь получает краткую справку о поддержанном состоянии и ограничениях вывода. | Для справки указаны версия/источник; отображаются название, объяснение предварительного характера оценки и применимое следующее действие. При неизвестном результате доступна помощь по пересъемке/обращению к специалисту. Текст справки отделен от численного вывода модели. | `catalog/content`, result UI; **T-RES**, **T-UI**, контент-review |</a:t>
            </a:r>
          </a:p>
          <a:p xmlns:a="http://schemas.openxmlformats.org/drawingml/2006/main">
            <a:r>
              <a:t>| **FR-09 M** | Пользователь просматривает собственную историю и детали наблюдений. | История пагинируется, фильтруется минимум по дате и культуре; карточка показывает фото, исходные метаданные и assessment-версии. Повторный запуск новой модели создает отдельную запись и сохраняет старый результат. Объекты другого владельца не появляются в выдаче. | `observations`, `assessments`, clients; **T-OBS**, **T-MOD**, **T-AUTH** |</a:t>
            </a:r>
          </a:p>
          <a:p xmlns:a="http://schemas.openxmlformats.org/drawingml/2006/main">
            <a:r>
              <a:t>| **FR-10 S** | Пользователь связывает наблюдения с фермой, полем и сезоном. | Можно создать `Farm`, `Field`, `FieldSeason` с культурой сезона и связать наблюдение со своим сезоном. Изменение культуры нового сезона не меняет прошлые наблюдения. Все ссылки проверяют владельца. Полигональная карта не требуется. | `farms`, `observations`; **T-OBS**, **T-AUTH** |</a:t>
            </a:r>
          </a:p>
          <a:p xmlns:a="http://schemas.openxmlformats.org/drawingml/2006/main">
            <a:r>
              <a:t>| **FR-11 S** | Mobile сохраняет offline-черновики и отправляет их после восстановления связи. | Без сети фото и метаданные сохраняются в постоянном хранилище приложения; после обычного перезапуска и восстановления связи пользователь может продолжить. Повторы используют прежние IDs/keys и не создают дублей. Смена аккаунта не отправляет черновик первого пользователя от имени второго. До серверного результата UI показывает pending, а не диагноз. | mobile draft queue/files/SQLite, `api-client`; **T-OFF**, **T-JOB**, **T-AUTH** |</a:t>
            </a:r>
          </a:p>
          <a:p xmlns:a="http://schemas.openxmlformats.org/drawingml/2006/main">
            <a:r>
              <a:t>| **FR-12 S** | Пользователь оставляет отзыв о конкретном результате. | Отзыв связан с assessment и автором, сохраняется/читается по разрешениям. Сообщение «неверно» или выбранная пользователем метка не меняют prediction и не получают автоматически статус экспертной разметки. | `feedback`, clients; **T-ANN**, **T-AUTH** |</a:t>
            </a:r>
          </a:p>
          <a:p xmlns:a="http://schemas.openxmlformats.org/drawingml/2006/main">
            <a:r>
              <a:t>| **FR-13 S** | Эксперт фиксирует отдельную исследовательскую аннотацию разрешенного образца. | В записи есть образец, культура/состояние или `uncertain`, источник и уровень подтверждения, автор и время. Эксперт имеет доступ только к назначенной/разрешенной выборке. Экспорт сохраняет provenance; визуальное мнение не становится лабораторным подтверждением без соответствующего основания. Допустим простой интерфейс или управляемый импорт таблицы. | `feedback/annotations`, research export; **T-ANN**, **T-AUTH** |</a:t>
            </a:r>
          </a:p>
          <a:p xmlns:a="http://schemas.openxmlformats.org/drawingml/2006/main">
            <a:r>
              <a:t>| **FR-14 M** | Оператор проверяет и активирует версионированный модельный bundle. | Проверяются checksum, manifest, label-order, preprocess/postprocess, runtime, status/совместимость decision policy и score space; calibration artifact обязателен при заявленной calibration. Null thresholds не считаются разрешающими defaults. Некорректный bundle не активируется. Новый активный bundle используется новыми запросами; созданные ранее задачи сохраняют исходную версию. Возможен возврат к прежнему проверенному bundle. CLI достаточен. | `assessments/model-registry`, `ml/runtime`, operator CLI; **T-MOD**, **T-JOB** |</a:t>
            </a:r>
          </a:p>
          <a:p xmlns:a="http://schemas.openxmlformats.org/drawingml/2006/main">
            <a:r>
              <a:t>| **FR-15 S** | Пользователь удаляет собственное наблюдение и связанные доступные данные. | После удаления наблюдение отсутствует в истории; новые обращения и новые download URLs отклоняются. Worker не публикует результат для удаленного наблюдения. Приватные blob-объекты удаляются по документированному cleanup-процессу; ранее выданная signed URL действует не дольше ее настроенного TTL. | `observations`, `assessments`, storage cleanup; **T-DEL**, **T-AUTH**, **T-JOB** |</a:t>
            </a:r>
          </a:p>
          <a:p xmlns:a="http://schemas.openxmlformats.org/drawingml/2006/main">
            <a:r>
              <a:t>| **FR-16 M** | ML-исследователь запускает воспроизводимую оценку и сохраняет отчет. | Одна документированная команда/процедура использует зафиксированные dataset manifest, групповой split, model bundle и конфигурацию. Отчет содержит baseline на том же split, class/crop metrics, confusion matrix, abstention coverage и ошибки на неподдержанном/неподходящем вводе, сведения об оборудовании и версиях. Отсутствующие локальные данные явно отражены в выводах. | `ml/training/evaluation`, manifests/reports; **T-EVAL**, **T-REPRO** |</a:t>
            </a:r>
          </a:p>
          <a:p xmlns:a="http://schemas.openxmlformats.org/drawingml/2006/main">
            <a:r>
              <a:t/>
            </a:r>
          </a:p>
          <a:p xmlns:a="http://schemas.openxmlformats.org/drawingml/2006/main">
            <a:r>
              <a:t>Наличие `Should`-интерфейса не мешает готовить его данные/контракт в архитектуре. Например, схема `FieldSeason` может быть предусмотрена до полноценного UI управления фермой, а исследовательская разметка — в таблице до создания экспертной панели.</a:t>
            </a:r>
          </a:p>
          <a:p xmlns:a="http://schemas.openxmlformats.org/drawingml/2006/main">
            <a:r>
              <a:t/>
            </a:r>
          </a:p>
          <a:p xmlns:a="http://schemas.openxmlformats.org/drawingml/2006/main">
            <a:r>
              <a:t>## 5. Нефункциональные требования</a:t>
            </a:r>
          </a:p>
          <a:p xmlns:a="http://schemas.openxmlformats.org/drawingml/2006/main">
            <a:r>
              <a:t/>
            </a:r>
          </a:p>
          <a:p xmlns:a="http://schemas.openxmlformats.org/drawingml/2006/main">
            <a:r>
              <a:t>| ID / приоритет | Свойство | Проверяемая приемка / условия | Модули / проверки |</a:t>
            </a:r>
          </a:p>
          <a:p xmlns:a="http://schemas.openxmlformats.org/drawingml/2006/main">
            <a:r>
              <a:t>|---|---|---|---|</a:t>
            </a:r>
          </a:p>
          <a:p xmlns:a="http://schemas.openxmlformats.org/drawingml/2006/main">
            <a:r>
              <a:t>| **NFR-01 M** | Достоверность границ ML-результата | 100% выпускаемых bundles имеют отчет с составом поддерживаемых классов, происхождением/разбиением данных, метриками по культурам/классам и ограничениями. Пороги abstention и критерий включения класса фиксируются в конфигурации до финальной оценки. Результаты внешнего/локального набора отделены от внутреннего. Если локальной проверки нет, нельзя маркировать релиз как валидированный для Казахстана. | `ml/evaluation`, model card, release procedure; **T-EVAL**, review отчета |</a:t>
            </a:r>
          </a:p>
          <a:p xmlns:a="http://schemas.openxmlformats.org/drawingml/2006/main">
            <a:r>
              <a:t>| **NFR-02 S** | Отзывчивость на выбранном CPU-сервере | Предлагаемая цель: p95 от принятого assessment для **уже загруженного фото** до завершения ≤5 s при двух одновременно активных запросах, 100 валидных тестовых изображениях и прогретом worker. Указать CPU/RAM/потоки, размеры изображений и модель. Cold start и upload latency измеряются отдельно. Это цель, не обещание/результат; изменение порога оформляется до итогового сравнения. | API/worker/runtime; **T-PERF** |</a:t>
            </a:r>
          </a:p>
          <a:p xmlns:a="http://schemas.openxmlformats.org/drawingml/2006/main">
            <a:r>
              <a:t>| **NFR-03 M** | Восстановление и ограниченное повторное выполнение | Сценарии остановки worker после claim, после inference до commit и повторного получения job завершаются одним result либо явным `failed` после лимита retries. Зависший job возвращается в обработку не позднее двух настроенных lease-периодов при работающих DB/worker. Устаревший lease token не может записать результат. Параметры timeout/lease/retries зафиксированы. | `assessments/jobs`, PostgreSQL; **T-JOB** |</a:t>
            </a:r>
          </a:p>
          <a:p xmlns:a="http://schemas.openxmlformats.org/drawingml/2006/main">
            <a:r>
              <a:t>| **NFR-04 M** | Изоляция данных между пользователями | В отрицательной матрице A/B запрещены чтение/изменение чужих observations, photos, assessments, fields, feedback и создание URL к чужим blob-объектам. Все ссылки на родительские объекты проверяют тот же scope. Ни один отрицательный сценарий не возвращает чужие данные. | identity/scoped services/storage; **T-AUTH** |</a:t>
            </a:r>
          </a:p>
          <a:p xmlns:a="http://schemas.openxmlformats.org/drawingml/2006/main">
            <a:r>
              <a:t>| **NFR-05 M** | Защита учетных и пользовательских данных | В опубликованном окружении HTTPS; bucket private; новые signed URLs выдаются после авторизации с TTL ≤5 min. Refresh-секрет web защищен выбранной cookie-схемой, native — SecureStore/keychain; логи не содержат токены/сырые фото. В Git нет секретов; пример конфигурации содержит placeholders. Это набор проверяемых свойств, не заявление «полностью безопасно». | identity, storage, clients, config/logging; **T-AUTH**, **T-UPL**, config review |</a:t>
            </a:r>
          </a:p>
          <a:p xmlns:a="http://schemas.openxmlformats.org/drawingml/2006/main">
            <a:r>
              <a:t>| **NFR-06 M** | Воспроизводимость и неизменяемость версий | 100% завершенных assessments имеют model bundle ID/checksum и версии preprocessing/decision-policy. Отчет оценки фиксирует dataset/split manifest, commit/config и seed где применимо. Переактивация модели не меняет сохраненный результат. Export parity проверяется на фиксированных fixtures с заранее заданным для модели допуском; допуск не подбирается после неудачи ради зеленого теста. | `ml/runtime`, manifests, assessments; **T-MOD**, **T-REPRO** |</a:t>
            </a:r>
          </a:p>
          <a:p xmlns:a="http://schemas.openxmlformats.org/drawingml/2006/main">
            <a:r>
              <a:t>| **NFR-07 S** | Понятность основного сценария | Формативная проверка mobile: не менее 4 из 5 новых участников целевой группы проходят «выбрать культуру → фото → прочитать результат/следующее действие» за ≤3 min без подсказки модератора в контролируемом сценарии. Фиксируются ошибки и изменения UI. Mobile-элементы имеют понятные подписи и accessibility labels. Keyboard-проверка будущего web планируется отдельно. Это будущий тест; результаты интервью/теста нельзя выдумывать. | web/mobile UX; **T-UX**, **T-UI** |</a:t>
            </a:r>
          </a:p>
          <a:p xmlns:a="http://schemas.openxmlformats.org/drawingml/2006/main">
            <a:r>
              <a:t>| **NFR-08 M** | Проверенная совместимость клиентов | Предлагаемая минимальная матрица текущего mobile-пилота: Android build на реальном устройстве + совместимость server API; точные версии/устройство записываются перед проверкой. Проходит основной сценарий и весь result contract. iOS включается в обязательную приемку после подтверждения среды build/устройства. Chromium/Firefox и web end-to-end относятся к последующей web-фазе, а не к текущему Must. | clients, `api-client`, release checklist; **T-UI**, build verification |</a:t>
            </a:r>
          </a:p>
          <a:p xmlns:a="http://schemas.openxmlformats.org/drawingml/2006/main">
            <a:r>
              <a:t>| **NFR-09 S** | Устойчивость offline-черновиков к прерыванию | Во всех 20 заранее описанных тестах обрыва связи/обычного закрытия процесса до и после ответа API сохраненный draft остается доступным, не отправляется под другим пользователем и не создает дублей. Нехватка места дает понятный отказ до обещания «сохранено». Удаление приложения/очистка данных ОС не включаются в обещание сохранности. | native files/SQLite queue; **T-OFF**, **T-JOB** |</a:t>
            </a:r>
          </a:p>
          <a:p xmlns:a="http://schemas.openxmlformats.org/drawingml/2006/main">
            <a:r>
              <a:t>| **NFR-10 M** | Поддерживаемость и совместимость контракта | Из чистого clone воспроизводятся документированные зависимости и проверка основного сценария без training-GPU. CI проверяет типы/основные meaningful tests и отсутствие несогласованного изменения OpenAPI/generated TS. Runtime не импортирует FastAPI/ORM, production-сборка не требует training-кода. Trace/request IDs связывают assessment с безопасным техническим журналом. | workspace, server, `ml/runtime`, CI, docs; **T-CI**, **T-RES** |</a:t>
            </a:r>
          </a:p>
          <a:p xmlns:a="http://schemas.openxmlformats.org/drawingml/2006/main">
            <a:r>
              <a:t/>
            </a:r>
          </a:p>
          <a:p xmlns:a="http://schemas.openxmlformats.org/drawingml/2006/main">
            <a:r>
              <a:t>NFR-07 — малая формативная проверка удобства, а не статистическая оценка рынка. NFR-08 — предлагаемое сокращение первого пилота под ресурсы команды, а не объявление, что React Native не поддерживает iOS. При обязательном iOS для пользователя матрицу нужно расширить до принятия scope.</a:t>
            </a:r>
          </a:p>
          <a:p xmlns:a="http://schemas.openxmlformats.org/drawingml/2006/main">
            <a:r>
              <a:t/>
            </a:r>
          </a:p>
          <a:p xmlns:a="http://schemas.openxmlformats.org/drawingml/2006/main">
            <a:r>
              <a:t>## 6. Реестр методов проверки</a:t>
            </a:r>
          </a:p>
          <a:p xmlns:a="http://schemas.openxmlformats.org/drawingml/2006/main">
            <a:r>
              <a:t/>
            </a:r>
          </a:p>
          <a:p xmlns:a="http://schemas.openxmlformats.org/drawingml/2006/main">
            <a:r>
              <a:t>| Test ID | Что проверяется | Материал / наблюдаемое доказательство |</a:t>
            </a:r>
          </a:p>
          <a:p xmlns:a="http://schemas.openxmlformats.org/drawingml/2006/main">
            <a:r>
              <a:t>|---|---|---|</a:t>
            </a:r>
          </a:p>
          <a:p xmlns:a="http://schemas.openxmlformats.org/drawingml/2006/main">
            <a:r>
              <a:t>| T-CAT | Каталог и model capabilities | Контрактные ответы; минимум две выбранные культуры; отвергнутые неизвестные IDs; manifest ↔ API consistency |</a:t>
            </a:r>
          </a:p>
          <a:p xmlns:a="http://schemas.openxmlformats.org/drawingml/2006/main">
            <a:r>
              <a:t>| T-AUTH | Учетная запись и доступ к объектам | Два тестовых пользователя; матрица разрешенных/запрещенных операций; logout/refresh; фото/результаты/поля/annotations |</a:t>
            </a:r>
          </a:p>
          <a:p xmlns:a="http://schemas.openxmlformats.org/drawingml/2006/main">
            <a:r>
              <a:t>| T-OBS | Наблюдение, история, поля/сезоны | Создание/чтение/фильтр/пагинация; same-client-ID; смена сезона без изменения старых записей |</a:t>
            </a:r>
          </a:p>
          <a:p xmlns:a="http://schemas.openxmlformats.org/drawingml/2006/main">
            <a:r>
              <a:t>| T-UPL | Upload lifecycle | Валидные фото, неверное расширение/MIME, поврежденный файл, размер/pixels сверх лимита; незавершенная загрузка не ready |</a:t>
            </a:r>
          </a:p>
          <a:p xmlns:a="http://schemas.openxmlformats.org/drawingml/2006/main">
            <a:r>
              <a:t>| T-JOB | Durability/idempotency | Конкурентные одинаковые запросы, измененное тело с прежним ключом, kill/restart, lease expiry/fencing, retry exhaustion |</a:t>
            </a:r>
          </a:p>
          <a:p xmlns:a="http://schemas.openxmlformats.org/drawingml/2006/main">
            <a:r>
              <a:t>| T-RES | Состояния и контракт результата | Зафиксированные примеры всех outcomes и технических ошибок; generated TS compatibility |</a:t>
            </a:r>
          </a:p>
          <a:p xmlns:a="http://schemas.openxmlformats.org/drawingml/2006/main">
            <a:r>
              <a:t>| T-UI | Пользовательский end-to-end | Текущий mobile-путь: вход, выбор, фото, ожидание, результат, история; error/retake branches. При добавлении web — повторная приемка для web |</a:t>
            </a:r>
          </a:p>
          <a:p xmlns:a="http://schemas.openxmlformats.org/drawingml/2006/main">
            <a:r>
              <a:t>| T-OFF | Offline и повторная отправка | Сохранение файла/очереди, закрытие процесса, потерянный HTTP-ответ, повторный upload, смена аккаунта, storage full |</a:t>
            </a:r>
          </a:p>
          <a:p xmlns:a="http://schemas.openxmlformats.org/drawingml/2006/main">
            <a:r>
              <a:t>| T-ANN | Feedback и reference labels | Раздельные записи, права эксперта, `uncertain`, review provenance, export без подмены predictions |</a:t>
            </a:r>
          </a:p>
          <a:p xmlns:a="http://schemas.openxmlformats.org/drawingml/2006/main">
            <a:r>
              <a:t>| T-MOD | Модельный bundle и release | Hash/manifest/labels/runtime validation; queued-job pinning; rejected invalid release; rollback |</a:t>
            </a:r>
          </a:p>
          <a:p xmlns:a="http://schemas.openxmlformats.org/drawingml/2006/main">
            <a:r>
              <a:t>| T-DEL | Удаление и фоновые гонки | Запрет новых чтений/URL, отсутствие новых results после удаления, cleanup, истечение старых URLs |</a:t>
            </a:r>
          </a:p>
          <a:p xmlns:a="http://schemas.openxmlformats.org/drawingml/2006/main">
            <a:r>
              <a:t>| T-EVAL | Качество и baseline | Одна процедура, единый split, per-class/per-crop metrics, confusion, coverage и неподдержанный ввод |</a:t>
            </a:r>
          </a:p>
          <a:p xmlns:a="http://schemas.openxmlformats.org/drawingml/2006/main">
            <a:r>
              <a:t>| T-REPRO | Повторимость | Зафиксированные versions/manifests/configs; повторный запуск и export parity с объявленным допуском |</a:t>
            </a:r>
          </a:p>
          <a:p xmlns:a="http://schemas.openxmlformats.org/drawingml/2006/main">
            <a:r>
              <a:t>| T-PERF | Производительность | 100 изображений, два одновременно активных запроса, CPU/RAM/threads/version, cold/warm отдельно |</a:t>
            </a:r>
          </a:p>
          <a:p xmlns:a="http://schemas.openxmlformats.org/drawingml/2006/main">
            <a:r>
              <a:t>| T-UX | Формативная usability-проверка | Реальные 5 участников, сценарий/время/ошибки, изменения; никаких синтетических «отзывов пользователей» |</a:t>
            </a:r>
          </a:p>
          <a:p xmlns:a="http://schemas.openxmlformats.org/drawingml/2006/main">
            <a:r>
              <a:t>| T-CI | Сборка и границы пакетов | Run logs из чистого checkout, locked dependencies, contract drift, meaningful integration checks |</a:t>
            </a:r>
          </a:p>
          <a:p xmlns:a="http://schemas.openxmlformats.org/drawingml/2006/main">
            <a:r>
              <a:t/>
            </a:r>
          </a:p>
          <a:p xmlns:a="http://schemas.openxmlformats.org/drawingml/2006/main">
            <a:r>
              <a:t>## 7. Реалистичные сценарии</a:t>
            </a:r>
          </a:p>
          <a:p xmlns:a="http://schemas.openxmlformats.org/drawingml/2006/main">
            <a:r>
              <a:t/>
            </a:r>
          </a:p>
          <a:p xmlns:a="http://schemas.openxmlformats.org/drawingml/2006/main">
            <a:r>
              <a:t>### SC-01. Растениевод проверяет лист выбранной культуры в mobile</a:t>
            </a:r>
          </a:p>
          <a:p xmlns:a="http://schemas.openxmlformats.org/drawingml/2006/main">
            <a:r>
              <a:t/>
            </a:r>
          </a:p>
          <a:p xmlns:a="http://schemas.openxmlformats.org/drawingml/2006/main">
            <a:r>
              <a:t>**Предусловие:** пользователь вошел; культура есть в поддерживаемом каталоге. **Цель:** получить предварительную оценку конкретного фото и сохранить наблюдение.</a:t>
            </a:r>
          </a:p>
          <a:p xmlns:a="http://schemas.openxmlformats.org/drawingml/2006/main">
            <a:r>
              <a:t/>
            </a:r>
          </a:p>
          <a:p xmlns:a="http://schemas.openxmlformats.org/drawingml/2006/main">
            <a:r>
              <a:t>1. Пользователь выбирает культуру и делает/загружает одно фото листа.</a:t>
            </a:r>
          </a:p>
          <a:p xmlns:a="http://schemas.openxmlformats.org/drawingml/2006/main">
            <a:r>
              <a:t>2. UI сообщает требования к кадру и размеру. Farm/field association остается необязательной.</a:t>
            </a:r>
          </a:p>
          <a:p xmlns:a="http://schemas.openxmlformats.org/drawingml/2006/main">
            <a:r>
              <a:t>3. Фото проходит проверку, сервер создает assessment и показывает ожидание.</a:t>
            </a:r>
          </a:p>
          <a:p xmlns:a="http://schemas.openxmlformats.org/drawingml/2006/main">
            <a:r>
              <a:t>4. Пользователь получает поддержанный результат либо честную неопределенность, видит следующее действие.</a:t>
            </a:r>
          </a:p>
          <a:p xmlns:a="http://schemas.openxmlformats.org/drawingml/2006/main">
            <a:r>
              <a:t>5. Наблюдение доступно в собственной mobile-истории; указана модельная версия. Тот же контракт предусмотрен для будущего web-клиента.</a:t>
            </a:r>
          </a:p>
          <a:p xmlns:a="http://schemas.openxmlformats.org/drawingml/2006/main">
            <a:r>
              <a:t/>
            </a:r>
          </a:p>
          <a:p xmlns:a="http://schemas.openxmlformats.org/drawingml/2006/main">
            <a:r>
              <a:t>Связи: FR-01–07, FR-09; NFR-02/04/06/08. Этот сценарий не обещает лабораторное подтверждение или точность на всех растениях Казахстана.</a:t>
            </a:r>
          </a:p>
          <a:p xmlns:a="http://schemas.openxmlformats.org/drawingml/2006/main">
            <a:r>
              <a:t/>
            </a:r>
          </a:p>
          <a:p xmlns:a="http://schemas.openxmlformats.org/drawingml/2006/main">
            <a:r>
              <a:t>### SC-02. Фото непригодно либо культура не поддержана</a:t>
            </a:r>
          </a:p>
          <a:p xmlns:a="http://schemas.openxmlformats.org/drawingml/2006/main">
            <a:r>
              <a:t/>
            </a:r>
          </a:p>
          <a:p xmlns:a="http://schemas.openxmlformats.org/drawingml/2006/main">
            <a:r>
              <a:t>Если выбранная культура уже известна как неподдерживаемая, UI объясняет ограничение до отправки на анализ; прямой `POST /v1/assessments` получает HTTP `422 unsupported_crop`, без создания assessment/job. Известную каталоговую культуру с `can_assess: false` можно сохранить как observation/photo без оценки. Если файл невозможно декодировать или превышен лимит, upload отклоняется отдельной ошибкой входа; inference также не начинается.</a:t>
            </a:r>
          </a:p>
          <a:p xmlns:a="http://schemas.openxmlformats.org/drawingml/2006/main">
            <a:r>
              <a:t/>
            </a:r>
          </a:p>
          <a:p xmlns:a="http://schemas.openxmlformats.org/drawingml/2006/main">
            <a:r>
              <a:t>Если допустимый файл уже принят для поддерживаемой культуры, обработка может завершиться с outcome `retake_photo` при выявленном непригодном качестве, `unsupported_input` при обоснованно выявленном входе вне поддерживаемой области либо `inconclusive` при недостатке оснований для вывода. Это completed results существующего assessment; они не смешиваются с preflight HTTP 422. Пользователь может выбрать поддерживаемую культуру или сделать другое фото. Технический `failed` показывает иной текст и действие. Низкая уверенность не конвертируется в случайный диагноз. Один assessment использует одно основное фото; дополнительные контекстные снимки не объединяются моделью в v1.</a:t>
            </a:r>
          </a:p>
          <a:p xmlns:a="http://schemas.openxmlformats.org/drawingml/2006/main">
            <a:r>
              <a:t/>
            </a:r>
          </a:p>
          <a:p xmlns:a="http://schemas.openxmlformats.org/drawingml/2006/main">
            <a:r>
              <a:t>Связи: FR-01/04/07/08; T-CAT/T-UPL/T-RES. Не предполагается, что threshold автоматически обнаруживает все чужие виды растений: это отдельная проверяемая ML-гипотеза.</a:t>
            </a:r>
          </a:p>
          <a:p xmlns:a="http://schemas.openxmlformats.org/drawingml/2006/main">
            <a:r>
              <a:t/>
            </a:r>
          </a:p>
          <a:p xmlns:a="http://schemas.openxmlformats.org/drawingml/2006/main">
            <a:r>
              <a:t>### SC-03. На участке нет сети</a:t>
            </a:r>
          </a:p>
          <a:p xmlns:a="http://schemas.openxmlformats.org/drawingml/2006/main">
            <a:r>
              <a:t/>
            </a:r>
          </a:p>
          <a:p xmlns:a="http://schemas.openxmlformats.org/drawingml/2006/main">
            <a:r>
              <a:t>Пользователь делает фото в native-приложении и видит «сохранено на устройстве; ожидает отправки». После закрытия и открытия приложения draft остается. При связи он отправляется с тем же идентификатором. Если первый ответ сервера потерян, retry получает прежний assessment, не создает второй. Если пользователь сменил аккаунт, старый draft не отправляется от имени нового пользователя. До ответа сервера диагноз не показывается.</a:t>
            </a:r>
          </a:p>
          <a:p xmlns:a="http://schemas.openxmlformats.org/drawingml/2006/main">
            <a:r>
              <a:t/>
            </a:r>
          </a:p>
          <a:p xmlns:a="http://schemas.openxmlformats.org/drawingml/2006/main">
            <a:r>
              <a:t>Связи: FR-03/05/06/11; NFR-03/09; T-OFF/T-JOB/T-AUTH.</a:t>
            </a:r>
          </a:p>
          <a:p xmlns:a="http://schemas.openxmlformats.org/drawingml/2006/main">
            <a:r>
              <a:t/>
            </a:r>
          </a:p>
          <a:p xmlns:a="http://schemas.openxmlformats.org/drawingml/2006/main">
            <a:r>
              <a:t>### SC-04. Пользователь ведет историю по одному полю</a:t>
            </a:r>
          </a:p>
          <a:p xmlns:a="http://schemas.openxmlformats.org/drawingml/2006/main">
            <a:r>
              <a:t/>
            </a:r>
          </a:p>
          <a:p xmlns:a="http://schemas.openxmlformats.org/drawingml/2006/main">
            <a:r>
              <a:t>Пользователь создает поле и сезон с выбранной культурой, прикрепляет несколько собственных наблюдений разных дат, фильтрует историю и открывает исходные фото/результаты. Следующий сезон может иметь другую культуру без изменения прошлых записей. История показывает наблюдения; из нескольких фотографий не выводится неподтвержденная статистика зараженности всей фермы или прогноз распространения.</a:t>
            </a:r>
          </a:p>
          <a:p xmlns:a="http://schemas.openxmlformats.org/drawingml/2006/main">
            <a:r>
              <a:t/>
            </a:r>
          </a:p>
          <a:p xmlns:a="http://schemas.openxmlformats.org/drawingml/2006/main">
            <a:r>
              <a:t>Связи: FR-09/10; T-OBS/T-AUTH.</a:t>
            </a:r>
          </a:p>
          <a:p xmlns:a="http://schemas.openxmlformats.org/drawingml/2006/main">
            <a:r>
              <a:t/>
            </a:r>
          </a:p>
          <a:p xmlns:a="http://schemas.openxmlformats.org/drawingml/2006/main">
            <a:r>
              <a:t>### SC-05. Эксперт проверяет исследовательский образец</a:t>
            </a:r>
          </a:p>
          <a:p xmlns:a="http://schemas.openxmlformats.org/drawingml/2006/main">
            <a:r>
              <a:t/>
            </a:r>
          </a:p>
          <a:p xmlns:a="http://schemas.openxmlformats.org/drawingml/2006/main">
            <a:r>
              <a:t>Эксперт открывает разрешенный образец и доступные исходные метаданные. Он указывает культуру/состояние или `uncertain`, метод и уровень подтверждения. Результат модели остается неизменным. В исследовательский экспорт попадают метка, provenance и group IDs. Если оснований недостаточно, образец не объявляется надежным референсом только для увеличения размера обучающего набора.</a:t>
            </a:r>
          </a:p>
          <a:p xmlns:a="http://schemas.openxmlformats.org/drawingml/2006/main">
            <a:r>
              <a:t/>
            </a:r>
          </a:p>
          <a:p xmlns:a="http://schemas.openxmlformats.org/drawingml/2006/main">
            <a:r>
              <a:t>Связи: FR-12/13/16; NFR-01/04/06; T-ANN/T-EVAL. Для независимой разметки полезно скрывать прогноз модели до первичного экспертного решения; это предлагаемый прием против смещения, не утверждение о проведенной процедуре.</a:t>
            </a:r>
          </a:p>
          <a:p xmlns:a="http://schemas.openxmlformats.org/drawingml/2006/main">
            <a:r>
              <a:t/>
            </a:r>
          </a:p>
          <a:p xmlns:a="http://schemas.openxmlformats.org/drawingml/2006/main">
            <a:r>
              <a:t>### SC-06. ML-оператор выпускает новую модель</a:t>
            </a:r>
          </a:p>
          <a:p xmlns:a="http://schemas.openxmlformats.org/drawingml/2006/main">
            <a:r>
              <a:t/>
            </a:r>
          </a:p>
          <a:p xmlns:a="http://schemas.openxmlformats.org/drawingml/2006/main">
            <a:r>
              <a:t>Оператор выполняет фиксированную процедуру оценки baseline и кандидата, проверяет bundle и сохраняет отчет. После активации новые assessments получают новую версию; уже поставленные в очередь исполняются с прежней. При проблеме кандидат отклоняется либо активная версия возвращается к ранее проверенной. Старые результаты и их версии сохраняются.</a:t>
            </a:r>
          </a:p>
          <a:p xmlns:a="http://schemas.openxmlformats.org/drawingml/2006/main">
            <a:r>
              <a:t/>
            </a:r>
          </a:p>
          <a:p xmlns:a="http://schemas.openxmlformats.org/drawingml/2006/main">
            <a:r>
              <a:t>Связи: FR-14/16; NFR-01/03/06/10; T-MOD/T-EVAL/T-JOB. Отдельная большая админ-панель для этого не требуется.</a:t>
            </a:r>
          </a:p>
          <a:p xmlns:a="http://schemas.openxmlformats.org/drawingml/2006/main">
            <a:r>
              <a:t/>
            </a:r>
          </a:p>
          <a:p xmlns:a="http://schemas.openxmlformats.org/drawingml/2006/main">
            <a:r>
              <a:t>## 8. UML Use Case: актеры, варианты использования и связи</a:t>
            </a:r>
          </a:p>
          <a:p xmlns:a="http://schemas.openxmlformats.org/drawingml/2006/main">
            <a:r>
              <a:t/>
            </a:r>
          </a:p>
          <a:p xmlns:a="http://schemas.openxmlformats.org/drawingml/2006/main">
            <a:r>
              <a:t>Рекомендуемый editable source — PlantUML `.puml`, readable export — SVG. Use-case diagram показывает цели актеров и границу системы, а последовательность запросов — отдельный сценарий/sequence diagram при необходимости. Не использовать «DB» или «ONNX» как человеческих актеров.</a:t>
            </a:r>
          </a:p>
          <a:p xmlns:a="http://schemas.openxmlformats.org/drawingml/2006/main">
            <a:r>
              <a:t/>
            </a:r>
          </a:p>
          <a:p xmlns:a="http://schemas.openxmlformats.org/drawingml/2006/main">
            <a:r>
              <a:t>### Актеры</a:t>
            </a:r>
          </a:p>
          <a:p xmlns:a="http://schemas.openxmlformats.org/drawingml/2006/main">
            <a:r>
              <a:t/>
            </a:r>
          </a:p>
          <a:p xmlns:a="http://schemas.openxmlformats.org/drawingml/2006/main">
            <a:r>
              <a:t>- `Farmer`: растениевод / обычный пользователь.</a:t>
            </a:r>
          </a:p>
          <a:p xmlns:a="http://schemas.openxmlformats.org/drawingml/2006/main">
            <a:r>
              <a:t>- `Expert`: эксперт по растениям / уполномоченный разметчик.</a:t>
            </a:r>
          </a:p>
          <a:p xmlns:a="http://schemas.openxmlformats.org/drawingml/2006/main">
            <a:r>
              <a:t>- `Operator`: технический оператор / ML-исследователь.</a:t>
            </a:r>
          </a:p>
          <a:p xmlns:a="http://schemas.openxmlformats.org/drawingml/2006/main">
            <a:r>
              <a:t/>
            </a:r>
          </a:p>
          <a:p xmlns:a="http://schemas.openxmlformats.org/drawingml/2006/main">
            <a:r>
              <a:t>Все роли являются проектными. Не утверждать, что реальные внешние эксперты уже привлечены. `Expert` и `Operator` не наследуют друг друга автоматически.</a:t>
            </a:r>
          </a:p>
          <a:p xmlns:a="http://schemas.openxmlformats.org/drawingml/2006/main">
            <a:r>
              <a:t/>
            </a:r>
          </a:p>
          <a:p xmlns:a="http://schemas.openxmlformats.org/drawingml/2006/main">
            <a:r>
              <a:t>### Варианты использования</a:t>
            </a:r>
          </a:p>
          <a:p xmlns:a="http://schemas.openxmlformats.org/drawingml/2006/main">
            <a:r>
              <a:t/>
            </a:r>
          </a:p>
          <a:p xmlns:a="http://schemas.openxmlformats.org/drawingml/2006/main">
            <a:r>
              <a:t>| UC ID | Название | Актер | FR |</a:t>
            </a:r>
          </a:p>
          <a:p xmlns:a="http://schemas.openxmlformats.org/drawingml/2006/main">
            <a:r>
              <a:t>|---|---|---|---|</a:t>
            </a:r>
          </a:p>
          <a:p xmlns:a="http://schemas.openxmlformats.org/drawingml/2006/main">
            <a:r>
              <a:t>| UC-01 | Просмотреть поддерживаемые культуры | Farmer | FR-01 |</a:t>
            </a:r>
          </a:p>
          <a:p xmlns:a="http://schemas.openxmlformats.org/drawingml/2006/main">
            <a:r>
              <a:t>| UC-02 | Войти / завершить сессию | Farmer, Expert, Operator по выбранному способу доступа | FR-02 |</a:t>
            </a:r>
          </a:p>
          <a:p xmlns:a="http://schemas.openxmlformats.org/drawingml/2006/main">
            <a:r>
              <a:t>| UC-03 | Отправить фото на оценку | Farmer | FR-03/04/05 |</a:t>
            </a:r>
          </a:p>
          <a:p xmlns:a="http://schemas.openxmlformats.org/drawingml/2006/main">
            <a:r>
              <a:t>| UC-04 | Получить результат и следующее действие | Farmer | FR-06/07/08 |</a:t>
            </a:r>
          </a:p>
          <a:p xmlns:a="http://schemas.openxmlformats.org/drawingml/2006/main">
            <a:r>
              <a:t>| UC-05 | Просмотреть историю | Farmer | FR-09 |</a:t>
            </a:r>
          </a:p>
          <a:p xmlns:a="http://schemas.openxmlformats.org/drawingml/2006/main">
            <a:r>
              <a:t>| UC-06 | Связать наблюдение с полем/сезоном | Farmer | FR-10 |</a:t>
            </a:r>
          </a:p>
          <a:p xmlns:a="http://schemas.openxmlformats.org/drawingml/2006/main">
            <a:r>
              <a:t>| UC-07 | Сохранить offline-черновик | Farmer | FR-11 |</a:t>
            </a:r>
          </a:p>
          <a:p xmlns:a="http://schemas.openxmlformats.org/drawingml/2006/main">
            <a:r>
              <a:t>| UC-08 | Оставить отзыв о результате | Farmer | FR-12 |</a:t>
            </a:r>
          </a:p>
          <a:p xmlns:a="http://schemas.openxmlformats.org/drawingml/2006/main">
            <a:r>
              <a:t>| UC-09 | Аннотировать исследовательский образец | Expert | FR-13 |</a:t>
            </a:r>
          </a:p>
          <a:p xmlns:a="http://schemas.openxmlformats.org/drawingml/2006/main">
            <a:r>
              <a:t>| UC-10 | Проверить и активировать модель | Operator | FR-14 |</a:t>
            </a:r>
          </a:p>
          <a:p xmlns:a="http://schemas.openxmlformats.org/drawingml/2006/main">
            <a:r>
              <a:t>| UC-11 | Удалить собственное наблюдение | Farmer | FR-15 |</a:t>
            </a:r>
          </a:p>
          <a:p xmlns:a="http://schemas.openxmlformats.org/drawingml/2006/main">
            <a:r>
              <a:t>| UC-12 | Выполнить оценку и получить отчет | Operator | FR-16 |</a:t>
            </a:r>
          </a:p>
          <a:p xmlns:a="http://schemas.openxmlformats.org/drawingml/2006/main">
            <a:r>
              <a:t/>
            </a:r>
          </a:p>
          <a:p xmlns:a="http://schemas.openxmlformats.org/drawingml/2006/main">
            <a:r>
              <a:t>Внутренние включаемые use cases при необходимости: `Проверить доступ и пригодность фото` включается из UC-03; `Проверить bundle` включается из UC-10. Авторизация может быть указана как предусловие, без множества дублирующих стрелок `include` к login.</a:t>
            </a:r>
          </a:p>
          <a:p xmlns:a="http://schemas.openxmlformats.org/drawingml/2006/main">
            <a:r>
              <a:t/>
            </a:r>
          </a:p>
          <a:p xmlns:a="http://schemas.openxmlformats.org/drawingml/2006/main">
            <a:r>
              <a:t>Допустимая необязательная связь: UC-08 `&lt;&lt;extend&gt;&gt;` UC-04 при желании пользователя дать отзыв после результата. Для UC-07 не рисовать обязательное немедленное `include` к сетевой отправке: offline-сохранение по смыслу должно завершаться без сети. UC-06 можно показывать отдельной целью пользователя или optional extension к сохранению наблюдения, указав условие.</a:t>
            </a:r>
          </a:p>
          <a:p xmlns:a="http://schemas.openxmlformats.org/drawingml/2006/main">
            <a:r>
              <a:t/>
            </a:r>
          </a:p>
          <a:p xmlns:a="http://schemas.openxmlformats.org/drawingml/2006/main">
            <a:r>
              <a:t>## 9. Контекстная и компонентная схемы: узлы и корректные границы</a:t>
            </a:r>
          </a:p>
          <a:p xmlns:a="http://schemas.openxmlformats.org/drawingml/2006/main">
            <a:r>
              <a:t/>
            </a:r>
          </a:p>
          <a:p xmlns:a="http://schemas.openxmlformats.org/drawingml/2006/main">
            <a:r>
              <a:t>### Контекстная схема</a:t>
            </a:r>
          </a:p>
          <a:p xmlns:a="http://schemas.openxmlformats.org/drawingml/2006/main">
            <a:r>
              <a:t/>
            </a:r>
          </a:p>
          <a:p xmlns:a="http://schemas.openxmlformats.org/drawingml/2006/main">
            <a:r>
              <a:t>Центральная граница: **AgroVision — система наблюдений и предварительной оценки фото растений**.</a:t>
            </a:r>
          </a:p>
          <a:p xmlns:a="http://schemas.openxmlformats.org/drawingml/2006/main">
            <a:r>
              <a:t/>
            </a:r>
          </a:p>
          <a:p xmlns:a="http://schemas.openxmlformats.org/drawingml/2006/main">
            <a:r>
              <a:t>Внешние участники/источники:</a:t>
            </a:r>
          </a:p>
          <a:p xmlns:a="http://schemas.openxmlformats.org/drawingml/2006/main">
            <a:r>
              <a:t/>
            </a:r>
          </a:p>
          <a:p xmlns:a="http://schemas.openxmlformats.org/drawingml/2006/main">
            <a:r>
              <a:t>1. Растениевод — фото, выбранная культура, наблюдение/поле; обратно состояние, предварительная оценка, история.</a:t>
            </a:r>
          </a:p>
          <a:p xmlns:a="http://schemas.openxmlformats.org/drawingml/2006/main">
            <a:r>
              <a:t>2. Эксперт — разрешенные фото/метаданные; обратно reference annotations с уровнем подтверждения.</a:t>
            </a:r>
          </a:p>
          <a:p xmlns:a="http://schemas.openxmlformats.org/drawingml/2006/main">
            <a:r>
              <a:t>3. Технический оператор/ML-исследователь — конфигурации/релизы; обратно отчеты оценки/ошибки эксплуатации.</a:t>
            </a:r>
          </a:p>
          <a:p xmlns:a="http://schemas.openxmlformats.org/drawingml/2006/main">
            <a:r>
              <a:t>4. Проверенные датасеты и локальные исследовательские образцы — источник для offline training/evaluation. Это данные с provenance, не предположение об автоматическом live API.</a:t>
            </a:r>
          </a:p>
          <a:p xmlns:a="http://schemas.openxmlformats.org/drawingml/2006/main">
            <a:r>
              <a:t/>
            </a:r>
          </a:p>
          <a:p xmlns:a="http://schemas.openxmlformats.org/drawingml/2006/main">
            <a:r>
              <a:t>PostgreSQL/S3/ONNX — внутренние компоненты, поэтому подробно показывать их на компонентной схеме, а не выдавать за бизнес-пользователей. Внешний identity provider рисовать только если такой вариант действительно выбран. Погода/GIS/ветровые API не входят в текущий утверждаемый объем.</a:t>
            </a:r>
          </a:p>
          <a:p xmlns:a="http://schemas.openxmlformats.org/drawingml/2006/main">
            <a:r>
              <a:t/>
            </a:r>
          </a:p>
          <a:p xmlns:a="http://schemas.openxmlformats.org/drawingml/2006/main">
            <a:r>
              <a:t>### Компонентная схема</a:t>
            </a:r>
          </a:p>
          <a:p xmlns:a="http://schemas.openxmlformats.org/drawingml/2006/main">
            <a:r>
              <a:t/>
            </a:r>
          </a:p>
          <a:p xmlns:a="http://schemas.openxmlformats.org/drawingml/2006/main">
            <a:r>
              <a:t>Проектируемые узлы:</a:t>
            </a:r>
          </a:p>
          <a:p xmlns:a="http://schemas.openxmlformats.org/drawingml/2006/main">
            <a:r>
              <a:t/>
            </a:r>
          </a:p>
          <a:p xmlns:a="http://schemas.openxmlformats.org/drawingml/2006/main">
            <a:r>
              <a:t>- React web UI.</a:t>
            </a:r>
          </a:p>
          <a:p xmlns:a="http://schemas.openxmlformats.org/drawingml/2006/main">
            <a:r>
              <a:t>- React Native / Expo UI и local draft storage.</a:t>
            </a:r>
          </a:p>
          <a:p xmlns:a="http://schemas.openxmlformats.org/drawingml/2006/main">
            <a:r>
              <a:t>- Shared TypeScript API client/types — зависимость при сборке, не отдельный сетевой сервис.</a:t>
            </a:r>
          </a:p>
          <a:p xmlns:a="http://schemas.openxmlformats.org/drawingml/2006/main">
            <a:r>
              <a:t>- FastAPI HTTP process: identity, catalog, observations/farms, assessments, feedback.</a:t>
            </a:r>
          </a:p>
          <a:p xmlns:a="http://schemas.openxmlformats.org/drawingml/2006/main">
            <a:r>
              <a:t>- Inference worker process **из того же server codebase**, использующий assessment service.</a:t>
            </a:r>
          </a:p>
          <a:p xmlns:a="http://schemas.openxmlformats.org/drawingml/2006/main">
            <a:r>
              <a:t>- PostgreSQL: metadata, ownership, results, model-version metadata, `assessment_jobs`.</a:t>
            </a:r>
          </a:p>
          <a:p xmlns:a="http://schemas.openxmlformats.org/drawingml/2006/main">
            <a:r>
              <a:t>- Private S3-compatible object storage: ready photos и versioned model bundles.</a:t>
            </a:r>
          </a:p>
          <a:p xmlns:a="http://schemas.openxmlformats.org/drawingml/2006/main">
            <a:r>
              <a:t>- `ml/runtime` — локальная библиотека worker: preprocessing, ONNX session, postprocessing.</a:t>
            </a:r>
          </a:p>
          <a:p xmlns:a="http://schemas.openxmlformats.org/drawingml/2006/main">
            <a:r>
              <a:t>- Offline training/evaluation tooling: datasets/manifests, training, baseline, evaluation, bundle export.</a:t>
            </a:r>
          </a:p>
          <a:p xmlns:a="http://schemas.openxmlformats.org/drawingml/2006/main">
            <a:r>
              <a:t/>
            </a:r>
          </a:p>
          <a:p xmlns:a="http://schemas.openxmlformats.org/drawingml/2006/main">
            <a:r>
              <a:t>Связи и подписи:</a:t>
            </a:r>
          </a:p>
          <a:p xmlns:a="http://schemas.openxmlformats.org/drawingml/2006/main">
            <a:r>
              <a:t/>
            </a:r>
          </a:p>
          <a:p xmlns:a="http://schemas.openxmlformats.org/drawingml/2006/main">
            <a:r>
              <a:t>| Откуда → куда | Смысл |</a:t>
            </a:r>
          </a:p>
          <a:p xmlns:a="http://schemas.openxmlformats.org/drawingml/2006/main">
            <a:r>
              <a:t>|---|---|</a:t>
            </a:r>
          </a:p>
          <a:p xmlns:a="http://schemas.openxmlformats.org/drawingml/2006/main">
            <a:r>
              <a:t>| Web / Mobile → FastAPI | HTTPS REST `/v1`, auth, uploads, polling, history |</a:t>
            </a:r>
          </a:p>
          <a:p xmlns:a="http://schemas.openxmlformats.org/drawingml/2006/main">
            <a:r>
              <a:t>| API client/types → Web / Mobile | Build-time generated contract/code dependency; пунктирная связь |</a:t>
            </a:r>
          </a:p>
          <a:p xmlns:a="http://schemas.openxmlformats.org/drawingml/2006/main">
            <a:r>
              <a:t>| FastAPI → PostgreSQL | Authorized reads и transaction: assessment + job |</a:t>
            </a:r>
          </a:p>
          <a:p xmlns:a="http://schemas.openxmlformats.org/drawingml/2006/main">
            <a:r>
              <a:t>| FastAPI → Object storage | Private upload / authorized download URL |</a:t>
            </a:r>
          </a:p>
          <a:p xmlns:a="http://schemas.openxmlformats.org/drawingml/2006/main">
            <a:r>
              <a:t>| Worker → PostgreSQL | Claim/lease/retry/fenced result commit |</a:t>
            </a:r>
          </a:p>
          <a:p xmlns:a="http://schemas.openxmlformats.org/drawingml/2006/main">
            <a:r>
              <a:t>| Worker → Object storage | Load ready photo and pinned model bundle |</a:t>
            </a:r>
          </a:p>
          <a:p xmlns:a="http://schemas.openxmlformats.org/drawingml/2006/main">
            <a:r>
              <a:t>| Worker → `ml/runtime` | Local library call, не HTTP |</a:t>
            </a:r>
          </a:p>
          <a:p xmlns:a="http://schemas.openxmlformats.org/drawingml/2006/main">
            <a:r>
              <a:t>| Training/evaluation → bundle storage | Controlled export of immutable artifact + report |</a:t>
            </a:r>
          </a:p>
          <a:p xmlns:a="http://schemas.openxmlformats.org/drawingml/2006/main">
            <a:r>
              <a:t>| Model metadata ↔ PostgreSQL | Active-version selection and exact pinned IDs; это таблицы/модуль, не новый registry-microservice |</a:t>
            </a:r>
          </a:p>
          <a:p xmlns:a="http://schemas.openxmlformats.org/drawingml/2006/main">
            <a:r>
              <a:t/>
            </a:r>
          </a:p>
          <a:p xmlns:a="http://schemas.openxmlformats.org/drawingml/2006/main">
            <a:r>
              <a:t>Для компактного рисунка сгруппировать API+worker как одно backend application с двумя процессами; внутри сохранить различимость. Training/evaluation показать отдельно от serving. Сеть, локальный вызов и перенос артефактов не обозначать одной нерасшифрованной стрелкой.</a:t>
            </a:r>
          </a:p>
          <a:p xmlns:a="http://schemas.openxmlformats.org/drawingml/2006/main">
            <a:r>
              <a:t/>
            </a:r>
          </a:p>
          <a:p xmlns:a="http://schemas.openxmlformats.org/drawingml/2006/main">
            <a:r>
              <a:t>### Минимальная трассировка схем</a:t>
            </a:r>
          </a:p>
          <a:p xmlns:a="http://schemas.openxmlformats.org/drawingml/2006/main">
            <a:r>
              <a:t/>
            </a:r>
          </a:p>
          <a:p xmlns:a="http://schemas.openxmlformats.org/drawingml/2006/main">
            <a:r>
              <a:t>`UC-03 → FR-03/04/05 → UI + observations + storage + assessments → T-UPL/T-JOB`.</a:t>
            </a:r>
          </a:p>
          <a:p xmlns:a="http://schemas.openxmlformats.org/drawingml/2006/main">
            <a:r>
              <a:t/>
            </a:r>
          </a:p>
          <a:p xmlns:a="http://schemas.openxmlformats.org/drawingml/2006/main">
            <a:r>
              <a:t>`UC-04 → FR-06/07 → API + worker + ml/runtime + results → T-JOB/T-RES`.</a:t>
            </a:r>
          </a:p>
          <a:p xmlns:a="http://schemas.openxmlformats.org/drawingml/2006/main">
            <a:r>
              <a:t/>
            </a:r>
          </a:p>
          <a:p xmlns:a="http://schemas.openxmlformats.org/drawingml/2006/main">
            <a:r>
              <a:t>`UC-09 → FR-13 → annotation data → T-ANN`.</a:t>
            </a:r>
          </a:p>
          <a:p xmlns:a="http://schemas.openxmlformats.org/drawingml/2006/main">
            <a:r>
              <a:t/>
            </a:r>
          </a:p>
          <a:p xmlns:a="http://schemas.openxmlformats.org/drawingml/2006/main">
            <a:r>
              <a:t>`UC-10/12 → FR-14/16 → offline ML + bundle + model metadata → T-MOD/T-EVAL`.</a:t>
            </a:r>
          </a:p>
          <a:p xmlns:a="http://schemas.openxmlformats.org/drawingml/2006/main">
            <a:r>
              <a:t/>
            </a:r>
          </a:p>
          <a:p xmlns:a="http://schemas.openxmlformats.org/drawingml/2006/main">
            <a:r>
              <a:t>## 10. Что нельзя честно «закрыть» только созданием файла</a:t>
            </a:r>
          </a:p>
          <a:p xmlns:a="http://schemas.openxmlformats.org/drawingml/2006/main">
            <a:r>
              <a:t/>
            </a:r>
          </a:p>
          <a:p xmlns:a="http://schemas.openxmlformats.org/drawingml/2006/main">
            <a:r>
              <a:t>| Реальное действие / свидетельство | Что можно подготовить | Что считается действительным завершением |</a:t>
            </a:r>
          </a:p>
          <a:p xmlns:a="http://schemas.openxmlformats.org/drawingml/2006/main">
            <a:r>
              <a:t>|---|---|---|</a:t>
            </a:r>
          </a:p>
          <a:p xmlns:a="http://schemas.openxmlformats.org/drawingml/2006/main">
            <a:r>
              <a:t>| Обсуждения 3–5 представителей пользователей | Вопросы, сценарии, журнал, таблица выводов | Реальные состоявшиеся обсуждения/заметки и изменения требований либо содержательное соглашение с реальным заказчиком |</a:t>
            </a:r>
          </a:p>
          <a:p xmlns:a="http://schemas.openxmlformats.org/drawingml/2006/main">
            <a:r>
              <a:t>| Supervisor feedback | Пакет на review, вопросы, decision log | Полученные содержательные комментарии руководителя и решения/изменения по ним |</a:t>
            </a:r>
          </a:p>
          <a:p xmlns:a="http://schemas.openxmlformats.org/drawingml/2006/main">
            <a:r>
              <a:t>| YouTrack | Подготовленный импорт, описания задач, роли/приоритеты/приемка/сроки | Действительный проект, созданные/назначенные/приоритизированные задачи и работающие ссылки |</a:t>
            </a:r>
          </a:p>
          <a:p xmlns:a="http://schemas.openxmlformats.org/drawingml/2006/main">
            <a:r>
              <a:t>| Индивидуальные вклады и review | Правила и предлагаемая последовательность маленьких задач | Реальные commits/PR/MR обоих авторов с взаимным review, без фиктивных дат/авторства |</a:t>
            </a:r>
          </a:p>
          <a:p xmlns:a="http://schemas.openxmlformats.org/drawingml/2006/main">
            <a:r>
              <a:t>| Git submission | README/структура/перечень артефактов | Действительный репозиторий, права для проверки, tag конкретной сдачи, известные ограничения/незавершенные задачи |</a:t>
            </a:r>
          </a:p>
          <a:p xmlns:a="http://schemas.openxmlformats.org/drawingml/2006/main">
            <a:r>
              <a:t>| Локальная точность и performance | Протокол, fixtures, config, шаблон отчета | Сохраненный реальный запуск с данными, split, model version, оборудованием и измерениями |</a:t>
            </a:r>
          </a:p>
          <a:p xmlns:a="http://schemas.openxmlformats.org/drawingml/2006/main">
            <a:r>
              <a:t>| Работающий прототип | Макеты, интерактивные переходы | Если только макет — так и подписать; утверждение о runtime требует фактического запуска |</a:t>
            </a:r>
          </a:p>
          <a:p xmlns:a="http://schemas.openxmlformats.org/drawingml/2006/main">
            <a:r>
              <a:t/>
            </a:r>
          </a:p>
          <a:p xmlns:a="http://schemas.openxmlformats.org/drawingml/2006/main">
            <a:r>
              <a:t>Само наличие этих пробелов не мешает завершить все доступные авторские материалы сейчас. Но итоговая карта сдачи должна показывать незавершенные внешние действия отдельно, без зеленых статусов по одному лишь текстовому шаблону. Microsoft Forms не заполняется: это исключено пользователем и не относится к данному авторскому заданию.</a:t>
            </a:r>
          </a:p>
          <a:p xmlns:a="http://schemas.openxmlformats.org/drawingml/2006/main">
            <a:r>
              <a:t/>
            </a:r>
          </a:p>
          <a:p xmlns:a="http://schemas.openxmlformats.org/drawingml/2006/main">
            <a:r>
              <a:t>## Связанные материалы пакета</a:t>
            </a:r>
          </a:p>
          <a:p xmlns:a="http://schemas.openxmlformats.org/drawingml/2006/main">
            <a:r>
              <a:t/>
            </a:r>
          </a:p>
          <a:p xmlns:a="http://schemas.openxmlformats.org/drawingml/2006/main">
            <a:r>
              <a:t>- [Архитектура](../architecture/SYSTEM_DESIGN.md).</a:t>
            </a:r>
          </a:p>
          <a:p xmlns:a="http://schemas.openxmlformats.org/drawingml/2006/main">
            <a:r>
              <a:t>- [Технические решения и альтернативы](../architecture/DECISIONS.md).</a:t>
            </a:r>
          </a:p>
          <a:p xmlns:a="http://schemas.openxmlformats.org/drawingml/2006/main">
            <a:r>
              <a:t>- [API-контракт](../contracts/API_CONTRACT.md) и [синтетические примеры](../contracts/examples.json).</a:t>
            </a:r>
          </a:p>
          <a:p xmlns:a="http://schemas.openxmlformats.org/drawingml/2006/main">
            <a:r>
              <a:t>- Редактируемые схемы: [контекст](../architecture/diagrams/context.mmd), [компоненты](../architecture/diagrams/components.mmd), [UML Use Case](../architecture/diagrams/use_cases.puml).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Критерий 7. Контекстная схема. Проектируемая система, не развёрнутая реализация.</a:t>
            </a:r>
          </a:p>
          <a:p xmlns:a="http://schemas.openxmlformats.org/drawingml/2006/main">
            <a:r>
              <a:t>Полный PNG и editable source: architecture/diagrams/context.png и context.mmd.</a:t>
            </a:r>
          </a:p>
          <a:p xmlns:a="http://schemas.openxmlformats.org/drawingml/2006/main">
            <a:r>
              <a:t>Схема показывает 5 узлов и 7 направленных связей. Экспертные участники и локальные данные пока не подтверждены. Внутренние компоненты представлены следующим слайдом.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Критерий 7. Полная компонентная схема: architecture/diagrams/components.png. Editable source: components.mmd. На слайде убраны только верхний повторный заголовок и нижняя поясняющая подпись PNG, смысловые компоненты сохранены.</a:t>
            </a:r>
          </a:p>
          <a:p xmlns:a="http://schemas.openxmlformats.org/drawingml/2006/main">
            <a:r>
              <a:t>Один codebase, два процесса. API и worker используют PostgreSQL и private S3 storage. ml/runtime вызывается локально из worker. Версия bundle фиксируется при enqueue. At-least-once execution и один committed result, а не обещание exactly-once вычисления. Shared TypeScript содержит API client/types. React web указан как будущая фаза. Пунктир означает build-time зависимость, будущий web или перенос артефакта.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Критерий 7. Верхний фрагмент единой диаграммы architecture/diagrams/use_cases.png. Источник use_cases.puml. Следующий слайд продолжает ту же схему с перекрытием.</a:t>
            </a:r>
          </a:p>
          <a:p xmlns:a="http://schemas.openxmlformats.org/drawingml/2006/main">
            <a:r>
              <a:t>Актёры: Farmer/растениевод, Expert, Operator. UC-01 поддерживаемые культуры. UC-02 сессия. UC-03 отправить фото. UC-04 получить результат. UC-05 история. UC-06 поле/сезон. UC-09 reference annotation. Отправка фото включает проверку доступа и пригодности. Include/extend — смысловые UML-связи, не порядок HTTP-запросов.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Критерий 7. Нижний фрагмент единой диаграммы architecture/diagrams/use_cases.png. Верхний фрагмент на предыдущем слайде. Перекрытие сохраняет контекст актёров и связей.</a:t>
            </a:r>
          </a:p>
          <a:p xmlns:a="http://schemas.openxmlformats.org/drawingml/2006/main">
            <a:r>
              <a:t>UC-05 история. UC-06 поле/сезон. UC-07 offline draft. UC-08 отзыв. UC-09 reference annotation. UC-10 проверить и активировать модель. UC-11 удалить собственное наблюдение. UC-12 выполнить оценку и получить отчёт. Activation включает проверку model bundle. Feedback расширяет получение результата по желанию. Экспертные и операторские роли проектные. Полный source содержит 12 основных use cases и 2 включаемые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Мобильный прототип AgroVision</a:t>
            </a:r>
          </a:p>
          <a:p xmlns:a="http://schemas.openxmlformats.org/drawingml/2006/main">
            <a:r>
              <a:t/>
            </a:r>
          </a:p>
          <a:p xmlns:a="http://schemas.openxmlformats.org/drawingml/2006/main">
            <a:r>
              <a:t>## Открыть и показать</a:t>
            </a:r>
          </a:p>
          <a:p xmlns:a="http://schemas.openxmlformats.org/drawingml/2006/main">
            <a:r>
              <a:t/>
            </a:r>
          </a:p>
          <a:p xmlns:a="http://schemas.openxmlformats.org/drawingml/2006/main">
            <a:r>
              <a:t>- **Редактируемый Figma Design:** https://www.figma.com/design/07cVYgjO4tZw4IaR7kUxEz</a:t>
            </a:r>
          </a:p>
          <a:p xmlns:a="http://schemas.openxmlformats.org/drawingml/2006/main">
            <a:r>
              <a:t>- **Начальный экран:** https://www.figma.com/design/07cVYgjO4tZw4IaR7kUxEz?node-id=4-49</a:t>
            </a:r>
          </a:p>
          <a:p xmlns:a="http://schemas.openxmlformats.org/drawingml/2006/main">
            <a:r>
              <a:t>- **Интерактивный основной сценарий:** https://www.figma.com/proto/07cVYgjO4tZw4IaR7kUxEz?node-id=4-49&amp;starting-point-node-id=4%3A49</a:t>
            </a:r>
          </a:p>
          <a:p xmlns:a="http://schemas.openxmlformats.org/drawingml/2006/main">
            <a:r>
              <a:t>- **Все основные экраны:** `MOBILE_SCREENS.png`.</a:t>
            </a:r>
          </a:p>
          <a:p xmlns:a="http://schemas.openxmlformats.org/drawingml/2006/main">
            <a:r>
              <a:t>- **Ветки картофеля и томата:** `MOBILE_CROP_BRANCHES.png`.</a:t>
            </a:r>
          </a:p>
          <a:p xmlns:a="http://schemas.openxmlformats.org/drawingml/2006/main">
            <a:r>
              <a:t>- **Структурный отчет Figma:** [FIGMA_QA.json](FIGMA_QA.json).</a:t>
            </a:r>
          </a:p>
          <a:p xmlns:a="http://schemas.openxmlformats.org/drawingml/2006/main">
            <a:r>
              <a:t/>
            </a:r>
          </a:p>
          <a:p xmlns:a="http://schemas.openxmlformats.org/drawingml/2006/main">
            <a:r>
              <a:t>Создано **22 мобильных фрейма 390×844**: 12 основных экранов, 8 вариантов четырех шагов для картофеля и томата и 2 дополнительных состояния. Веб-макеты не создавались. Основной файл содержит редактируемые тексты, векторы, auto-layout, reusable components, design variables и переходы. Это дизайн-прототип, не работающее приложение и не отчет об обучении модели.</a:t>
            </a:r>
          </a:p>
          <a:p xmlns:a="http://schemas.openxmlformats.org/drawingml/2006/main">
            <a:r>
              <a:t/>
            </a:r>
          </a:p>
          <a:p xmlns:a="http://schemas.openxmlformats.org/drawingml/2006/main">
            <a:r>
              <a:t>## Основные экраны и требования</a:t>
            </a:r>
          </a:p>
          <a:p xmlns:a="http://schemas.openxmlformats.org/drawingml/2006/main">
            <a:r>
              <a:t/>
            </a:r>
          </a:p>
          <a:p xmlns:a="http://schemas.openxmlformats.org/drawingml/2006/main">
            <a:r>
              <a:t>| Экран | Назначение | Сценарий и приемка будущей реализации |</a:t>
            </a:r>
          </a:p>
          <a:p xmlns:a="http://schemas.openxmlformats.org/drawingml/2006/main">
            <a:r>
              <a:t>|---|---|---|</a:t>
            </a:r>
          </a:p>
          <a:p xmlns:a="http://schemas.openxmlformats.org/drawingml/2006/main">
            <a:r>
              <a:t>| 01 Главная | Начать наблюдение и вернуться к последним случаям | Понятное основное действие; история не смешивается с очередью на устройстве |</a:t>
            </a:r>
          </a:p>
          <a:p xmlns:a="http://schemas.openxmlformats.org/drawingml/2006/main">
            <a:r>
              <a:t>| 02 Выбор культуры | Уточнить культуру и увидеть границы поддержки | Реальный клиент использует supported manifest, а не захардкоженный список из макета |</a:t>
            </a:r>
          </a:p>
          <a:p xmlns:a="http://schemas.openxmlformats.org/drawingml/2006/main">
            <a:r>
              <a:t>| 03 Съемка | Один лист крупным планом | Подсказки по фокусу, свету и границам листа; камера/галерея |</a:t>
            </a:r>
          </a:p>
          <a:p xmlns:a="http://schemas.openxmlformats.org/drawingml/2006/main">
            <a:r>
              <a:t>| 04 Проверка фото | Предпросмотр перед отправкой | Можно переснять и исправить культуру; привязка к участку необязательна |</a:t>
            </a:r>
          </a:p>
          <a:p xmlns:a="http://schemas.openxmlformats.org/drawingml/2006/main">
            <a:r>
              <a:t>| 05 Анализ | Показать обработку | В реализации различаются upload и queued/running; можно перейти в историю |</a:t>
            </a:r>
          </a:p>
          <a:p xmlns:a="http://schemas.openxmlformats.org/drawingml/2006/main">
            <a:r>
              <a:t>| 06 Гипотеза | Показать вероятное состояние и следующий шаг | Outcome `predicted`; без обещания доказанного возбудителя и без фиктивного процента точности |</a:t>
            </a:r>
          </a:p>
          <a:p xmlns:a="http://schemas.openxmlformats.org/drawingml/2006/main">
            <a:r>
              <a:t>| 07 Недостаточно данных | Честно сообщить неопределенность | Outcome `inconclusive`; объяснить следующее действие |</a:t>
            </a:r>
          </a:p>
          <a:p xmlns:a="http://schemas.openxmlformats.org/drawingml/2006/main">
            <a:r>
              <a:t>| 08 Пересъемка | Исправить недостаточное качество | Outcome `retake_photo` или локальная проверка; не технический crash |</a:t>
            </a:r>
          </a:p>
          <a:p xmlns:a="http://schemas.openxmlformats.org/drawingml/2006/main">
            <a:r>
              <a:t>| 09 Без связи | Сохраненные на устройстве фотографии | Offline capture/upload queue, не offline inference; отправка после восстановления связи |</a:t>
            </a:r>
          </a:p>
          <a:p xmlns:a="http://schemas.openxmlformats.org/drawingml/2006/main">
            <a:r>
              <a:t>| 10 История | Найти наблюдение и его результат | Фото, культура, дата/статус; только данные владельца |</a:t>
            </a:r>
          </a:p>
          <a:p xmlns:a="http://schemas.openxmlformats.org/drawingml/2006/main">
            <a:r>
              <a:t>| 11 Нет поддержки культуры | Объяснить недоступность анализа до запуска | Preflight `unsupported_crop` / HTTP 422 без job; наблюдение можно сохранить без диагностики |</a:t>
            </a:r>
          </a:p>
          <a:p xmlns:a="http://schemas.openxmlformats.org/drawingml/2006/main">
            <a:r>
              <a:t>| 12 Обратная связь | Сохранить комментарий | Feedback не заменяет model prediction и не становится подтвержденной annotation |</a:t>
            </a:r>
          </a:p>
          <a:p xmlns:a="http://schemas.openxmlformats.org/drawingml/2006/main">
            <a:r>
              <a:t>| 21 Техническая ошибка | Объяснить сбой обработки | Processing status `failed`; повторить анализ или открыть историю; это не неопределенный диагноз |</a:t>
            </a:r>
          </a:p>
          <a:p xmlns:a="http://schemas.openxmlformats.org/drawingml/2006/main">
            <a:r>
              <a:t>| 22 Неподдержанное изображение | Объяснить ограничение типа снимка после обработки | Processing `completed`, outcome `unsupported_input`; пример неподдержанного органа, отдельный от preflight отказа культуры |</a:t>
            </a:r>
          </a:p>
          <a:p xmlns:a="http://schemas.openxmlformats.org/drawingml/2006/main">
            <a:r>
              <a:t/>
            </a:r>
          </a:p>
          <a:p xmlns:a="http://schemas.openxmlformats.org/drawingml/2006/main">
            <a:r>
              <a:t>Точные ID FR/NFR, API-поля и коды ошибок берутся из `planning/REQUIREMENTS_AND_TRACEABILITY.md` и `contracts/API_CONTRACT.md`. Макет не вводит отдельную бизнес-логику.</a:t>
            </a:r>
          </a:p>
          <a:p xmlns:a="http://schemas.openxmlformats.org/drawingml/2006/main">
            <a:r>
              <a:t/>
            </a:r>
          </a:p>
          <a:p xmlns:a="http://schemas.openxmlformats.org/drawingml/2006/main">
            <a:r>
              <a:t>## Проверяемые переходы</a:t>
            </a:r>
          </a:p>
          <a:p xmlns:a="http://schemas.openxmlformats.org/drawingml/2006/main">
            <a:r>
              <a:t/>
            </a:r>
          </a:p>
          <a:p xmlns:a="http://schemas.openxmlformats.org/drawingml/2006/main">
            <a:r>
              <a:t>Главная → выбор культуры → съемка → preview → анализ → результат → история/новое наблюдение/feedback. Для каждой из трех культур создана собственная ветка съемки, preview, анализа и результата. После демонстрационного ожидания экран анализа переходит к условной гипотезе. Это прием прототипирования, а не измеренное время inference.</a:t>
            </a:r>
          </a:p>
          <a:p xmlns:a="http://schemas.openxmlformats.org/drawingml/2006/main">
            <a:r>
              <a:t/>
            </a:r>
          </a:p>
          <a:p xmlns:a="http://schemas.openxmlformats.org/drawingml/2006/main">
            <a:r>
              <a:t>Из истории можно открыть пример неуверенного ответа, пересъемки и offline-очереди. Экран неподдержанной культуры показывает альтернативное действие. Дополнительные стартовые flows показывают техническую ошибку и неподдержанное изображение. Back возвращает в выбор культуры. Демонстрационная история статична: она не добавляет реальные записи после каждого клика. Поля заметки, выбора причины и привязки участка показывают будущую форму; ввод/хранение данных пока не реализованы. Переход RU/ҚАЗ является обозначением будущей локализации; казахская версия текстов и ее агрономическая проверка остаются задачей реализации.</a:t>
            </a:r>
          </a:p>
          <a:p xmlns:a="http://schemas.openxmlformats.org/drawingml/2006/main">
            <a:r>
              <a:t/>
            </a:r>
          </a:p>
          <a:p xmlns:a="http://schemas.openxmlformats.org/drawingml/2006/main">
            <a:r>
              <a:t>Общие экраны `inconclusive` и пересъемки возвращают действие нового снимка к выбору культуры; они не подставляют пшеницу автоматически. Действие «Попробовать отправить» в статическом offline-примере ведет к анализу **первого картофельного фото очереди**. Это демонстрационная навигация; реальное приложение должно сохранять культуру каждого draft и выполнять очередь по ее данным.</a:t>
            </a:r>
          </a:p>
          <a:p xmlns:a="http://schemas.openxmlformats.org/drawingml/2006/main">
            <a:r>
              <a:t/>
            </a:r>
          </a:p>
          <a:p xmlns:a="http://schemas.openxmlformats.org/drawingml/2006/main">
            <a:r>
              <a:t>**«Другая культура» и сохранение без анализа.** В реализации серверное наблюдение разрешено сохранить для **известной записи каталога** с `can_assess: false`; это запись без assessment, а не поддержка диагностики. Если вид растения еще не сопоставлен с известным `crop_id`, фото и заметку можно оставить только локальным draft до уточнения. Клиент не создает произвольный стабильный ID из свободного текста: неизвестный `crop_id` сервер отклоняет как `invalid_crop`. Ни выбор этого пункта, ни сохранение draft не запускают inference и не превращают неизвестную культуру в обучаемый класс.</a:t>
            </a:r>
          </a:p>
          <a:p xmlns:a="http://schemas.openxmlformats.org/drawingml/2006/main">
            <a:r>
              <a:t/>
            </a:r>
          </a:p>
          <a:p xmlns:a="http://schemas.openxmlformats.org/drawingml/2006/main">
            <a:r>
              <a:t>## Данные макета</a:t>
            </a:r>
          </a:p>
          <a:p xmlns:a="http://schemas.openxmlformats.org/drawingml/2006/main">
            <a:r>
              <a:t/>
            </a:r>
          </a:p>
          <a:p xmlns:a="http://schemas.openxmlformats.org/drawingml/2006/main">
            <a:r>
              <a:t>Все названия результатов и записи истории — **условные примеры**. Пшеница: `wheat.stripe_rust` — «Возможная жёлтая ржавчина». Картофель: `potato.early_blight` — «Возможный альтернариоз». Томат: `tomato.early_blight` — «Возможный альтернариоз». Это соответствие синтетическим примерам контракта, а не утвержденный каталог обученной модели.</a:t>
            </a:r>
          </a:p>
          <a:p xmlns:a="http://schemas.openxmlformats.org/drawingml/2006/main">
            <a:r>
              <a:t/>
            </a:r>
          </a:p>
          <a:p xmlns:a="http://schemas.openxmlformats.org/drawingml/2006/main">
            <a:r>
              <a:t>Иллюстрация листа нарисована вектором и явно подписана. Она не является клиническим/фитопатологическим образцом, фотографией конкретной культуры, датасетом или Grad-CAM. Одинаковое изображение используется для демонстрации компоновки. На этапе реализации оно заменяется пользовательским фото; результат поступает только из реального проверенного bundle.</a:t>
            </a:r>
          </a:p>
          <a:p xmlns:a="http://schemas.openxmlformats.org/drawingml/2006/main">
            <a:r>
              <a:t/>
            </a:r>
          </a:p>
          <a:p xmlns:a="http://schemas.openxmlformats.org/drawingml/2006/main">
            <a:r>
              <a:t>## Визуальная основа</a:t>
            </a:r>
          </a:p>
          <a:p xmlns:a="http://schemas.openxmlformats.org/drawingml/2006/main">
            <a:r>
              <a:t/>
            </a:r>
          </a:p>
          <a:p xmlns:a="http://schemas.openxmlformats.org/drawingml/2006/main">
            <a:r>
              <a:t>Светлый фон и темно-зеленые основные действия, отдельные предупреждения песочного оттенка; состояние сообщается текстом вместе с цветом. Шрифт Roboto. Основные действия имеют высоту 56 px в макете. Повторяющиеся navigation, actions, status badges, rows и icons представлены экземплярами компонентов; цвета и ключевые размеры вынесены в переменные.</a:t>
            </a:r>
          </a:p>
          <a:p xmlns:a="http://schemas.openxmlformats.org/drawingml/2006/main">
            <a:r>
              <a:t/>
            </a:r>
          </a:p>
          <a:p xmlns:a="http://schemas.openxmlformats.org/drawingml/2006/main">
            <a:r>
              <a:t>Это отправная точка для проверки с пользователями. Контраст, размер системного текста, screen reader, работа в ярком свете и реальные Android touch targets проверяются на устройстве. Размер Figma-фрейма не заменяет адаптивную верстку и accessibility-проверку.</a:t>
            </a:r>
          </a:p>
          <a:p xmlns:a="http://schemas.openxmlformats.org/drawingml/2006/main">
            <a:r>
              <a:t/>
            </a:r>
          </a:p>
          <a:p xmlns:a="http://schemas.openxmlformats.org/drawingml/2006/main">
            <a:r>
              <a:t>## Как проверить с пользователями</a:t>
            </a:r>
          </a:p>
          <a:p xmlns:a="http://schemas.openxmlformats.org/drawingml/2006/main">
            <a:r>
              <a:t/>
            </a:r>
          </a:p>
          <a:p xmlns:a="http://schemas.openxmlformats.org/drawingml/2006/main">
            <a:r>
              <a:t>Попросить человека без подсказки: создать наблюдение; объяснить смысл предварительного вывода; понять, почему ответа нет; найти фото, которое еще не отправлено. Записать места остановки, неверные ожидания и предложенные действия. Не спрашивать только «нравится ли дизайн». Результаты внести в шаблон интервью и связать с изменением требования/экрана.</a:t>
            </a:r>
          </a:p>
          <a:p xmlns:a="http://schemas.openxmlformats.org/drawingml/2006/main">
            <a:r>
              <a:t/>
            </a:r>
          </a:p>
          <a:p xmlns:a="http://schemas.openxmlformats.org/drawingml/2006/main">
            <a:r>
              <a:t>## Проверка артефакта</a:t>
            </a:r>
          </a:p>
          <a:p xmlns:a="http://schemas.openxmlformats.org/drawingml/2006/main">
            <a:r>
              <a:t/>
            </a:r>
          </a:p>
          <a:p xmlns:a="http://schemas.openxmlformats.org/drawingml/2006/main">
            <a:r>
              <a:t>Проведена структурная проверка сохраненных связей Figma; результат — в [FIGMA_QA.json](FIGMA_QA.json). Зафиксированы **22 экрана, 115 переходов `NAVIGATE`, 7 отдельно учитываемых взаимодействий компонентов `CHANGE_TO` и 5 различных корректных стартовых точек**. Для экранных переходов не обнаружены отсутствующие цели или переходы на тот же экран. JSON разобран, количество узлов/связей и соответствие целей существующим screen IDs проверены; component variants не смешиваются с мобильными экранами.</a:t>
            </a:r>
          </a:p>
          <a:p xmlns:a="http://schemas.openxmlformats.org/drawingml/2006/main">
            <a:r>
              <a:t/>
            </a:r>
          </a:p>
          <a:p xmlns:a="http://schemas.openxmlformats.org/drawingml/2006/main">
            <a:r>
              <a:t>После финальных изменений просмотрены экспорты основных и вариантных экранов, включая `failed` и completed `unsupported_input`; видимого обрезания текста не обнаружено. Исправлены ширина кнопок, подписи условных результатов и четыре связи общего повторного снимка/offline-примера. Это проверка структуры файла и изображений. Ручной проход по всем кликам, реальный usability test, сборка React Native, работа камеры и выполнение API не проводились.</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AgroVision: план обучения и проверки ML-компонента</a:t>
            </a:r>
          </a:p>
          <a:p xmlns:a="http://schemas.openxmlformats.org/drawingml/2006/main">
            <a:r>
              <a:t/>
            </a:r>
          </a:p>
          <a:p xmlns:a="http://schemas.openxmlformats.org/drawingml/2006/main">
            <a:r>
              <a:t>**Тема:** An Intelligent Computer Vision System for Plant Disease Diagnosis in Kazakhstan.  </a:t>
            </a:r>
          </a:p>
          <a:p xmlns:a="http://schemas.openxmlformats.org/drawingml/2006/main">
            <a:r>
              <a:t>**Версия:** проект плана от 21.10.2026.  </a:t>
            </a:r>
          </a:p>
          <a:p xmlns:a="http://schemas.openxmlformats.org/drawingml/2006/main">
            <a:r>
              <a:t>**Статус:** обучение, аппаратные измерения и экспорт в этой работе не выполнялись. Числа batch size, learning rate и длительности этапов ниже — стартовые настройки для проверки, не измеренные пределы оборудования и не обещание точности. Сопутствующий `baseline_config.yaml` описывает предлагаемый эксперимент; это не готовая исполняемая ML-программа.</a:t>
            </a:r>
          </a:p>
          <a:p xmlns:a="http://schemas.openxmlformats.org/drawingml/2006/main">
            <a:r>
              <a:t/>
            </a:r>
          </a:p>
          <a:p xmlns:a="http://schemas.openxmlformats.org/drawingml/2006/main">
            <a:r>
              <a:t>## 1. Рекомендуемая исходная система</a:t>
            </a:r>
          </a:p>
          <a:p xmlns:a="http://schemas.openxmlformats.org/drawingml/2006/main">
            <a:r>
              <a:t/>
            </a:r>
          </a:p>
          <a:p xmlns:a="http://schemas.openxmlformats.org/drawingml/2006/main">
            <a:r>
              <a:t>Начать с **ImageNet-pretrained EfficientNet-B0, вход 224×224, transfer learning и общей головы по допустимым парам «культура — состояние»**. В первой обязательной серии сравнить его с ResNet18 и MobileNetV3-Large. Финальную модель выбрать по одинаковому протоколу, независимой валидации, ошибкам каждой культуры и фактической задержке на целевом CPU.</a:t>
            </a:r>
          </a:p>
          <a:p xmlns:a="http://schemas.openxmlformats.org/drawingml/2006/main">
            <a:r>
              <a:t/>
            </a:r>
          </a:p>
          <a:p xmlns:a="http://schemas.openxmlformats.org/drawingml/2006/main">
            <a:r>
              <a:t>Преимущество такого плана — ограниченный эксперимент с объяснимым результатом. Он не предполагает, что B0 заранее лучший. При сопоставимом качестве и неопределённом преимуществе более тяжёлого варианта предпочтение отдаётся более простому и быстрому решению. Визуальный классификатор, справочная информация и необязательная генерация текста — отдельные компоненты. Собственную мультимодальную LLM на имеющихся GPU не обучать.</a:t>
            </a:r>
          </a:p>
          <a:p xmlns:a="http://schemas.openxmlformats.org/drawingml/2006/main">
            <a:r>
              <a:t/>
            </a:r>
          </a:p>
          <a:p xmlns:a="http://schemas.openxmlformats.org/drawingml/2006/main">
            <a:r>
              <a:t>### 1.1. Кандидаты</a:t>
            </a:r>
          </a:p>
          <a:p xmlns:a="http://schemas.openxmlformats.org/drawingml/2006/main">
            <a:r>
              <a:t/>
            </a:r>
          </a:p>
          <a:p xmlns:a="http://schemas.openxmlformats.org/drawingml/2006/main">
            <a:r>
              <a:t>| Модель | Параметры исходного ImageNet checkpoint | Официальная вычислительная оценка | Роль |</a:t>
            </a:r>
          </a:p>
          <a:p xmlns:a="http://schemas.openxmlformats.org/drawingml/2006/main">
            <a:r>
              <a:t>|---|---:|---:|---|</a:t>
            </a:r>
          </a:p>
          <a:p xmlns:a="http://schemas.openxmlformats.org/drawingml/2006/main">
            <a:r>
              <a:t>| ResNet18 | 11.69M | 1.81 GFLOPS при 224px | Контрольный baseline |</a:t>
            </a:r>
          </a:p>
          <a:p xmlns:a="http://schemas.openxmlformats.org/drawingml/2006/main">
            <a:r>
              <a:t>| EfficientNet-B0 | 5.29M | 0.39 GFLOPS при 224px | Основной стартовый кандидат |</a:t>
            </a:r>
          </a:p>
          <a:p xmlns:a="http://schemas.openxmlformats.org/drawingml/2006/main">
            <a:r>
              <a:t>| MobileNetV3-Large | 5.48M | 0.22 GFLOPS при 224px | Кандидат для ограниченного CPU |</a:t>
            </a:r>
          </a:p>
          <a:p xmlns:a="http://schemas.openxmlformats.org/drawingml/2006/main">
            <a:r>
              <a:t>| EfficientNet-B2 | 9.11M | 1.09 GFLOPS при 288px в текущем TorchVision checkpoint | Следующая серия, если важны мелкие симптомы |</a:t>
            </a:r>
          </a:p>
          <a:p xmlns:a="http://schemas.openxmlformats.org/drawingml/2006/main">
            <a:r>
              <a:t>| ConvNeXt-Tiny | 28.59M | 4.46 GFLOPS при 224px | Дополнительный вариант; существенно тяжелее B0 |</a:t>
            </a:r>
          </a:p>
          <a:p xmlns:a="http://schemas.openxmlformats.org/drawingml/2006/main">
            <a:r>
              <a:t/>
            </a:r>
          </a:p>
          <a:p xmlns:a="http://schemas.openxmlformats.org/drawingml/2006/main">
            <a:r>
              <a:t>Источники чисел: официальные страницы [ResNet18](https://docs.pytorch.org/vision/stable/models/generated/torchvision.models.resnet18.html), [EfficientNet-B0](https://docs.pytorch.org/vision/stable/models/generated/torchvision.models.efficientnet_b0.html), [MobileNetV3-Large](https://docs.pytorch.org/vision/stable/models/generated/torchvision.models.mobilenet_v3_large.html), [EfficientNet-B2](https://docs.pytorch.org/vision/stable/models/generated/torchvision.models.efficientnet_b2.html), [ConvNeXt-Tiny](https://docs.pytorch.org/vision/stable/models/generated/torchvision.models.convnext_tiny.html). Это характеристики исходных моделей; после замены головы число параметров меняется. GFLOPS не являются измеренной CPU-задержкой AgroVision.</a:t>
            </a:r>
          </a:p>
          <a:p xmlns:a="http://schemas.openxmlformats.org/drawingml/2006/main">
            <a:r>
              <a:t/>
            </a:r>
          </a:p>
          <a:p xmlns:a="http://schemas.openxmlformats.org/drawingml/2006/main">
            <a:r>
              <a:t>Два необязательных эксперимента после основного сравнения:</a:t>
            </a:r>
          </a:p>
          <a:p xmlns:a="http://schemas.openxmlformats.org/drawingml/2006/main">
            <a:r>
              <a:t/>
            </a:r>
          </a:p>
          <a:p xmlns:a="http://schemas.openxmlformats.org/drawingml/2006/main">
            <a:r>
              <a:t>- **ConvNeXt V2-Atto:** действительно компактный вариант — 3.7M параметров. У официального проекта код и веса имеют разные условия: MIT для кода, CC-BY-NC для исходных весов. До включения в продукт проверить применимость лицензии. [Официальный репозиторий](https://github.com/facebookresearch/ConvNeXt-V2).</a:t>
            </a:r>
          </a:p>
          <a:p xmlns:a="http://schemas.openxmlformats.org/drawingml/2006/main">
            <a:r>
              <a:t>- **DINOv2 ViT-S/14:** frozen embeddings и линейный классификатор, без дообучения encoder. Это снижает стоимость обучения головы, но не отменяет стоимость encoder при каждом запросе; ViT-S/14 имеет около 21M параметров. [Официальные модели](https://github.com/facebookresearch/dinov2), [статья](https://arxiv.org/abs/2304.07193).</a:t>
            </a:r>
          </a:p>
          <a:p xmlns:a="http://schemas.openxmlformats.org/drawingml/2006/main">
            <a:r>
              <a:t/>
            </a:r>
          </a:p>
          <a:p xmlns:a="http://schemas.openxmlformats.org/drawingml/2006/main">
            <a:r>
              <a:t>Детектор добавляется, если реальные пользовательские кадры требуют находить несколько листьев или отделять объект от сложной сцены и это даёт проверенный выигрыш. Сегментация нужна для отдельной задачи локализации поражений при наличии масок. Grad-CAM не заменяет маску поражения; отношение маски к площади кадра не равно доле поражённого листа без маски самого листа. На первом этапе достаточно одного основного листа и одной основной диагностической гипотезы.</a:t>
            </a:r>
          </a:p>
          <a:p xmlns:a="http://schemas.openxmlformats.org/drawingml/2006/main">
            <a:r>
              <a:t/>
            </a:r>
          </a:p>
          <a:p xmlns:a="http://schemas.openxmlformats.org/drawingml/2006/main">
            <a:r>
              <a:t>## 2. Исследовательские вопросы и сравнения</a:t>
            </a:r>
          </a:p>
          <a:p xmlns:a="http://schemas.openxmlformats.org/drawingml/2006/main">
            <a:r>
              <a:t/>
            </a:r>
          </a:p>
          <a:p xmlns:a="http://schemas.openxmlformats.org/drawingml/2006/main">
            <a:r>
              <a:t>| Вопрос | Проверяемое сравнение | Основной результат |</a:t>
            </a:r>
          </a:p>
          <a:p xmlns:a="http://schemas.openxmlformats.org/drawingml/2006/main">
            <a:r>
              <a:t>|---|---|---|</a:t>
            </a:r>
          </a:p>
          <a:p xmlns:a="http://schemas.openxmlformats.org/drawingml/2006/main">
            <a:r>
              <a:t>| H1. Какой компактный backbone даёт полезное соотношение качества и ресурсов? | ResNet18 / B0 / MobileNetV3-Large, одинаковые данные, 224px и бюджет настройки | Macro-F1, per-crop F1, CPU p50/p95, peak VRAM, время обучения |</a:t>
            </a:r>
          </a:p>
          <a:p xmlns:a="http://schemas.openxmlformats.org/drawingml/2006/main">
            <a:r>
              <a:t>| H2. Помогает ли информация о культуре? | Общая joint-class голова; та же модель с пользовательской культурой; при ресурсах crop-specific heads | End-to-end качество, ошибки при неверно выбранной культуре, coverage |</a:t>
            </a:r>
          </a:p>
          <a:p xmlns:a="http://schemas.openxmlformats.org/drawingml/2006/main">
            <a:r>
              <a:t>| H3. Насколько система переносится на новые условия? | Внутренний тест, целиком отложенный источник, независимые локальные группы | Изменение метрик и характер ошибок, отдельно для общих и неизвестных классов |</a:t>
            </a:r>
          </a:p>
          <a:p xmlns:a="http://schemas.openxmlformats.org/drawingml/2006/main">
            <a:r>
              <a:t>| H4. Насколько полезен отказ от ответа? | Выдача всегда; temperature scaling и выбранная на validation политика отказа | Risk–coverage, ошибки среди принятых ответов, coverage каждой культуры |</a:t>
            </a:r>
          </a:p>
          <a:p xmlns:a="http://schemas.openxmlformats.org/drawingml/2006/main">
            <a:r>
              <a:t>| H5. Сохраняется ли поведение при развёртывании? | PyTorch FP32 → ONNX FP32; необязательно ONNX INT8 | Численное соответствие, per-class изменения, задержка и память |</a:t>
            </a:r>
          </a:p>
          <a:p xmlns:a="http://schemas.openxmlformats.org/drawingml/2006/main">
            <a:r>
              <a:t/>
            </a:r>
          </a:p>
          <a:p xmlns:a="http://schemas.openxmlformats.org/drawingml/2006/main">
            <a:r>
              <a:t>H1–H4 — достаточное ядро исследовательского вклада. Отрицательный результат, например отсутствие выигрыша от conditioning, допустим при корректном эксперименте. Отдельный новый backbone для содержательной бакалаврской работы не требуется. Обоснование и ограничения подходов разобраны в [критическом обзоре литературы](../references/LITERATURE_REVIEW.md).</a:t>
            </a:r>
          </a:p>
          <a:p xmlns:a="http://schemas.openxmlformats.org/drawingml/2006/main">
            <a:r>
              <a:t/>
            </a:r>
          </a:p>
          <a:p xmlns:a="http://schemas.openxmlformats.org/drawingml/2006/main">
            <a:r>
              <a:t>## 3. Классы, культура и единый контракт результата</a:t>
            </a:r>
          </a:p>
          <a:p xmlns:a="http://schemas.openxmlformats.org/drawingml/2006/main">
            <a:r>
              <a:t/>
            </a:r>
          </a:p>
          <a:p xmlns:a="http://schemas.openxmlformats.org/drawingml/2006/main">
            <a:r>
              <a:t>### 3.1. Онтология и голова модели</a:t>
            </a:r>
          </a:p>
          <a:p xmlns:a="http://schemas.openxmlformats.org/drawingml/2006/main">
            <a:r>
              <a:t/>
            </a:r>
          </a:p>
          <a:p xmlns:a="http://schemas.openxmlformats.org/drawingml/2006/main">
            <a:r>
              <a:t>Версионируемый реестр должен хранить `class_id`, `crop_id`, `condition_id`, `condition_type`, орган растения, исходную метку и её источник, синонимы, степень подтверждения, статус поддержки. Не объединять разные состояния по совпадению слов rust/spot/blight. Различать инфекцию, повреждение вредителем, абиотическое состояние, healthy appearance, симптом без установленной причины (`symptom`) и неустановленное состояние (`unresolved`). Канонические поля и типы заданы в [DATA_POLICY.md](../data/DATA_POLICY.md).</a:t>
            </a:r>
          </a:p>
          <a:p xmlns:a="http://schemas.openxmlformats.org/drawingml/2006/main">
            <a:r>
              <a:t/>
            </a:r>
          </a:p>
          <a:p xmlns:a="http://schemas.openxmlformats.org/drawingml/2006/main">
            <a:r>
              <a:t>Не создавать healthy-класс без соответствующих размеченных данных. Healthy означает отсутствие видимых признаков поддерживаемых заболеваний в принятой схеме, а не доказанное отсутствие любой инфекции. Культура с одним известным классом не образует содержательную закрытую задачу disease classification: внутри такой головы softmax всегда равен единице. Добавление культуры в справочник не означает автоматический выпуск её диагностики.</a:t>
            </a:r>
          </a:p>
          <a:p xmlns:a="http://schemas.openxmlformats.org/drawingml/2006/main">
            <a:r>
              <a:t/>
            </a:r>
          </a:p>
          <a:p xmlns:a="http://schemas.openxmlformats.org/drawingml/2006/main">
            <a:r>
              <a:t>Первый вариант: общий encoder → logits всех разрешённых crop–condition классов. В mobile/API v1 пользователь обязательно выбирает культуру; сравнение без этого входа остаётся исследовательским ablation. Культура используется для ранжирования совместимых состояний. Если `p(c,d|x)` — глобальное распределение, сохранять массу выбранной культуры `s_c = Σ_d p(c,d|x)` и исходные scores до маскирования. В baseline выдаваемый `score_space=global_joint`: фильтрация кандидатов не перенормирует их scores. Условное распределение `p(d|c,x) = p(c,d|x) / s_c` допустимо для отдельного исследования, но не является безусловной вероятностью правильного диагноза и требует отдельной оценки калибровки.</a:t>
            </a:r>
          </a:p>
          <a:p xmlns:a="http://schemas.openxmlformats.org/drawingml/2006/main">
            <a:r>
              <a:t/>
            </a:r>
          </a:p>
          <a:p xmlns:a="http://schemas.openxmlformats.org/drawingml/2006/main">
            <a:r>
              <a:t>Пример: у выбранной культуры суммарная масса 0.08, а у двух состояний 0.07 и 0.01. После фильтрации лидер получит 87.5%, хотя модель почти не поддерживала выбранную культуру. Поэтому перенормированный score не должен самостоятельно открывать выдачу диагноза. Автоматическое определение культуры — отдельное расширение; его ошибки включаются в end-to-end оценку. Эксперимент с истинной культурой помечается как oracle-crop.</a:t>
            </a:r>
          </a:p>
          <a:p xmlns:a="http://schemas.openxmlformats.org/drawingml/2006/main">
            <a:r>
              <a:t/>
            </a:r>
          </a:p>
          <a:p xmlns:a="http://schemas.openxmlformats.org/drawingml/2006/main">
            <a:r>
              <a:t>### 3.2. Четыре исхода API и интерфейса</a:t>
            </a:r>
          </a:p>
          <a:p xmlns:a="http://schemas.openxmlformats.org/drawingml/2006/main">
            <a:r>
              <a:t/>
            </a:r>
          </a:p>
          <a:p xmlns:a="http://schemas.openxmlformats.org/drawingml/2006/main">
            <a:r>
              <a:t>| `outcome` | Смысл | Поведение |</a:t>
            </a:r>
          </a:p>
          <a:p xmlns:a="http://schemas.openxmlformats.org/drawingml/2006/main">
            <a:r>
              <a:t>|---|---|---|</a:t>
            </a:r>
          </a:p>
          <a:p xmlns:a="http://schemas.openxmlformats.org/drawingml/2006/main">
            <a:r>
              <a:t>| `predicted` | Поддерживаемая гипотеза прошла проверенную политику применимости и отказа | Вероятное состояние, ограничение вывода по фото, безопасный следующий шаг и источник справки |</a:t>
            </a:r>
          </a:p>
          <a:p xmlns:a="http://schemas.openxmlformats.org/drawingml/2006/main">
            <a:r>
              <a:t>| `inconclusive` | Фото пригодно для анализа, но надёжного ответа нет | Объяснить неопределённость; предложить дополнительный ракурс или консультацию |</a:t>
            </a:r>
          </a:p>
          <a:p xmlns:a="http://schemas.openxmlformats.org/drawingml/2006/main">
            <a:r>
              <a:t>| `unsupported_input` | После обработки фото обоснованно установлен ввод вне опубликованного scope, например неподдержанный орган | Сообщить, какое покрытие доступно; не подменять состояние ближайшим известным классом |</a:t>
            </a:r>
          </a:p>
          <a:p xmlns:a="http://schemas.openxmlformats.org/drawingml/2006/main">
            <a:r>
              <a:t>| `retake_photo` | Изображение недостаточно пригодно для оценки | Конкретная подсказка для повторной съёмки |</a:t>
            </a:r>
          </a:p>
          <a:p xmlns:a="http://schemas.openxmlformats.org/drawingml/2006/main">
            <a:r>
              <a:t/>
            </a:r>
          </a:p>
          <a:p xmlns:a="http://schemas.openxmlformats.org/drawingml/2006/main">
            <a:r>
              <a:t>Заранее известная неподдержанная выбранная культура отклоняется до постановки задачи: **HTTP 422 `unsupported_crop`, без assessment/job**. Это validation error API, а не completed outcome. Повреждённый файл аналогично отклоняется upload-проверкой; `retake_photo` описывает пригодный для декодирования снимок с подтверждённой проблемой качества. Такой порядок соответствует [API_CONTRACT.md](../contracts/API_CONTRACT.md).</a:t>
            </a:r>
          </a:p>
          <a:p xmlns:a="http://schemas.openxmlformats.org/drawingml/2006/main">
            <a:r>
              <a:t/>
            </a:r>
          </a:p>
          <a:p xmlns:a="http://schemas.openxmlformats.org/drawingml/2006/main">
            <a:r>
              <a:t>Конфликт выбранной культуры и изображения — основание для `inconclusive`, с пояснением и предложением проверить культуру. Неопознанную болезнь нельзя достоверно назвать unsupported только по низкому score: это часто именно `inconclusive`. `unsupported_input` не означает, что модель умеет распознавать все неизвестные классы. Причины внутри четырёх исходов можно уточнять отдельным `reason_code`, сохраняя общий контракт.</a:t>
            </a:r>
          </a:p>
          <a:p xmlns:a="http://schemas.openxmlformats.org/drawingml/2006/main">
            <a:r>
              <a:t/>
            </a:r>
          </a:p>
          <a:p xmlns:a="http://schemas.openxmlformats.org/drawingml/2006/main">
            <a:r>
              <a:t>Численные диагностические пороги в начальном конфиге **не заданы**. Их выбирают на validation/calibration для заранее согласованного риска и покрытия. Пока policy не проверена и model bundle не одобрен по критериям проекта, диагностический выпуск запрещён. Произвольное правило «confidence &gt; 0.7» не является основанием для `predicted`.</a:t>
            </a:r>
          </a:p>
          <a:p xmlns:a="http://schemas.openxmlformats.org/drawingml/2006/main">
            <a:r>
              <a:t/>
            </a:r>
          </a:p>
          <a:p xmlns:a="http://schemas.openxmlformats.org/drawingml/2006/main">
            <a:r>
              <a:t>## 4. Данные и разделение</a:t>
            </a:r>
          </a:p>
          <a:p xmlns:a="http://schemas.openxmlformats.org/drawingml/2006/main">
            <a:r>
              <a:t/>
            </a:r>
          </a:p>
          <a:p xmlns:a="http://schemas.openxmlformats.org/drawingml/2006/main">
            <a:r>
              <a:t>Перед обучением создать manifest исходников по [DATA_POLICY.md](../data/DATA_POLICY.md): source/version, исходный ID, hash, crop/condition, тип и уровень подтверждения метки, лицензия и происхождение. Канонические групповые поля: `plant_id`, `leaf_id`, `capture_session_id`, `plot_id`, `parent_image_id`, `dedup_cluster_id`; итоговая единица разделения — `split_group_id`. Сначала объединить связанные исходники, дубли и производные представления, затем делить по итоговой группе. Аугментации выполняются только после split. Реальные отсутствующие group IDs нельзя заменить выдуманными.</a:t>
            </a:r>
          </a:p>
          <a:p xmlns:a="http://schemas.openxmlformats.org/drawingml/2006/main">
            <a:r>
              <a:t/>
            </a:r>
          </a:p>
          <a:p xmlns:a="http://schemas.openxmlformats.org/drawingml/2006/main">
            <a:r>
              <a:t>Нужны четыре роли данных:</a:t>
            </a:r>
          </a:p>
          <a:p xmlns:a="http://schemas.openxmlformats.org/drawingml/2006/main">
            <a:r>
              <a:t/>
            </a:r>
          </a:p>
          <a:p xmlns:a="http://schemas.openxmlformats.org/drawingml/2006/main">
            <a:r>
              <a:t>1. **Train:** обучение и расчёт class weights; сюда же берётся representative data для INT8 calibration.</a:t>
            </a:r>
          </a:p>
          <a:p xmlns:a="http://schemas.openxmlformats.org/drawingml/2006/main">
            <a:r>
              <a:t>2. **Development validation:** выбор архитектуры и гиперпараметров. Отдельная calibration часть либо заранее фиксированные out-of-fold predictions используются для temperature scaling и порогов.</a:t>
            </a:r>
          </a:p>
          <a:p xmlns:a="http://schemas.openxmlformats.org/drawingml/2006/main">
            <a:r>
              <a:t>3. **Internal/source-held-out tests:** внутренние независимые группы и отдельный целиком невидимый источник. Название другого набора само по себе не доказывает отсутствие общих фото.</a:t>
            </a:r>
          </a:p>
          <a:p xmlns:a="http://schemas.openxmlformats.org/drawingml/2006/main">
            <a:r>
              <a:t>4. **Kazakhstan local test:** независимые растения/сессии/места, реальные пользовательские камеры и экспертные метки. Не использовать его для выбора модели, аугментаций, температуры или порога.</a:t>
            </a:r>
          </a:p>
          <a:p xmlns:a="http://schemas.openxmlformats.org/drawingml/2006/main">
            <a:r>
              <a:t/>
            </a:r>
          </a:p>
          <a:p xmlns:a="http://schemas.openxmlformats.org/drawingml/2006/main">
            <a:r>
              <a:t>Условные доли 70/15/15 допустимы для внутреннего development-пула, если размер и группировка это позволяют. Calibration можно выделить из validation; если данных мало, использовать out-of-fold схему и раскрыть её. Не добиваться точной доли ценой попадания соседних кадров в разные части. [StratifiedGroupKFold](https://scikit-learn.org/stable/modules/generated/sklearn.model_selection.StratifiedGroupKFold.html) помогает совмещать группировку и баланс, но не восстанавливает недостающие метаданные.</a:t>
            </a:r>
          </a:p>
          <a:p xmlns:a="http://schemas.openxmlformats.org/drawingml/2006/main">
            <a:r>
              <a:t/>
            </a:r>
          </a:p>
          <a:p xmlns:a="http://schemas.openxmlformats.org/drawingml/2006/main">
            <a:r>
              <a:t>Внешние изображения с неизвестными обучению состояниями оценивать отдельно как unknown/OOD. Не переназначать их ближайшей поддерживаемой болезни ради общей accuracy. Обязательно проверять разные отрицательные группы: нерастения, другие культуры, неподдерживаемые болезни, вредители/дефициты, смешанные поражения и плохая съёмка. Один обучаемый класс other не покрывает всё неизвестное.</a:t>
            </a:r>
          </a:p>
          <a:p xmlns:a="http://schemas.openxmlformats.org/drawingml/2006/main">
            <a:r>
              <a:t/>
            </a:r>
          </a:p>
          <a:p xmlns:a="http://schemas.openxmlformats.org/drawingml/2006/main">
            <a:r>
              <a:t>Если локальных изображений пока нет, результат исследования — прототип с планом локальной проверки. Если имеются только первые пилотные фотографии, использовать их для отладки и зарезервировать новые независимые группы для окончательного теста. Географически локальная аэрофотосъёмка не заменяет фото листьев с телефона.</a:t>
            </a:r>
          </a:p>
          <a:p xmlns:a="http://schemas.openxmlformats.org/drawingml/2006/main">
            <a:r>
              <a:t/>
            </a:r>
          </a:p>
          <a:p xmlns:a="http://schemas.openxmlformats.org/drawingml/2006/main">
            <a:r>
              <a:t>## 5. Рецепт обучения на имеющихся GPU</a:t>
            </a:r>
          </a:p>
          <a:p xmlns:a="http://schemas.openxmlformats.org/drawingml/2006/main">
            <a:r>
              <a:t/>
            </a:r>
          </a:p>
          <a:p xmlns:a="http://schemas.openxmlformats.org/drawingml/2006/main">
            <a:r>
              <a:t>### 5.1. Аппаратные ограничения</a:t>
            </a:r>
          </a:p>
          <a:p xmlns:a="http://schemas.openxmlformats.org/drawingml/2006/main">
            <a:r>
              <a:t/>
            </a:r>
          </a:p>
          <a:p xmlns:a="http://schemas.openxmlformats.org/drawingml/2006/main">
            <a:r>
              <a:t>RTX 2060 относится к Turing, RTX 3050 Laptop — к Ampere. Обе архитектуры поддерживают FP16 Tensor Core операции; BF16 появился в Ampere. Общая начальная настройка — **FP16 AMP + GradScaler**. Фактическое устройство, compute capability, CUDA и сборку PyTorch проверить локально. BF16 на ноутбуке — отдельный эксперимент после проверки нативной поддержки; не переносить её на RTX 2060. Источники: [NVIDIA Turing](https://docs.nvidia.com/cuda/turing-tuning-guide/index.html), [NVIDIA Ampere](https://docs.nvidia.com/cuda/ampere-tuning-guide/index.html), [PyTorch BF16 API](https://docs.pytorch.org/docs/stable/generated/torch.cuda.is_bf16_supported.html).</a:t>
            </a:r>
          </a:p>
          <a:p xmlns:a="http://schemas.openxmlformats.org/drawingml/2006/main">
            <a:r>
              <a:t/>
            </a:r>
          </a:p>
          <a:p xmlns:a="http://schemas.openxmlformats.org/drawingml/2006/main">
            <a:r>
              <a:t>**6 GB + 4 GB не становятся общим пулом 10 GB.** Обычный DistributedDataParallel держит реплики модели; два компьютера разумнее использовать для независимых кандидатов/seeds. Устройство с 6 GB — основные fine-tuning запуски, ноутбук — smoke tests, компактный кандидат или извлечение frozen embeddings. [PyTorch DDP](https://docs.pytorch.org/tutorials/intermediate/ddp_tutorial.html).</a:t>
            </a:r>
          </a:p>
          <a:p xmlns:a="http://schemas.openxmlformats.org/drawingml/2006/main">
            <a:r>
              <a:t/>
            </a:r>
          </a:p>
          <a:p xmlns:a="http://schemas.openxmlformats.org/drawingml/2006/main">
            <a:r>
              <a:t>| Параметр | RTX 2060 6 GB | RTX 3050 Laptop 4 GB |</a:t>
            </a:r>
          </a:p>
          <a:p xmlns:a="http://schemas.openxmlformats.org/drawingml/2006/main">
            <a:r>
              <a:t>|---|---:|---:|</a:t>
            </a:r>
          </a:p>
          <a:p xmlns:a="http://schemas.openxmlformats.org/drawingml/2006/main">
            <a:r>
              <a:t>| B0 / ResNet18 / MobileNetV3-Large, 224px | microbatch 8 | microbatch 4 |</a:t>
            </a:r>
          </a:p>
          <a:p xmlns:a="http://schemas.openxmlformats.org/drawingml/2006/main">
            <a:r>
              <a:t>| Gradient accumulation | 4 | 8 |</a:t>
            </a:r>
          </a:p>
          <a:p xmlns:a="http://schemas.openxmlformats.org/drawingml/2006/main">
            <a:r>
              <a:t>| Effective batch на одном устройстве | 32 | 32 |</a:t>
            </a:r>
          </a:p>
          <a:p xmlns:a="http://schemas.openxmlformats.org/drawingml/2006/main">
            <a:r>
              <a:t>| Стартовые DataLoader workers | 2 | 2 |</a:t>
            </a:r>
          </a:p>
          <a:p xmlns:a="http://schemas.openxmlformats.org/drawingml/2006/main">
            <a:r>
              <a:t>| B2 при 288px, только при переходе к расширению | microbatch 4 | microbatch 2 |</a:t>
            </a:r>
          </a:p>
          <a:p xmlns:a="http://schemas.openxmlformats.org/drawingml/2006/main">
            <a:r>
              <a:t/>
            </a:r>
          </a:p>
          <a:p xmlns:a="http://schemas.openxmlformats.org/drawingml/2006/main">
            <a:r>
              <a:t>Это безопасные начальные **оценки**, которые всё равно могут потребовать уменьшения при занятой памяти или конкретной реализации. Измерять peak allocated/reserved и фактическое потребление после backward и `optimizer.step`: состояние AdamW может выделяться лениво. При OOM уменьшить microbatch вдвое и пересчитать accumulation; не обещать максимальный batch по одной таблице параметров.</a:t>
            </a:r>
          </a:p>
          <a:p xmlns:a="http://schemas.openxmlformats.org/drawingml/2006/main">
            <a:r>
              <a:t/>
            </a:r>
          </a:p>
          <a:p xmlns:a="http://schemas.openxmlformats.org/drawingml/2006/main">
            <a:r>
              <a:t>### 5.2. Этапы</a:t>
            </a:r>
          </a:p>
          <a:p xmlns:a="http://schemas.openxmlformats.org/drawingml/2006/main">
            <a:r>
              <a:t/>
            </a:r>
          </a:p>
          <a:p xmlns:a="http://schemas.openxmlformats.org/drawingml/2006/main">
            <a:r>
              <a:t>1. **Проверка pipeline.** Утвердить class order; просмотреть реальные батчи; проверить способность fit 32–64 чистых обучающих примера без аугментаций.</a:t>
            </a:r>
          </a:p>
          <a:p xmlns:a="http://schemas.openxmlformats.org/drawingml/2006/main">
            <a:r>
              <a:t>2. **Head-only, 2–3 эпохи.** Frozen pretrained backbone, AdamW, `lr_head=1e-3`, `weight_decay=1e-4`.</a:t>
            </a:r>
          </a:p>
          <a:p xmlns:a="http://schemas.openxmlformats.org/drawingml/2006/main">
            <a:r>
              <a:t>3. **Partial fine-tuning, ориентировочно 10–20 эпох.** Разморозить последние блоки, `lr_backbone=1e-4`, `lr_head=1e-3`; cosine schedule. Какие блоки разморожены у каждого кандидата, явно логировать.</a:t>
            </a:r>
          </a:p>
          <a:p xmlns:a="http://schemas.openxmlformats.org/drawingml/2006/main">
            <a:r>
              <a:t>4. **Контролируемое расширение.** Полное размораживание только если partial режим недостаточен; общий первоначальный cap 30 эпох, early stopping patience 5 по validation macro-F1. Значения требуют проверки, а не механического применения ко всем данным.</a:t>
            </a:r>
          </a:p>
          <a:p xmlns:a="http://schemas.openxmlformats.org/drawingml/2006/main">
            <a:r>
              <a:t/>
            </a:r>
          </a:p>
          <a:p xmlns:a="http://schemas.openxmlformats.org/drawingml/2006/main">
            <a:r>
              <a:t>Transfer learning и смена головы описаны в [PyTorch tutorial](https://docs.pytorch.org/tutorials/beginner/transfer_learning_tutorial.html). Checkpoint pretrained weights фиксировать явно, например `EfficientNet_B0_Weights.IMAGENET1K_V1`, `MobileNet_V3_Large_Weights.IMAGENET1K_V2`, `ResNet18_Weights.IMAGENET1K_V1`, вместе с установленной версией TorchVision. Не использовать плавающий `DEFAULT` без записи разрешённой версии.</a:t>
            </a:r>
          </a:p>
          <a:p xmlns:a="http://schemas.openxmlformats.org/drawingml/2006/main">
            <a:r>
              <a:t/>
            </a:r>
          </a:p>
          <a:p xmlns:a="http://schemas.openxmlformats.org/drawingml/2006/main">
            <a:r>
              <a:t>Общая стратегия preprocessing первой серии: EXIF orientation → RGB → resize короткой стороны до 256px → центр 224×224 → ImageNet mean/std. Это **контрольная гипотеза**, не утверждение об оптимальной обработке полевого снимка. До обучения проверить, не удаляет ли crop симптомы. Если удаляет, выбрать сохранение целого кадра с padding и повторить всю первую серию с одним новым зафиксированным preprocessing. Не менять обработку только одному фавориту без отдельного эксперимента.</a:t>
            </a:r>
          </a:p>
          <a:p xmlns:a="http://schemas.openxmlformats.org/drawingml/2006/main">
            <a:r>
              <a:t/>
            </a:r>
          </a:p>
          <a:p xmlns:a="http://schemas.openxmlformats.org/drawingml/2006/main">
            <a:r>
              <a:t>Train augmentation: отражения, умеренный поворот, небольшой brightness/contrast jitter; без сильного изменения hue, grayscale, random erasing и агрессивного кадрирования в первом опыте. Сохранять лист и симптомы. Validation/test — детерминированные. Дисбаланс сначала описать per-class отчётом; затем сравнить обычный cross-entropy с class weights **или** sampler. Одновременное агрессивное перевзвешивание обоими способами не является стартовым рецептом.</a:t>
            </a:r>
          </a:p>
          <a:p xmlns:a="http://schemas.openxmlformats.org/drawingml/2006/main">
            <a:r>
              <a:t/>
            </a:r>
          </a:p>
          <a:p xmlns:a="http://schemas.openxmlformats.org/drawingml/2006/main">
            <a:r>
              <a:t>### 5.3. AMP, accumulation и BatchNorm</a:t>
            </a:r>
          </a:p>
          <a:p xmlns:a="http://schemas.openxmlformats.org/drawingml/2006/main">
            <a:r>
              <a:t/>
            </a:r>
          </a:p>
          <a:p xmlns:a="http://schemas.openxmlformats.org/drawingml/2006/main">
            <a:r>
              <a:t>Использовать актуальные для установленной версии API: `torch.autocast(device_type='cuda', dtype=torch.float16)` и `torch.amp.GradScaler('cuda')`. Делить loss на фактическую длину окна accumulation, корректно обрабатывать последнюю неполную группу, вызывать optimizer/scaler update на границе окна. При clipping сначала выполнить unscale. [Официальные AMP examples](https://docs.pytorch.org/docs/stable/notes/amp_examples.html).</a:t>
            </a:r>
          </a:p>
          <a:p xmlns:a="http://schemas.openxmlformats.org/drawingml/2006/main">
            <a:r>
              <a:t/>
            </a:r>
          </a:p>
          <a:p xmlns:a="http://schemas.openxmlformats.org/drawingml/2006/main">
            <a:r>
              <a:t>**Accumulation не превращает BatchNorm microbatch 4 в batch 32.** В исходном сравнении заморозить BN running statistics; при partial fine-tuning переводить в eval только BN-модули, а не всю модель. Повторять установку после вызова общего `model.train()`. Настройку trainable BN affine parameters зафиксировать; в baseline они также заморожены. [Документация BatchNorm](https://docs.pytorch.org/docs/stable/generated/torch.nn.BatchNorm2d.html).</a:t>
            </a:r>
          </a:p>
          <a:p xmlns:a="http://schemas.openxmlformats.org/drawingml/2006/main">
            <a:r>
              <a:t/>
            </a:r>
          </a:p>
          <a:p xmlns:a="http://schemas.openxmlformats.org/drawingml/2006/main">
            <a:r>
              <a:t>## 6. Оценка и выбор модели</a:t>
            </a:r>
          </a:p>
          <a:p xmlns:a="http://schemas.openxmlformats.org/drawingml/2006/main">
            <a:r>
              <a:t/>
            </a:r>
          </a:p>
          <a:p xmlns:a="http://schemas.openxmlformats.org/drawingml/2006/main">
            <a:r>
              <a:t>Для трёх backbone использовать один class list, manifest, splits, 224px, preprocessing, augmentation, effective batch и стратегию BN. Дать одинаковый бюджет подбора, а не бесконечно улучшать один вариант. Сначала один seed для проверки осуществимости; финалистов повторить минимум на трёх seeds. Сравнение коротких одинаковых по времени прогонов отражает эффективность первых минут, а не окончательное качество обучения.</a:t>
            </a:r>
          </a:p>
          <a:p xmlns:a="http://schemas.openxmlformats.org/drawingml/2006/main">
            <a:r>
              <a:t/>
            </a:r>
          </a:p>
          <a:p xmlns:a="http://schemas.openxmlformats.org/drawingml/2006/main">
            <a:r>
              <a:t>| Группа | Что измерять |</a:t>
            </a:r>
          </a:p>
          <a:p xmlns:a="http://schemas.openxmlformats.org/drawingml/2006/main">
            <a:r>
              <a:t>|---|---|</a:t>
            </a:r>
          </a:p>
          <a:p xmlns:a="http://schemas.openxmlformats.org/drawingml/2006/main">
            <a:r>
              <a:t>| Классификация | Macro-F1 по joint classes; per-crop macro-F1; per-class precision/recall/support; balanced accuracy; confusion matrix; общая accuracy как дополнительная |</a:t>
            </a:r>
          </a:p>
          <a:p xmlns:a="http://schemas.openxmlformats.org/drawingml/2006/main">
            <a:r>
              <a:t>| Существенные ошибки | Disease → healthy appearance и обратные ошибки; ошибки при неверной культуре; смешанные и неподдерживаемые состояния |</a:t>
            </a:r>
          </a:p>
          <a:p xmlns:a="http://schemas.openxmlformats.org/drawingml/2006/main">
            <a:r>
              <a:t>| Перенос | Те же метрики отдельно на internal/source-held-out/local; common-label classification отдельно от unknown rejection |</a:t>
            </a:r>
          </a:p>
          <a:p xmlns:a="http://schemas.openxmlformats.org/drawingml/2006/main">
            <a:r>
              <a:t>| Отказ | Risk–coverage; ошибки среди принятых ответов; coverage каждой культуры; false acceptance по каждой заранее определённой OOD группе; AUROC/AUPR как дополнительные |</a:t>
            </a:r>
          </a:p>
          <a:p xmlns:a="http://schemas.openxmlformats.org/drawingml/2006/main">
            <a:r>
              <a:t>| Калибровка | NLL, Brier score, reliability diagram, ECE с описанием binning; до и после temperature scaling |</a:t>
            </a:r>
          </a:p>
          <a:p xmlns:a="http://schemas.openxmlformats.org/drawingml/2006/main">
            <a:r>
              <a:t>| Ресурсы | Peak VRAM, samples/s, время эпохи/всего обучения; CPU p50/p95, cold start, peak RSS, размер bundle |</a:t>
            </a:r>
          </a:p>
          <a:p xmlns:a="http://schemas.openxmlformats.org/drawingml/2006/main">
            <a:r>
              <a:t/>
            </a:r>
          </a:p>
          <a:p xmlns:a="http://schemas.openxmlformats.org/drawingml/2006/main">
            <a:r>
              <a:t>Temperature scaling обучается только на calibration данных. Порог отказа выбирается до доступа к финальному тесту по согласованной паре «допустимый риск — полезное покрытие». Низкий риск при отказе на 99% запросов не является доказательством полезности. Максимальный softmax — baseline, не универсальный детектор неизвестного. Основания: [Guo et al., 2017](https://proceedings.mlr.press/v70/guo17a.html), [Ovadia et al., 2019](https://proceedings.neurips.cc/paper/2019/hash/8558cb408c1d76621371888657d2eb1d-Abstract.html), [Hendrycks &amp; Gimpel](https://arxiv.org/abs/1610.02136), [SelectiveNet](https://proceedings.mlr.press/v97/geifman19a.html).</a:t>
            </a:r>
          </a:p>
          <a:p xmlns:a="http://schemas.openxmlformats.org/drawingml/2006/main">
            <a:r>
              <a:t/>
            </a:r>
          </a:p>
          <a:p xmlns:a="http://schemas.openxmlformats.org/drawingml/2006/main">
            <a:r>
              <a:t>Доверительные интервалы строить по независимым растениям/сессиям, а не почти одинаковым кадрам; сравнение финалистов — парное на тех же группах. Малое число независимых случаев явно отражать в выводах. Минимальный полезный выигрыш, допустимое ухудшение важных классов, необходимый coverage и CPU бюджет фиксируются после обсуждения сценария с пользователями и до финального теста. В проекте пока нет измерений, позволяющих честно назначить универсальную полевую точность или диагностический порог.</a:t>
            </a:r>
          </a:p>
          <a:p xmlns:a="http://schemas.openxmlformats.org/drawingml/2006/main">
            <a:r>
              <a:t/>
            </a:r>
          </a:p>
          <a:p xmlns:a="http://schemas.openxmlformats.org/drawingml/2006/main">
            <a:r>
              <a:t>## 7. Экспорт, измерение CPU и model bundle</a:t>
            </a:r>
          </a:p>
          <a:p xmlns:a="http://schemas.openxmlformats.org/drawingml/2006/main">
            <a:r>
              <a:t/>
            </a:r>
          </a:p>
          <a:p xmlns:a="http://schemas.openxmlformats.org/drawingml/2006/main">
            <a:r>
              <a:t>Первый экспорт — **ONNX FP32**, модель в eval, фиксированный H×W, batch 1. Текущий рекомендуемый PyTorch exporter использует `dynamo=True`; opset и поддерживаемые операции согласовать с закреплённым ONNX Runtime. [PyTorch ONNX](https://docs.pytorch.org/docs/stable/onnx.html).</a:t>
            </a:r>
          </a:p>
          <a:p xmlns:a="http://schemas.openxmlformats.org/drawingml/2006/main">
            <a:r>
              <a:t/>
            </a:r>
          </a:p>
          <a:p xmlns:a="http://schemas.openxmlformats.org/drawingml/2006/main">
            <a:r>
              <a:t>Сравнить logits PyTorch/ONNX на 32–100 реальных изображениях, отдельно подтвердить EXIF/RGB/resize/crop/normalization/class order. Стартовый инженерный parity gate: `allclose(rtol=1e-3, atol=1e-4)`. Расхождение top-1 при почти равных logits исследовать отдельно. Допуск — предложение для проверки, не универсальный стандарт и не критерий диагностической точности.</a:t>
            </a:r>
          </a:p>
          <a:p xmlns:a="http://schemas.openxmlformats.org/drawingml/2006/main">
            <a:r>
              <a:t/>
            </a:r>
          </a:p>
          <a:p xmlns:a="http://schemas.openxmlformats.org/drawingml/2006/main">
            <a:r>
              <a:t>CPU benchmark: записать CPU, ОС, runtime, execution provider и threads. Отдельно измерять model-only и decode/preprocess/postprocess/API end-to-end; cold start, p50/p95, RSS. Начать с 20 warmup и 200 измерений batch 1. Для итогового отчёта повторить при реалистичной нагрузке и описать питание/тепловой режим устройства. Пока измерений нет, задержка и длительность обучения обозначаются как неизвестные.</a:t>
            </a:r>
          </a:p>
          <a:p xmlns:a="http://schemas.openxmlformats.org/drawingml/2006/main">
            <a:r>
              <a:t/>
            </a:r>
          </a:p>
          <a:p xmlns:a="http://schemas.openxmlformats.org/drawingml/2006/main">
            <a:r>
              <a:t>INT8 — дополнительный опыт после исправного FP32. Для CNN официальная документация рекомендует static quantization; representative данные для неё берутся из train, затем на validation переоцениваются качество, calibration и policy. Не путать calibration диапазонов INT8 с temperature scaling диагностических вероятностей. [ONNX Runtime quantization](https://onnxruntime.ai/docs/performance/model-optimizations/quantization.html).</a:t>
            </a:r>
          </a:p>
          <a:p xmlns:a="http://schemas.openxmlformats.org/drawingml/2006/main">
            <a:r>
              <a:t/>
            </a:r>
          </a:p>
          <a:p xmlns:a="http://schemas.openxmlformats.org/drawingml/2006/main">
            <a:r>
              <a:t>Минимальный версионируемый bundle:</a:t>
            </a:r>
          </a:p>
          <a:p xmlns:a="http://schemas.openxmlformats.org/drawingml/2006/main">
            <a:r>
              <a:t/>
            </a:r>
          </a:p>
          <a:p xmlns:a="http://schemas.openxmlformats.org/drawingml/2006/main">
            <a:r>
              <a:t>- weights/checkpoint и ONNX; sha256 артефактов;</a:t>
            </a:r>
          </a:p>
          <a:p xmlns:a="http://schemas.openxmlformats.org/drawingml/2006/main">
            <a:r>
              <a:t>- class map и registry покрытия с версиями;</a:t>
            </a:r>
          </a:p>
          <a:p xmlns:a="http://schemas.openxmlformats.org/drawingml/2006/main">
            <a:r>
              <a:t>- preprocessing и перечень проверок пригодности изображения;</a:t>
            </a:r>
          </a:p>
          <a:p xmlns:a="http://schemas.openxmlformats.org/drawingml/2006/main">
            <a:r>
              <a:t>- temperature и policy отказа, условия их подбора и статус валидации;</a:t>
            </a:r>
          </a:p>
          <a:p xmlns:a="http://schemas.openxmlformats.org/drawingml/2006/main">
            <a:r>
              <a:t>- training config, commit, версии библиотек, seeds, hardware;</a:t>
            </a:r>
          </a:p>
          <a:p xmlns:a="http://schemas.openxmlformats.org/drawingml/2006/main">
            <a:r>
              <a:t>- manifest/split hashes, data provenance и лицензии;</a:t>
            </a:r>
          </a:p>
          <a:p xmlns:a="http://schemas.openxmlformats.org/drawingml/2006/main">
            <a:r>
              <a:t>- per-class/per-source/local metrics, uncertainty и performance report;</a:t>
            </a:r>
          </a:p>
          <a:p xmlns:a="http://schemas.openxmlformats.org/drawingml/2006/main">
            <a:r>
              <a:t>- model card: intended use, поддержка, ограничения, known failures и статус выпуска.</a:t>
            </a:r>
          </a:p>
          <a:p xmlns:a="http://schemas.openxmlformats.org/drawingml/2006/main">
            <a:r>
              <a:t/>
            </a:r>
          </a:p>
          <a:p xmlns:a="http://schemas.openxmlformats.org/drawingml/2006/main">
            <a:r>
              <a:t>Inference должен загружать согласованную версию всего bundle, а не обновлять веса отдельно от class map и порогов. LLM/справочный слой не меняет outcome, score или область поддержки; объяснение не превращает предположение в установленную инфекцию.</a:t>
            </a:r>
          </a:p>
          <a:p xmlns:a="http://schemas.openxmlformats.org/drawingml/2006/main">
            <a:r>
              <a:t/>
            </a:r>
          </a:p>
          <a:p xmlns:a="http://schemas.openxmlformats.org/drawingml/2006/main">
            <a:r>
              <a:t>## 8. Проверка осуществимости за 30–60 минут</a:t>
            </a:r>
          </a:p>
          <a:p xmlns:a="http://schemas.openxmlformats.org/drawingml/2006/main">
            <a:r>
              <a:t/>
            </a:r>
          </a:p>
          <a:p xmlns:a="http://schemas.openxmlformats.org/drawingml/2006/main">
            <a:r>
              <a:t>**Предусловия:** окружение уже установлено, pretrained weights доступны, разрешённый небольшой набор подготовлен, группировка и labels проверены. Загрузка зависимостей или поиск данных не входят в обещанный час. Цель — подтвердить работоспособность рецепта и измерить ресурсы, не получить финальную accuracy.</a:t>
            </a:r>
          </a:p>
          <a:p xmlns:a="http://schemas.openxmlformats.org/drawingml/2006/main">
            <a:r>
              <a:t/>
            </a:r>
          </a:p>
          <a:p xmlns:a="http://schemas.openxmlformats.org/drawingml/2006/main">
            <a:r>
              <a:t>| Время | Действие | Сохраняемый результат |</a:t>
            </a:r>
          </a:p>
          <a:p xmlns:a="http://schemas.openxmlformats.org/drawingml/2006/main">
            <a:r>
              <a:t>|---|---|---|</a:t>
            </a:r>
          </a:p>
          <a:p xmlns:a="http://schemas.openxmlformats.org/drawingml/2006/main">
            <a:r>
              <a:t>| 0–5 мин | Проверить GPU/compute capability, CUDA/PyTorch, CPU/RAM; осмотреть 32 декодированных фото и labels | Environment и data sanity report |</a:t>
            </a:r>
          </a:p>
          <a:p xmlns:a="http://schemas.openxmlformats.org/drawingml/2006/main">
            <a:r>
              <a:t>| 5–15 мин | B0@224, FP16, microbatch 8/4: 20 warmup и 100 полных train microsteps, включая реальные optimizer updates | Finite loss/scaler, peak memory после update, время, samples/s |</a:t>
            </a:r>
          </a:p>
          <a:p xmlns:a="http://schemas.openxmlformats.org/drawingml/2006/main">
            <a:r>
              <a:t>| 15–25 мин | Fit 32–64 чистых train examples без augmentation | Loss trend; цель sanity check — приблизиться к ≥95% train accuracy, не validation результат |</a:t>
            </a:r>
          </a:p>
          <a:p xmlns:a="http://schemas.openxmlformats.org/drawingml/2006/main">
            <a:r>
              <a:t>| 25–40 мин | Короткий запуск на 512–1024 train images и отдельной validation; остановка по таймеру | Checkpoint, actual steps, confusion matrix |</a:t>
            </a:r>
          </a:p>
          <a:p xmlns:a="http://schemas.openxmlformats.org/drawingml/2006/main">
            <a:r>
              <a:t>| 40–50 мин | Restore checkpoint, ONNX FP32, parity на 32–100 фото, CPU benchmark | Parity report, p50/p95, RSS |</a:t>
            </a:r>
          </a:p>
          <a:p xmlns:a="http://schemas.openxmlformats.org/drawingml/2006/main">
            <a:r>
              <a:t>| 50–60 мин | При оставшемся времени короткий MobileNetV3-Large run; оценить стоимость полной серии | Обоснованный выбор следующего опыта |</a:t>
            </a:r>
          </a:p>
          <a:p xmlns:a="http://schemas.openxmlformats.org/drawingml/2006/main">
            <a:r>
              <a:t/>
            </a:r>
          </a:p>
          <a:p xmlns:a="http://schemas.openxmlformats.org/drawingml/2006/main">
            <a:r>
              <a:t>Здесь microstep означает forward + backward одного физического батча; optimizer update выполняется после accumulation. При 100 измеренных microsteps должны произойти несколько optimizer updates, а peak memory измеряется после них. Последняя неполная accumulation-группа обрабатывается корректно. Рецепт проверяется отдельно на каждом устройстве; успешный desktop run не подтверждает ноутбук.</a:t>
            </a:r>
          </a:p>
          <a:p xmlns:a="http://schemas.openxmlformats.org/drawingml/2006/main">
            <a:r>
              <a:t/>
            </a:r>
          </a:p>
          <a:p xmlns:a="http://schemas.openxmlformats.org/drawingml/2006/main">
            <a:r>
              <a:t>Оценку полного времени получить из фактического числа train batches и средней стоимости microstep, отдельно для head-only/partial этапов; добавить измеренные validation, загрузку данных и checkpoint I/O. Представлять диапазон с условиями. Температура, TGP ноутбука и хранение данных могут изменить результат.</a:t>
            </a:r>
          </a:p>
          <a:p xmlns:a="http://schemas.openxmlformats.org/drawingml/2006/main">
            <a:r>
              <a:t/>
            </a:r>
          </a:p>
          <a:p xmlns:a="http://schemas.openxmlformats.org/drawingml/2006/main">
            <a:r>
              <a:t>## 9. Критерии принятия и остановки</a:t>
            </a:r>
          </a:p>
          <a:p xmlns:a="http://schemas.openxmlformats.org/drawingml/2006/main">
            <a:r>
              <a:t/>
            </a:r>
          </a:p>
          <a:p xmlns:a="http://schemas.openxmlformats.org/drawingml/2006/main">
            <a:r>
              <a:t>### Техническая осуществимость</a:t>
            </a:r>
          </a:p>
          <a:p xmlns:a="http://schemas.openxmlformats.org/drawingml/2006/main">
            <a:r>
              <a:t/>
            </a:r>
          </a:p>
          <a:p xmlns:a="http://schemas.openxmlformats.org/drawingml/2006/main">
            <a:r>
              <a:t>- 100 измеренных train microsteps с optimizer updates проходят без OOM/NaN; пиковая память и фактический запас документированы.</a:t>
            </a:r>
          </a:p>
          <a:p xmlns:a="http://schemas.openxmlformats.org/drawingml/2006/main">
            <a:r>
              <a:t>- На малом чистом наборе существенно падает loss и достигается высокая train accuracy; если нет — исследовать labels, preprocessing, optimizer и freeze, прежде чем масштабировать.</a:t>
            </a:r>
          </a:p>
          <a:p xmlns:a="http://schemas.openxmlformats.org/drawingml/2006/main">
            <a:r>
              <a:t>- Checkpoint восстанавливается; порядок классов и preprocessing идентичен.</a:t>
            </a:r>
          </a:p>
          <a:p xmlns:a="http://schemas.openxmlformats.org/drawingml/2006/main">
            <a:r>
              <a:t>- ONNX проходит согласованный parity gate; CPU inference измерен, а не оценён по FLOPs.</a:t>
            </a:r>
          </a:p>
          <a:p xmlns:a="http://schemas.openxmlformats.org/drawingml/2006/main">
            <a:r>
              <a:t>- Нет обнаруженных пересечений групп между split и конфликтующих class mappings.</a:t>
            </a:r>
          </a:p>
          <a:p xmlns:a="http://schemas.openxmlformats.org/drawingml/2006/main">
            <a:r>
              <a:t/>
            </a:r>
          </a:p>
          <a:p xmlns:a="http://schemas.openxmlformats.org/drawingml/2006/main">
            <a:r>
              <a:t>### Готовность исследовательского результата</a:t>
            </a:r>
          </a:p>
          <a:p xmlns:a="http://schemas.openxmlformats.org/drawingml/2006/main">
            <a:r>
              <a:t/>
            </a:r>
          </a:p>
          <a:p xmlns:a="http://schemas.openxmlformats.org/drawingml/2006/main">
            <a:r>
              <a:t>Сохранены одинаковые условия сравнения, результаты финалистов и разброс seeds, групповые интервалы, внешний/local статус, анализ ошибок и limitation statement. Отсутствие локального теста явно ограничивает выводы. Неудовлетворительный перенос также является результатом, если он корректно измерен.</a:t>
            </a:r>
          </a:p>
          <a:p xmlns:a="http://schemas.openxmlformats.org/drawingml/2006/main">
            <a:r>
              <a:t/>
            </a:r>
          </a:p>
          <a:p xmlns:a="http://schemas.openxmlformats.org/drawingml/2006/main">
            <a:r>
              <a:t>### Готовность диагностической выдачи</a:t>
            </a:r>
          </a:p>
          <a:p xmlns:a="http://schemas.openxmlformats.org/drawingml/2006/main">
            <a:r>
              <a:t/>
            </a:r>
          </a:p>
          <a:p xmlns:a="http://schemas.openxmlformats.org/drawingml/2006/main">
            <a:r>
              <a:t>Требует отдельного согласованного уровня риска/coverage, независимой локальной проверки нужного покрытия и проверенной policy. Эти значения сейчас не известны; поля соответствующих критериев в YAML оставлены `null`. До их определения и проверки нельзя отмечать выпуск как принятый или показывать реальные результаты как валидированную диагностику.</a:t>
            </a:r>
          </a:p>
          <a:p xmlns:a="http://schemas.openxmlformats.org/drawingml/2006/main">
            <a:r>
              <a:t/>
            </a:r>
          </a:p>
          <a:p xmlns:a="http://schemas.openxmlformats.org/drawingml/2006/main">
            <a:r>
              <a:t>### Stop rules</a:t>
            </a:r>
          </a:p>
          <a:p xmlns:a="http://schemas.openxmlformats.org/drawingml/2006/main">
            <a:r>
              <a:t/>
            </a:r>
          </a:p>
          <a:p xmlns:a="http://schemas.openxmlformats.org/drawingml/2006/main">
            <a:r>
              <a:t>- При дублях между splits, противоречивых метках или смене class order — остановить сравнение, исправить данные и пересоздать зафиксированные splits.</a:t>
            </a:r>
          </a:p>
          <a:p xmlns:a="http://schemas.openxmlformats.org/drawingml/2006/main">
            <a:r>
              <a:t>- При OOM — уменьшить microbatch, затем при необходимости frozen/partial backbone или более компактную модель. Не пытаться складывать память двух GPU.</a:t>
            </a:r>
          </a:p>
          <a:p xmlns:a="http://schemas.openxmlformats.org/drawingml/2006/main">
            <a:r>
              <a:t>- При повторных NaN или невозможности fit маленький чистый набор — исправить pipeline до долгого обучения.</a:t>
            </a:r>
          </a:p>
          <a:p xmlns:a="http://schemas.openxmlformats.org/drawingml/2006/main">
            <a:r>
              <a:t>- При падении внешнего/local качества — анализировать данные, разметку и домен; увеличение сети не считается автоматическим решением.</a:t>
            </a:r>
          </a:p>
          <a:p xmlns:a="http://schemas.openxmlformats.org/drawingml/2006/main">
            <a:r>
              <a:t>- При нарушении CPU бюджета после корректного экспорта — проверить provider/threads и компактного кандидата; INT8 принимать только вместе с повторной проверкой качества и отказов.</a:t>
            </a:r>
          </a:p>
          <a:p xmlns:a="http://schemas.openxmlformats.org/drawingml/2006/main">
            <a:r>
              <a:t>- Если detector/segmentation/большая модель не дают устойчивого полезного выигрыша на тех же данных, сохранить более простой pipeline.</a:t>
            </a:r>
          </a:p>
          <a:p xmlns:a="http://schemas.openxmlformats.org/drawingml/2006/main">
            <a:r>
              <a:t/>
            </a:r>
          </a:p>
          <a:p xmlns:a="http://schemas.openxmlformats.org/drawingml/2006/main">
            <a:r>
              <a:t/>
            </a:r>
          </a:p>
          <a:p xmlns:a="http://schemas.openxmlformats.org/drawingml/2006/main">
            <a:r>
              <a:t>Технические первичные источники: https://docs.pytorch.org/docs/stable/amp.html ; https://docs.pytorch.org/vision/stable/models/efficientnet.html ; https://docs.pytorch.org/vision/stable/models/mobilenetv3.html . Нет проведённого обучения, измерения VRAM или доказанного победителя. Accumulation не превращает маленький физический batch в большой BatchNorm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Основной исследовательский вклад: воспроизводимое сравнение компактных моделей, групповые splits, локальный перенос и проверка отказов при ограниченных ресурсах.</a:t>
            </a:r>
          </a:p>
          <a:p xmlns:a="http://schemas.openxmlformats.org/drawingml/2006/main">
            <a:r>
              <a:t>Обучение/выбор модели, calibration и final test раздельны. Test нельзя использовать для thresholds. Показать macro-F1, per-crop/per-class support, confusion, balanced accuracy как дополнительную метрику, healthy ошибки. Calibration: NLL, Brier, ECE/reliability с оговорками, risk–coverage. Протестировать unknown/OOD и неверную культуру, не обещать всеобщий detector OOD. Global_joint scores сохраняют массу культуры и не перенормируются скрыто.</a:t>
            </a:r>
          </a:p>
          <a:p xmlns:a="http://schemas.openxmlformats.org/drawingml/2006/main">
            <a:r>
              <a:t>Системная цель NFR-02: warm p95 от принятого assessment для готового фото до результата ≤5 s, два одновременно активных запроса, 100 валидных фото. Это предложенный target, не измерение. Upload и cold start отдельно. Model-only CPU benchmark: 20 warm-up, 200 measured runs, версия CPU/threads/RSS.</a:t>
            </a:r>
          </a:p>
          <a:p xmlns:a="http://schemas.openxmlformats.org/drawingml/2006/main">
            <a:r>
              <a:t>Формативная UX-цель: не менее 4 из 5 новых участников выполняют основной сценарий за ≤3 min без подсказки. Это будущий тест.</a:t>
            </a:r>
          </a:p>
          <a:p xmlns:a="http://schemas.openxmlformats.org/drawingml/2006/main">
            <a:r>
              <a:t>Источники: https://proceedings.mlr.press/v70/guo17a.html ; https://proceedings.neurips.cc/paper/2019/hash/8558cb408c1d76621371888657d2eb1d-Abstract.html ; https://onnxruntime.ai/docs/performance/model-optimizations/quantization.html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AgroVision: план сдачи и реализации</a:t>
            </a:r>
          </a:p>
          <a:p xmlns:a="http://schemas.openxmlformats.org/drawingml/2006/main">
            <a:r>
              <a:t/>
            </a:r>
          </a:p>
          <a:p xmlns:a="http://schemas.openxmlformats.org/drawingml/2006/main">
            <a:r>
              <a:t>**Дата:** 21 октября 2026 года.  </a:t>
            </a:r>
          </a:p>
          <a:p xmlns:a="http://schemas.openxmlformats.org/drawingml/2006/main">
            <a:r>
              <a:t>**Тема:** An Intelligent Computer Vision System for Plant Disease Diagnosis in Kazakhstan.  </a:t>
            </a:r>
          </a:p>
          <a:p xmlns:a="http://schemas.openxmlformats.org/drawingml/2006/main">
            <a:r>
              <a:t>**Рабочий backlog:** [BACKLOG.csv](BACKLOG.csv), 28 предлагаемых задач.</a:t>
            </a:r>
          </a:p>
          <a:p xmlns:a="http://schemas.openxmlformats.org/drawingml/2006/main">
            <a:r>
              <a:t/>
            </a:r>
          </a:p>
          <a:p xmlns:a="http://schemas.openxmlformats.org/drawingml/2006/main">
            <a:r>
              <a:t>## 1. Два разных результата</a:t>
            </a:r>
          </a:p>
          <a:p xmlns:a="http://schemas.openxmlformats.org/drawingml/2006/main">
            <a:r>
              <a:t/>
            </a:r>
          </a:p>
          <a:p xmlns:a="http://schemas.openxmlformats.org/drawingml/2006/main">
            <a:r>
              <a:t>**К 24 октября** подготовить и проверить исследовательско-проектный пакет: proposal, доказательства актуальности, литературу, аналоги, технические сравнения, требования, архитектуру, mobile-прототип, план оценки, управление проектом и отзыв руководителя. Законченная обученная система на этой стадии не заявляется.</a:t>
            </a:r>
          </a:p>
          <a:p xmlns:a="http://schemas.openxmlformats.org/drawingml/2006/main">
            <a:r>
              <a:t/>
            </a:r>
          </a:p>
          <a:p xmlns:a="http://schemas.openxmlformats.org/drawingml/2006/main">
            <a:r>
              <a:t>**После этого** реализовать и проверить минимальный путь: пользователь Android выбирает культуру, отправляет одно основное фото, получает состояние обработки и предварительный результат либо обоснованный отказ, видит собственную историю. ML сравнивается на фиксированных данных и переносе между условиями. Web остаётся следующей фазой; его UI и код сейчас не разрабатываются.</a:t>
            </a:r>
          </a:p>
          <a:p xmlns:a="http://schemas.openxmlformats.org/drawingml/2006/main">
            <a:r>
              <a:t/>
            </a:r>
          </a:p>
          <a:p xmlns:a="http://schemas.openxmlformats.org/drawingml/2006/main">
            <a:r>
              <a:t>Документы, примеры и макеты в пакете подготовлены для проверки командой. Реальные интервью, комментарии руководителя, задачи YouTrack, кодовые commits, экспериментальные метрики и запуск приложения нельзя объявить завершёнными только потому, что появился этот файл.</a:t>
            </a:r>
          </a:p>
          <a:p xmlns:a="http://schemas.openxmlformats.org/drawingml/2006/main">
            <a:r>
              <a:t/>
            </a:r>
          </a:p>
          <a:p xmlns:a="http://schemas.openxmlformats.org/drawingml/2006/main">
            <a:r>
              <a:t>## 2. Роли и статус задач</a:t>
            </a:r>
          </a:p>
          <a:p xmlns:a="http://schemas.openxmlformats.org/drawingml/2006/main">
            <a:r>
              <a:t/>
            </a:r>
          </a:p>
          <a:p xmlns:a="http://schemas.openxmlformats.org/drawingml/2006/main">
            <a:r>
              <a:t>| Участник | Основная ответственность | Взаимная проверка |</a:t>
            </a:r>
          </a:p>
          <a:p xmlns:a="http://schemas.openxmlformats.org/drawingml/2006/main">
            <a:r>
              <a:t>|---|---|---|</a:t>
            </a:r>
          </a:p>
          <a:p xmlns:a="http://schemas.openxmlformats.org/drawingml/2006/main">
            <a:r>
              <a:t>| **Мақсат** | Software, mobile, backend, инфраструктура, API, интеграция и пользовательский сценарий | Проверяет воспроизводимость ML-артефакта, соответствие контракта и понятность отчётов |</a:t>
            </a:r>
          </a:p>
          <a:p xmlns:a="http://schemas.openxmlformats.org/drawingml/2006/main">
            <a:r>
              <a:t>| **Қайсар** | Данные, онтология, обучение, оценка, локальная проверка, model bundle и исследовательская часть | Проверяет состояния UI/API, границы поддержки, трактовку scores и отсутствие выдуманных ML-обещаний |</a:t>
            </a:r>
          </a:p>
          <a:p xmlns:a="http://schemas.openxmlformats.org/drawingml/2006/main">
            <a:r>
              <a:t/>
            </a:r>
          </a:p>
          <a:p xmlns:a="http://schemas.openxmlformats.org/drawingml/2006/main">
            <a:r>
              <a:t>В CSV у каждой задачи один owner и другой участник как reviewer. Назначения и сроки — предлагаемый рабочий план, который команда сопоставляет с реальной доступностью. В колонках `id_status` и `status` стоит **`proposed`**; `actual_youtrack_id` пуст. Идентификаторы `AGRO-001`…`AGRO-028` существуют только внутри этого плана и **не являются доказательством созданных задач YouTrack**.</a:t>
            </a:r>
          </a:p>
          <a:p xmlns:a="http://schemas.openxmlformats.org/drawingml/2006/main">
            <a:r>
              <a:t/>
            </a:r>
          </a:p>
          <a:p xmlns:a="http://schemas.openxmlformats.org/drawingml/2006/main">
            <a:r>
              <a:t>При переносе сначала проверить существующий проект и задачи, затем сопоставить поля. Если YouTrack выдаст другой ID, записать соответствие `proposed_id → actual_youtrack_id`, не создавать дубликат ради красивого номера. CSV — подготовленный реестр; способ импорта и реальные поля конкретного проекта проверяются отдельно.</a:t>
            </a:r>
          </a:p>
          <a:p xmlns:a="http://schemas.openxmlformats.org/drawingml/2006/main">
            <a:r>
              <a:t/>
            </a:r>
          </a:p>
          <a:p xmlns:a="http://schemas.openxmlformats.org/drawingml/2006/main">
            <a:r>
              <a:t>Приоритеты backlog:</a:t>
            </a:r>
          </a:p>
          <a:p xmlns:a="http://schemas.openxmlformats.org/drawingml/2006/main">
            <a:r>
              <a:t/>
            </a:r>
          </a:p>
          <a:p xmlns:a="http://schemas.openxmlformats.org/drawingml/2006/main">
            <a:r>
              <a:t>- **P0:** материал или внешнее свидетельство, критичное для этапа 24 октября.</a:t>
            </a:r>
          </a:p>
          <a:p xmlns:a="http://schemas.openxmlformats.org/drawingml/2006/main">
            <a:r>
              <a:t>- **P1:** основа первого работающего и проверяемого исследовательского сценария.</a:t>
            </a:r>
          </a:p>
          <a:p xmlns:a="http://schemas.openxmlformats.org/drawingml/2006/main">
            <a:r>
              <a:t>- **P2:** запланированное улучшение, которое можно перенести при ограничении времени, явно изменив scope и зависимые проверки.</a:t>
            </a:r>
          </a:p>
          <a:p xmlns:a="http://schemas.openxmlformats.org/drawingml/2006/main">
            <a:r>
              <a:t/>
            </a:r>
          </a:p>
          <a:p xmlns:a="http://schemas.openxmlformats.org/drawingml/2006/main">
            <a:r>
              <a:t>Это приоритет работы, а не замена Must/Should требований. В `traceability` сохранены ссылки на критерии задания, FR/NFR и исследовательские вопросы.</a:t>
            </a:r>
          </a:p>
          <a:p xmlns:a="http://schemas.openxmlformats.org/drawingml/2006/main">
            <a:r>
              <a:t/>
            </a:r>
          </a:p>
          <a:p xmlns:a="http://schemas.openxmlformats.org/drawingml/2006/main">
            <a:r>
              <a:t>## 3. План до 24 октября</a:t>
            </a:r>
          </a:p>
          <a:p xmlns:a="http://schemas.openxmlformats.org/drawingml/2006/main">
            <a:r>
              <a:t/>
            </a:r>
          </a:p>
          <a:p xmlns:a="http://schemas.openxmlformats.org/drawingml/2006/main">
            <a:r>
              <a:t>| Срок | Мақсат | Қайсар | Что должно остаться как свидетельство |</a:t>
            </a:r>
          </a:p>
          <a:p xmlns:a="http://schemas.openxmlformats.org/drawingml/2006/main">
            <a:r>
              <a:t>|---|---|---|---|</a:t>
            </a:r>
          </a:p>
          <a:p xmlns:a="http://schemas.openxmlformats.org/drawingml/2006/main">
            <a:r>
              <a:t>| **21–22 октября** | Уточнить proposal/scope и состав сдачи; проверить реальные репозиторий/YouTrack и доступы; организовать обсуждения пользователей | Проверить научные источники, версии данных и ограничения; согласовать исследовательские вопросы | Проверенные исходные сведения, источники, действительные ссылки, список приглашённых/состоявшихся обсуждений |</a:t>
            </a:r>
          </a:p>
          <a:p xmlns:a="http://schemas.openxmlformats.org/drawingml/2006/main">
            <a:r>
              <a:t>| **23 октября** | Согласовать требования/API, архитектуру, сравнения и mobile-Figma; внести выводы пользователей | Завершить data policy, baseline/evaluation plan и проверку связности ML/API | Версионированные документы, макеты и exports, журнал изменений требований |</a:t>
            </a:r>
          </a:p>
          <a:p xmlns:a="http://schemas.openxmlformats.org/drawingml/2006/main">
            <a:r>
              <a:t>| **23–24 октября** | Пройти основной сценарий макетов и ссылки пакета; сверить критерии; оформить содержательный software review | Передать конкретный комплект руководителю, получить и обработать замечания; выполнить исследовательское review | Реальный отзыв, решения по замечаниям, review обоих участников |</a:t>
            </a:r>
          </a:p>
          <a:p xmlns:a="http://schemas.openxmlformats.org/drawingml/2006/main">
            <a:r>
              <a:t>| **24 октября** | Зафиксировать точную сдаваемую версию и доступы | Проверить честность исследовательских выводов и статус незакрытых зависимостей | Submission tag, README, список известных ограничений и открытых доказательств |</a:t>
            </a:r>
          </a:p>
          <a:p xmlns:a="http://schemas.openxmlformats.org/drawingml/2006/main">
            <a:r>
              <a:t/>
            </a:r>
          </a:p>
          <a:p xmlns:a="http://schemas.openxmlformats.org/drawingml/2006/main">
            <a:r>
              <a:t>Соответствующие задачи: **AGRO-001–AGRO-011**. Час сдачи 24 октября в текущем запросе не указан; не считать автоматически сроком 23:59. Отдельный ранний срок формы/Word из предыдущего контекста проверяется Мақсатом по фактическому заданию. Microsoft Forms помощником не заполняется; наличие этого пакета не подтверждает сдачу формы или соответствие неизвестному Word-шаблону.</a:t>
            </a:r>
          </a:p>
          <a:p xmlns:a="http://schemas.openxmlformats.org/drawingml/2006/main">
            <a:r>
              <a:t/>
            </a:r>
          </a:p>
          <a:p xmlns:a="http://schemas.openxmlformats.org/drawingml/2006/main">
            <a:r>
              <a:t>**Внешние зависимости нужно начать сразу.** Интервью и отзыв руководителя нельзя гарантировать технической подготовкой файлов. Если к сроку их нет, пакет остаётся полезным, но соответствующий критерий обозначается как незавершённый с конкретным следующим действием. Не заменять реальные ответы синтетическим «интервью».</a:t>
            </a:r>
          </a:p>
          <a:p xmlns:a="http://schemas.openxmlformats.org/drawingml/2006/main">
            <a:r>
              <a:t/>
            </a:r>
          </a:p>
          <a:p xmlns:a="http://schemas.openxmlformats.org/drawingml/2006/main">
            <a:r>
              <a:t>## 4. Реализация: относительные недели и milestones</a:t>
            </a:r>
          </a:p>
          <a:p xmlns:a="http://schemas.openxmlformats.org/drawingml/2006/main">
            <a:r>
              <a:t/>
            </a:r>
          </a:p>
          <a:p xmlns:a="http://schemas.openxmlformats.org/drawingml/2006/main">
            <a:r>
              <a:t>`W1` начинается после того, как доступны свежий код обоих участников, рабочее окружение и согласованный основной scope. Это последовательность ориентировочных рабочих недель, а не обещание календарного завершения за восемь недель. Доступность команды, локальных фотографий и эксперта проверяется отдельно. Более поздние сроки из старых черновиков не считаются автоматически утверждёнными.</a:t>
            </a:r>
          </a:p>
          <a:p xmlns:a="http://schemas.openxmlformats.org/drawingml/2006/main">
            <a:r>
              <a:t/>
            </a:r>
          </a:p>
          <a:p xmlns:a="http://schemas.openxmlformats.org/drawingml/2006/main">
            <a:r>
              <a:t>`depends_on` в backlog указывает результаты, необходимые для завершения задачи. Подготовка может идти раньше: например, mobile строится на явно синтетических fixtures параллельно обучению, но реальная интеграция не закрывается до появления проверенного bundle.</a:t>
            </a:r>
          </a:p>
          <a:p xmlns:a="http://schemas.openxmlformats.org/drawingml/2006/main">
            <a:r>
              <a:t/>
            </a:r>
          </a:p>
          <a:p xmlns:a="http://schemas.openxmlformats.org/drawingml/2006/main">
            <a:r>
              <a:t>| Milestone | Окно | Основные задачи | Проверяемый выход |</a:t>
            </a:r>
          </a:p>
          <a:p xmlns:a="http://schemas.openxmlformats.org/drawingml/2006/main">
            <a:r>
              <a:t>|---|---|---|---|</a:t>
            </a:r>
          </a:p>
          <a:p xmlns:a="http://schemas.openxmlformats.org/drawingml/2006/main">
            <a:r>
              <a:t>| **M0. Проектная основа** | До 24.10 | AGRO-001–011 | Проверенный комплект документов/макетов и явный статус реальных внешних доказательств |</a:t>
            </a:r>
          </a:p>
          <a:p xmlns:a="http://schemas.openxmlformats.org/drawingml/2006/main">
            <a:r>
              <a:t>| **M1. Воспроизводимая рабочая среда** | W1–W2 | AGRO-012–016,019 | Сохранены реальные версии; окружение и данные воспроизводимы; нет утечек split; baseline технически обучается |</a:t>
            </a:r>
          </a:p>
          <a:p xmlns:a="http://schemas.openxmlformats.org/drawingml/2006/main">
            <a:r>
              <a:t>| **M2. Работающий серверный путь** | W2–W3 | AGRO-016–018 | Собственный ready photo создаёт durable assessment; есть idempotency, pinning, recovery и отдельная техническая ошибка |</a:t>
            </a:r>
          </a:p>
          <a:p xmlns:a="http://schemas.openxmlformats.org/drawingml/2006/main">
            <a:r>
              <a:t>| **M3. Обоснованный ML-кандидат** | W3–W5 | AGRO-020–021 | Сопоставлены три backbone; повторены финалисты; измерены внешний перенос и политика отказа без доступа к final local test |</a:t>
            </a:r>
          </a:p>
          <a:p xmlns:a="http://schemas.openxmlformats.org/drawingml/2006/main">
            <a:r>
              <a:t>| **M4. Реальный mobile + ML** | W4–W6 | AGRO-022–024 | Bundle и runtime интегрированы; Android проходит один-photo flow; offline draft проверен, если включён в scope |</a:t>
            </a:r>
          </a:p>
          <a:p xmlns:a="http://schemas.openxmlformats.org/drawingml/2006/main">
            <a:r>
              <a:t>| **M5. Независимая оценка** | W6–W7 | AGRO-025–027 | Надёжность/доступ/UX проверены реально; local test выполнен либо его отсутствие честно ограничивает вывод |</a:t>
            </a:r>
          </a:p>
          <a:p xmlns:a="http://schemas.openxmlformats.org/drawingml/2006/main">
            <a:r>
              <a:t>| **M6. Исследовательская версия** | W8 | AGRO-028 | Воспроизводимый отчёт, известное покрытие, model card, release candidate и реальные review/версионные ссылки |</a:t>
            </a:r>
          </a:p>
          <a:p xmlns:a="http://schemas.openxmlformats.org/drawingml/2006/main">
            <a:r>
              <a:t/>
            </a:r>
          </a:p>
          <a:p xmlns:a="http://schemas.openxmlformats.org/drawingml/2006/main">
            <a:r>
              <a:t>Локальная работа **AGRO-015** идёт с W1 параллельно software и обучению. Пилотные данные помогают уточнить протокол; независимые контрольные группы сохраняются для AGRO-026. Нельзя в последнюю неделю назвать обучающие или уже изученные фотографии новым независимым тестом.</a:t>
            </a:r>
          </a:p>
          <a:p xmlns:a="http://schemas.openxmlformats.org/drawingml/2006/main">
            <a:r>
              <a:t/>
            </a:r>
          </a:p>
          <a:p xmlns:a="http://schemas.openxmlformats.org/drawingml/2006/main">
            <a:r>
              <a:t>### Критические зависимости</a:t>
            </a:r>
          </a:p>
          <a:p xmlns:a="http://schemas.openxmlformats.org/drawingml/2006/main">
            <a:r>
              <a:t/>
            </a:r>
          </a:p>
          <a:p xmlns:a="http://schemas.openxmlformats.org/drawingml/2006/main">
            <a:r>
              <a:t>ML-путь: **аудит данных → manifest/splits → feasibility → сравнение backbone → calibration/отказы → bundle → локальная оценка**. Backend-путь: **схемы/доступ → upload/history → durable job → mobile integration → recovery/ownership tests**. Они соединяются на согласованном API и model bundle.</a:t>
            </a:r>
          </a:p>
          <a:p xmlns:a="http://schemas.openxmlformats.org/drawingml/2006/main">
            <a:r>
              <a:t/>
            </a:r>
          </a:p>
          <a:p xmlns:a="http://schemas.openxmlformats.org/drawingml/2006/main">
            <a:r>
              <a:t>Если локальные данные недоступны, software и публичный benchmark могут продолжаться. Итоговый статус при этом — исследовательский прототип для дальнейшей проверки в Казахстане. Диагностический выпуск не открывается посредством ослабления порога, удаления теста или формального переименования датасета.</a:t>
            </a:r>
          </a:p>
          <a:p xmlns:a="http://schemas.openxmlformats.org/drawingml/2006/main">
            <a:r>
              <a:t/>
            </a:r>
          </a:p>
          <a:p xmlns:a="http://schemas.openxmlformats.org/drawingml/2006/main">
            <a:r>
              <a:t>## 5. Что делать при нехватке времени</a:t>
            </a:r>
          </a:p>
          <a:p xmlns:a="http://schemas.openxmlformats.org/drawingml/2006/main">
            <a:r>
              <a:t/>
            </a:r>
          </a:p>
          <a:p xmlns:a="http://schemas.openxmlformats.org/drawingml/2006/main">
            <a:r>
              <a:t>Сначала сохранять целостность основного пути: один снимок, выбранная культура, устойчивый assessment, объяснимое состояние результата, история, воспроизводимый ML-отчёт. Отложить необязательные модельные расширения, detector/segmentation, DINO/ConvNeXt эксперименты, on-device inference, iOS без доступного устройства и web UI.</a:t>
            </a:r>
          </a:p>
          <a:p xmlns:a="http://schemas.openxmlformats.org/drawingml/2006/main">
            <a:r>
              <a:t/>
            </a:r>
          </a:p>
          <a:p xmlns:a="http://schemas.openxmlformats.org/drawingml/2006/main">
            <a:r>
              <a:t>Управление фермами/полями, пользовательский feedback и экспертная панель остаются отдельными Should-расширениями; необходимая исследовательская разметка может выполняться управляемой таблицей. Offline draft запланирован в AGRO-024, но при переносе эта функция явно исключается из заявленного MVP, а её проверки удаляются только из текущей приёмки с записанным решением. Нельзя описывать непротестированную функцию как выполненную.</a:t>
            </a:r>
          </a:p>
          <a:p xmlns:a="http://schemas.openxmlformats.org/drawingml/2006/main">
            <a:r>
              <a:t/>
            </a:r>
          </a:p>
          <a:p xmlns:a="http://schemas.openxmlformats.org/drawingml/2006/main">
            <a:r>
              <a:t>Изменение scope записывается в задаче и decision log: причина, что переносится, какие FR/NFR затронуты, новый критерий этапа, reviewer. При этом не удаляются неудобные экспериментальные результаты и не ослабляются пороги после просмотра final test.</a:t>
            </a:r>
          </a:p>
          <a:p xmlns:a="http://schemas.openxmlformats.org/drawingml/2006/main">
            <a:r>
              <a:t/>
            </a:r>
          </a:p>
          <a:p xmlns:a="http://schemas.openxmlformats.org/drawingml/2006/main">
            <a:r>
              <a:t>## 6. Реестр основных рисков</a:t>
            </a:r>
          </a:p>
          <a:p xmlns:a="http://schemas.openxmlformats.org/drawingml/2006/main">
            <a:r>
              <a:t/>
            </a:r>
          </a:p>
          <a:p xmlns:a="http://schemas.openxmlformats.org/drawingml/2006/main">
            <a:r>
              <a:t>| Риск / сигнал | Последствие | Действие | Владелец |</a:t>
            </a:r>
          </a:p>
          <a:p xmlns:a="http://schemas.openxmlformats.org/drawingml/2006/main">
            <a:r>
              <a:t>|---|---|---|---|</a:t>
            </a:r>
          </a:p>
          <a:p xmlns:a="http://schemas.openxmlformats.org/drawingml/2006/main">
            <a:r>
              <a:t>| Нет реальных обсуждений к 23 октября | Требования опираются на предположения; критерий актуальности не закрыт | Начать приглашения сразу; фиксировать состоявшиеся обсуждения и открытый статус остальных | Мақсат |</a:t>
            </a:r>
          </a:p>
          <a:p xmlns:a="http://schemas.openxmlformats.org/drawingml/2006/main">
            <a:r>
              <a:t>| Руководитель не успевает дать отзыв | Нельзя подтвердить содержательное рассмотрение | Передать компактный пакет и конкретные вопросы заранее; сохранить полученные замечания, не подменять их запросом | Қайсар |</a:t>
            </a:r>
          </a:p>
          <a:p xmlns:a="http://schemas.openxmlformats.org/drawingml/2006/main">
            <a:r>
              <a:t>| Свежий код расходится между участниками | Потеря полезной работы или неработающий merge | Приватные snapshots обеих версий; обзор entry points; небольшие PR вместо ZIP-перезаписи | Мақсат |</a:t>
            </a:r>
          </a:p>
          <a:p xmlns:a="http://schemas.openxmlformats.org/drawingml/2006/main">
            <a:r>
              <a:t>| Лицензия/доступ набора не подтверждены | Корпус нельзя использовать или распространять выбранным способом | Версия и условия в manifest; спорный источник не включать как доступный по умолчанию | Қайсар |</a:t>
            </a:r>
          </a:p>
          <a:p xmlns:a="http://schemas.openxmlformats.org/drawingml/2006/main">
            <a:r>
              <a:t>| Дубли, патчи одного листа или web overlap между split | Завышенная оценка качества | Dedup и grouping до split; фиксированный split_group_id; независимый source/local test | Қайсар |</a:t>
            </a:r>
          </a:p>
          <a:p xmlns:a="http://schemas.openxmlformats.org/drawingml/2006/main">
            <a:r>
              <a:t>| Болезни, симптомы и вредители смешаны в labels | Неверный смысл диагноза и несовместимая онтология | Канонические condition_type; агрономическое уточнение неоднозначных меток; unresolved при недостатке оснований | Қайсар |</a:t>
            </a:r>
          </a:p>
          <a:p xmlns:a="http://schemas.openxmlformats.org/drawingml/2006/main">
            <a:r>
              <a:t>| Нет местных фото, эксперта или сезонного доступа | Не проверено применение в Казахстане | Начать AGRO-015 в W1; разделить pilot/final groups; ограничить scope и формулировку результата | Қайсар |</a:t>
            </a:r>
          </a:p>
          <a:p xmlns:a="http://schemas.openxmlformats.org/drawingml/2006/main">
            <a:r>
              <a:t>| OOM, медленное обучение, тепловое ограничение ноутбука | Невыполнимый бюджет эксперимента | 100-step feasibility; уменьшить microbatch; FP16/partial fine-tuning; независимые задачи на двух GPU | Қайсар |</a:t>
            </a:r>
          </a:p>
          <a:p xmlns:a="http://schemas.openxmlformats.org/drawingml/2006/main">
            <a:r>
              <a:t>| Уверенный ответ на иной домен или неверную культуру | Ошибочный пользовательский вывод | Global score space, сохранение crop mass, calibration/risk–coverage и проверяемый отказ; никакого произвольного confidence cutoff | Қайсар |</a:t>
            </a:r>
          </a:p>
          <a:p xmlns:a="http://schemas.openxmlformats.org/drawingml/2006/main">
            <a:r>
              <a:t>| Сбой worker/сети и повторы создают дубли | Ненадёжная история и несогласованный результат | Idempotency, immutable model pinning, lease fencing, restart/lost-response tests | Мақсат |</a:t>
            </a:r>
          </a:p>
          <a:p xmlns:a="http://schemas.openxmlformats.org/drawingml/2006/main">
            <a:r>
              <a:t>| ONNX меняет preprocessing/labels или не даёт нужной скорости | Результат deployment не соответствует исследованию | Проверить parity и hardware benchmark; допустим обоснованный PyTorch fallback, затем компактная модель | Қайсар |</a:t>
            </a:r>
          </a:p>
          <a:p xmlns:a="http://schemas.openxmlformats.org/drawingml/2006/main">
            <a:r>
              <a:t>| Расширение scope вытесняет основной сценарий | Много незавершённых компонентов | Один vertical slice; отдельные Should; ограничить работу в процессе; переносить расширения с записанным решением | Мақсат |</a:t>
            </a:r>
          </a:p>
          <a:p xmlns:a="http://schemas.openxmlformats.org/drawingml/2006/main">
            <a:r>
              <a:t/>
            </a:r>
          </a:p>
          <a:p xmlns:a="http://schemas.openxmlformats.org/drawingml/2006/main">
            <a:r>
              <a:t>## 7. Простой Git/YouTrack-процесс для двух человек</a:t>
            </a:r>
          </a:p>
          <a:p xmlns:a="http://schemas.openxmlformats.org/drawingml/2006/main">
            <a:r>
              <a:t/>
            </a:r>
          </a:p>
          <a:p xmlns:a="http://schemas.openxmlformats.org/drawingml/2006/main">
            <a:r>
              <a:t>### Перед первой задачей</a:t>
            </a:r>
          </a:p>
          <a:p xmlns:a="http://schemas.openxmlformats.org/drawingml/2006/main">
            <a:r>
              <a:t/>
            </a:r>
          </a:p>
          <a:p xmlns:a="http://schemas.openxmlformats.org/drawingml/2006/main">
            <a:r>
              <a:t>Сохранить текущую работу обоих участников; выбрать один продолжающийся репозиторий. Каждый использует собственный аккаунт и собственные `user.name`/`user.email` в Git. Не настраивать чужое авторство и не создавать задним числом искусственную историю. Git хранит имя и email в commits; область настроек может быть локальной для репозитория. [Официальный Pro Git: First-Time Git Setup](https://git-scm.com/book/en/v2/Getting-Started-First-Time-Git-Setup).</a:t>
            </a:r>
          </a:p>
          <a:p xmlns:a="http://schemas.openxmlformats.org/drawingml/2006/main">
            <a:r>
              <a:t/>
            </a:r>
          </a:p>
          <a:p xmlns:a="http://schemas.openxmlformats.org/drawingml/2006/main">
            <a:r>
              <a:t>Одна простая доска: **To do → In progress → Review → Done**, с отдельной видимой отметкой Blocked и причиной. Это предлагаемый workflow, не утверждение о текущей настройке YouTrack. Одновременно у каждого одна основная задача; короткая проверка или ответ reviewer не требует нового большого направления.</a:t>
            </a:r>
          </a:p>
          <a:p xmlns:a="http://schemas.openxmlformats.org/drawingml/2006/main">
            <a:r>
              <a:t/>
            </a:r>
          </a:p>
          <a:p xmlns:a="http://schemas.openxmlformats.org/drawingml/2006/main">
            <a:r>
              <a:t>### Одна задача от начала до приёмки</a:t>
            </a:r>
          </a:p>
          <a:p xmlns:a="http://schemas.openxmlformats.org/drawingml/2006/main">
            <a:r>
              <a:t/>
            </a:r>
          </a:p>
          <a:p xmlns:a="http://schemas.openxmlformats.org/drawingml/2006/main">
            <a:r>
              <a:t>1. Открыть **реальную** задачу YouTrack: owner, результат, проверка и зависимости понятны. Уточнить связь с FR/NFR или исследовательским вопросом.</a:t>
            </a:r>
          </a:p>
          <a:p xmlns:a="http://schemas.openxmlformats.org/drawingml/2006/main">
            <a:r>
              <a:t>2. Создать небольшую ветку от актуальной основной версии. В имени использовать actual issue ID, например `feature/&lt;actual-id&gt;-assessment-idempotency`, после реального сопоставления IDs.</a:t>
            </a:r>
          </a:p>
          <a:p xmlns:a="http://schemas.openxmlformats.org/drawingml/2006/main">
            <a:r>
              <a:t>3. Делать осмысленные commits по мере работы; включать actual issue ID в message. Документы и схемы также версионируются. Датасеты, большие веса, личные фото и секреты не попадают в Git вместо manifest/artifact references.</a:t>
            </a:r>
          </a:p>
          <a:p xmlns:a="http://schemas.openxmlformats.org/drawingml/2006/main">
            <a:r>
              <a:t>4. Открыть PR/MR: проблема, изменение, результат, проверка, ограничения и ссылка на задачу. Для ML приложить run/config/split/bundle IDs; для API — изменённые schemas/fixtures и поведение ошибки.</a:t>
            </a:r>
          </a:p>
          <a:p xmlns:a="http://schemas.openxmlformats.org/drawingml/2006/main">
            <a:r>
              <a:t>5. Второй участник читает diff и проверяет критерий, оставляет содержательный отзыв. Его review не заменяется автоматическим «всё хорошо» без просмотра.</a:t>
            </a:r>
          </a:p>
          <a:p xmlns:a="http://schemas.openxmlformats.org/drawingml/2006/main">
            <a:r>
              <a:t>6. После исправлений и приёмки объединить изменение; добавить в задачу PR/commit, отчёт или артефакт. Только затем перевести в Done.</a:t>
            </a:r>
          </a:p>
          <a:p xmlns:a="http://schemas.openxmlformats.org/drawingml/2006/main">
            <a:r>
              <a:t/>
            </a:r>
          </a:p>
          <a:p xmlns:a="http://schemas.openxmlformats.org/drawingml/2006/main">
            <a:r>
              <a:t>PR позволяет обсуждать и проверять изменение до merge; это обычный механизм совместной работы, а не только финальная загрузка проекта. [GitHub: Pull requests](https://docs.github.com/en/pull-requests/reference/pull-requests).</a:t>
            </a:r>
          </a:p>
          <a:p xmlns:a="http://schemas.openxmlformats.org/drawingml/2006/main">
            <a:r>
              <a:t/>
            </a:r>
          </a:p>
          <a:p xmlns:a="http://schemas.openxmlformats.org/drawingml/2006/main">
            <a:r>
              <a:t>YouTrack умеет связывать commits и PR/MR с issue IDs при настроенной VCS integration. До её проверки сохранять ссылки вручную; наличие ID в локальном CSV само по себе не включает интеграцию. Автоматические команды смены статуса из commit messages не требуются для первого простого процесса. [YouTrack: VCS Integration](https://www.jetbrains.com/help/youtrack/cloud/integration-with-version-control-systems.html).</a:t>
            </a:r>
          </a:p>
          <a:p xmlns:a="http://schemas.openxmlformats.org/drawingml/2006/main">
            <a:r>
              <a:t/>
            </a:r>
          </a:p>
          <a:p xmlns:a="http://schemas.openxmlformats.org/drawingml/2006/main">
            <a:r>
              <a:t>### Минимальная трассировка</a:t>
            </a:r>
          </a:p>
          <a:p xmlns:a="http://schemas.openxmlformats.org/drawingml/2006/main">
            <a:r>
              <a:t/>
            </a:r>
          </a:p>
          <a:p xmlns:a="http://schemas.openxmlformats.org/drawingml/2006/main">
            <a:r>
              <a:t>`требование / гипотеза → actual YouTrack issue → branch / commit → PR/MR + review → проверка / отчёт → milestone tag`.</a:t>
            </a:r>
          </a:p>
          <a:p xmlns:a="http://schemas.openxmlformats.org/drawingml/2006/main">
            <a:r>
              <a:t/>
            </a:r>
          </a:p>
          <a:p xmlns:a="http://schemas.openxmlformats.org/drawingml/2006/main">
            <a:r>
              <a:t>В задаче хранится ссылка на PR и результат; в PR — ссылка на задачу и затронутые FR/NFR/H. В ML-отчёте — commit, config, source/split hashes, seeds и артефакт. Для сдачи tag указывает точную проверенную версию; ранее сданный tag не передвигается ради скрытого исправления. Новое исправление получает новый commit и при необходимости новый tag.</a:t>
            </a:r>
          </a:p>
          <a:p xmlns:a="http://schemas.openxmlformats.org/drawingml/2006/main">
            <a:r>
              <a:t/>
            </a:r>
          </a:p>
          <a:p xmlns:a="http://schemas.openxmlformats.org/drawingml/2006/main">
            <a:r>
              <a:t>## 8. Общий Definition of Done</a:t>
            </a:r>
          </a:p>
          <a:p xmlns:a="http://schemas.openxmlformats.org/drawingml/2006/main">
            <a:r>
              <a:t/>
            </a:r>
          </a:p>
          <a:p xmlns:a="http://schemas.openxmlformats.org/drawingml/2006/main">
            <a:r>
              <a:t>Задача завершена, когда её результат существует, критерий проверен указанным способом, другой участник выполнил содержательное review, документация/контракт обновлены при необходимости, а действительные ссылки на изменение и свидетельство сохранены. Если остаётся блокирующее условие, статус отражает его; `proposed`, `prepared` и `measured` не подменяют друг друга.</a:t>
            </a:r>
          </a:p>
          <a:p xmlns:a="http://schemas.openxmlformats.org/drawingml/2006/main">
            <a:r>
              <a:t/>
            </a:r>
          </a:p>
          <a:p xmlns:a="http://schemas.openxmlformats.org/drawingml/2006/main">
            <a:r>
              <a:t>Для документов достаточно содержательной проверки и согласованности с пакетом. Для software нужны реальные проверки поведения. Для ML нужны сохранённые запуски и честный протокол. Для интервью и отзыва нужны состоявшиеся внешние действия. Для диагностического выпуска нужны отдельно определённые и выполненные условия валидации; готовность исследовательского отчёта не равна готовности выдавать подтверждённые диагнозы.</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Покрытие 11 пунктов задания: proposal слайды 1–2; evidence of relevance слайд 3; literature слайд 4; existing systems слайд 5 и полный appendix в notes; technology decisions слайд 6 и notes; requirements слайд 7; context/component/use-case slides 8–11; UX слайд 12; verification/evaluation 13–14; management/risks 15; supervisor feedback 16.</a:t>
            </a:r>
          </a:p>
          <a:p xmlns:a="http://schemas.openxmlformats.org/drawingml/2006/main">
            <a:r>
              <a:t>Supervisor feedback пока не получен и не придуман. Команда должна передать руководителю конкретный пакет, сохранить реальные замечания и показать resulting changes. Назначение руководителя не равно рассмотрению или одобрению. Git/YouTrack нужно подтвердить настоящими ссылками, задачами, commits и review. Внешние действия не выполнены помощником.</a:t>
            </a:r>
          </a:p>
          <a:p xmlns:a="http://schemas.openxmlformats.org/drawingml/2006/main">
            <a:r>
              <a:t>Цель этапа 24 октября — подготовка анализа/проектирования/планирования, законченное приложение не требуется. Ранний срок формы/Word необходимо сверить с фактическим заданием отдельно.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c6b6a8f12642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5f02977f684b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36c9352aae4e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d8a8895def42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f3d44ea24f4f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53ffbe19174b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01255D-98BC-4907-8710-3B903D076DAA}"/>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E7ACFC-7766-418D-BAE3-78CEE50C708F}"/>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59FF44-AC77-4055-A8F9-E269BF0B85CE}"/>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FB5C16-954E-4F82-93AC-AE19DA6A3F14}"/>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69356F-39C9-4577-9165-E4EC13D3828E}"/>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4A4261D-E9F6-4EAA-AF3E-843ED76F2715}"/>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873D78-17C9-4DCE-ADA6-C8A6B51404E2}"/>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2776AA-8354-44A0-B21F-8E9E8E7DAD52}"/>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0CE8EB-8909-4E94-9035-6FBB74FFB71D}"/>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6687C5-06AF-42C2-850B-C24742B26D42}"/>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c6fb81c55743fe" /><Relationship Type="http://schemas.openxmlformats.org/officeDocument/2006/relationships/slideLayout" Target="/ppt/slideLayouts/slideLayout1.xml" Id="R53105e1f6921446c" /><Relationship Type="http://schemas.openxmlformats.org/officeDocument/2006/relationships/slideLayout" Target="/ppt/slideLayouts/slideLayout2.xml" Id="Rf9163f3de6484caa" /><Relationship Type="http://schemas.openxmlformats.org/officeDocument/2006/relationships/slideLayout" Target="/ppt/slideLayouts/slideLayout3.xml" Id="R647259eec1354c19" /><Relationship Type="http://schemas.openxmlformats.org/officeDocument/2006/relationships/slideLayout" Target="/ppt/slideLayouts/slideLayout4.xml" Id="Rb4db47fb0aff4f2a" /><Relationship Type="http://schemas.openxmlformats.org/officeDocument/2006/relationships/slideLayout" Target="/ppt/slideLayouts/slideLayout5.xml" Id="Rb87dc7b098d84228" /><Relationship Type="http://schemas.openxmlformats.org/officeDocument/2006/relationships/slideLayout" Target="/ppt/slideLayouts/slideLayout6.xml" Id="R50a032cdbf024e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105e1f6921446c"/>
    <p:sldLayoutId xmlns:r="http://schemas.openxmlformats.org/officeDocument/2006/relationships" id="2147483650" r:id="Rf9163f3de6484caa"/>
    <p:sldLayoutId xmlns:r="http://schemas.openxmlformats.org/officeDocument/2006/relationships" id="2147483651" r:id="R647259eec1354c19"/>
    <p:sldLayoutId xmlns:r="http://schemas.openxmlformats.org/officeDocument/2006/relationships" id="2147483652" r:id="Rb4db47fb0aff4f2a"/>
    <p:sldLayoutId xmlns:r="http://schemas.openxmlformats.org/officeDocument/2006/relationships" id="2147483653" r:id="Rb87dc7b098d84228"/>
    <p:sldLayoutId xmlns:r="http://schemas.openxmlformats.org/officeDocument/2006/relationships" id="2147483654" r:id="R50a032cdbf024e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d52a5b76694d33" /><Relationship Type="http://schemas.openxmlformats.org/officeDocument/2006/relationships/notesSlide" Target="/ppt/notesSlides/notesSlide1.xml" Id="Rd28dc4951b864d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483eace2f4c475a" /><Relationship Type="http://schemas.openxmlformats.org/officeDocument/2006/relationships/notesSlide" Target="/ppt/notesSlides/notesSlide2.xml" Id="Rf918ea4a968e42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0bb531320e24f9f" /><Relationship Type="http://schemas.openxmlformats.org/officeDocument/2006/relationships/notesSlide" Target="/ppt/notesSlides/notesSlide3.xml" Id="R6ed48186d13d4c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decd83cb524e52" /><Relationship Type="http://schemas.openxmlformats.org/officeDocument/2006/relationships/notesSlide" Target="/ppt/notesSlides/notesSlide4.xml" Id="R41985c44879745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81cae980704f17" /><Relationship Type="http://schemas.openxmlformats.org/officeDocument/2006/relationships/notesSlide" Target="/ppt/notesSlides/notesSlide5.xml" Id="Rb8a0f788bb1441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788d78914694c08" /><Relationship Type="http://schemas.openxmlformats.org/officeDocument/2006/relationships/notesSlide" Target="/ppt/notesSlides/notesSlide6.xml" Id="Rc103b83cff924a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18bfa0a438418b" /><Relationship Type="http://schemas.openxmlformats.org/officeDocument/2006/relationships/notesSlide" Target="/ppt/notesSlides/notesSlide7.xml" Id="R61210c5447194e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c58a4de9674cf0" /><Relationship Type="http://schemas.openxmlformats.org/officeDocument/2006/relationships/image" Target="/ppt/media/image.png" Id="Ra8a02157794041ea" /><Relationship Type="http://schemas.openxmlformats.org/officeDocument/2006/relationships/notesSlide" Target="/ppt/notesSlides/notesSlide8.xml" Id="R0a07c86441e742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6436a48e95944a0" /><Relationship Type="http://schemas.openxmlformats.org/officeDocument/2006/relationships/image" Target="/ppt/media/image2.png" Id="Rccaf6b10da834f7d" /><Relationship Type="http://schemas.openxmlformats.org/officeDocument/2006/relationships/notesSlide" Target="/ppt/notesSlides/notesSlide9.xml" Id="Rd34d489b63ba46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d832e5350e4488" /><Relationship Type="http://schemas.openxmlformats.org/officeDocument/2006/relationships/image" Target="/ppt/media/image3.png" Id="R1ded324831f74ac9" /><Relationship Type="http://schemas.openxmlformats.org/officeDocument/2006/relationships/notesSlide" Target="/ppt/notesSlides/notesSlide10.xml" Id="R0551a236f91f4a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82dfabf594b40e5" /><Relationship Type="http://schemas.openxmlformats.org/officeDocument/2006/relationships/image" Target="/ppt/media/image4.png" Id="Rc502b9090cde43ad" /><Relationship Type="http://schemas.openxmlformats.org/officeDocument/2006/relationships/notesSlide" Target="/ppt/notesSlides/notesSlide11.xml" Id="Rd9f130d4e37e4c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3f7508aa514ba4" /><Relationship Type="http://schemas.openxmlformats.org/officeDocument/2006/relationships/image" Target="/ppt/media/image5.png" Id="Rc7e8af828ed64a2c" /><Relationship Type="http://schemas.openxmlformats.org/officeDocument/2006/relationships/image" Target="/ppt/media/image6.png" Id="R3fae46d9ef4c4b4c" /><Relationship Type="http://schemas.openxmlformats.org/officeDocument/2006/relationships/image" Target="/ppt/media/image7.png" Id="R6a9d62aaebcf4712" /><Relationship Type="http://schemas.openxmlformats.org/officeDocument/2006/relationships/image" Target="/ppt/media/image8.png" Id="Rae70026b5d764f33" /><Relationship Type="http://schemas.openxmlformats.org/officeDocument/2006/relationships/notesSlide" Target="/ppt/notesSlides/notesSlide12.xml" Id="Reab62cbeba0d4a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ce652bd6a14a6d" /><Relationship Type="http://schemas.openxmlformats.org/officeDocument/2006/relationships/notesSlide" Target="/ppt/notesSlides/notesSlide13.xml" Id="R86fe26bdd1594d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d030098e77246ce" /><Relationship Type="http://schemas.openxmlformats.org/officeDocument/2006/relationships/notesSlide" Target="/ppt/notesSlides/notesSlide14.xml" Id="R837ed5e834e441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2423ba6628421b" /><Relationship Type="http://schemas.openxmlformats.org/officeDocument/2006/relationships/notesSlide" Target="/ppt/notesSlides/notesSlide15.xml" Id="R56b0bb06c87c45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9d712d775524796" /><Relationship Type="http://schemas.openxmlformats.org/officeDocument/2006/relationships/notesSlide" Target="/ppt/notesSlides/notesSlide16.xml" Id="R284d4217e49b41a5" /></Relationships>
</file>

<file path=ppt/slides/slide1.xml><?xml version="1.0" encoding="utf-8"?>
<p:sld xmlns:p="http://schemas.openxmlformats.org/presentationml/2006/main">
  <p:cSld>
    <p:bg>
      <p:bgPr>
        <a:solidFill xmlns:a="http://schemas.openxmlformats.org/drawingml/2006/main">
          <a:srgbClr val="173F32"/>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4EABD504-4013-428B-A043-9B3C938EB494}"/>
              </a:ext>
            </a:extLst>
          </p:cNvPr>
          <p:cNvSpPr>
            <a:spLocks xmlns:a="http://schemas.openxmlformats.org/drawingml/2006/main" noGrp="1"/>
          </p:cNvSpPr>
          <p:nvPr/>
        </p:nvSpPr>
        <p:spPr>
          <a:xfrm xmlns:a="http://schemas.openxmlformats.org/drawingml/2006/main">
            <a:off x="723900" y="857250"/>
            <a:ext cx="11811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450" b="1">
                <a:solidFill>
                  <a:srgbClr val="F6F3EB"/>
                </a:solidFill>
                <a:latin typeface="DejaVu Sans"/>
                <a:ea typeface="DejaVu Sans"/>
                <a:cs typeface="DejaVu Sans"/>
              </a:defRPr>
            </a:defPPr>
            <a:lvl1pPr algn="l">
              <a:defRPr sz="6450" b="1">
                <a:solidFill>
                  <a:srgbClr val="F6F3EB"/>
                </a:solidFill>
                <a:latin typeface="DejaVu Sans"/>
                <a:ea typeface="DejaVu Sans"/>
                <a:cs typeface="DejaVu Sans"/>
              </a:defRPr>
            </a:lvl1pPr>
            <a:lvl2pPr algn="l">
              <a:defRPr sz="6450" b="1">
                <a:solidFill>
                  <a:srgbClr val="F6F3EB"/>
                </a:solidFill>
                <a:latin typeface="DejaVu Sans"/>
                <a:ea typeface="DejaVu Sans"/>
                <a:cs typeface="DejaVu Sans"/>
              </a:defRPr>
            </a:lvl2pPr>
            <a:lvl3pPr algn="l">
              <a:defRPr sz="6450" b="1">
                <a:solidFill>
                  <a:srgbClr val="F6F3EB"/>
                </a:solidFill>
                <a:latin typeface="DejaVu Sans"/>
                <a:ea typeface="DejaVu Sans"/>
                <a:cs typeface="DejaVu Sans"/>
              </a:defRPr>
            </a:lvl3pPr>
            <a:lvl4pPr algn="l">
              <a:defRPr sz="6450" b="1">
                <a:solidFill>
                  <a:srgbClr val="F6F3EB"/>
                </a:solidFill>
                <a:latin typeface="DejaVu Sans"/>
                <a:ea typeface="DejaVu Sans"/>
                <a:cs typeface="DejaVu Sans"/>
              </a:defRPr>
            </a:lvl4pPr>
            <a:lvl5pPr algn="l">
              <a:defRPr sz="6450" b="1">
                <a:solidFill>
                  <a:srgbClr val="F6F3EB"/>
                </a:solidFill>
                <a:latin typeface="DejaVu Sans"/>
                <a:ea typeface="DejaVu Sans"/>
                <a:cs typeface="DejaVu Sans"/>
              </a:defRPr>
            </a:lvl5pPr>
            <a:lvl6pPr algn="l">
              <a:defRPr sz="6450" b="1">
                <a:solidFill>
                  <a:srgbClr val="F6F3EB"/>
                </a:solidFill>
                <a:latin typeface="DejaVu Sans"/>
                <a:ea typeface="DejaVu Sans"/>
                <a:cs typeface="DejaVu Sans"/>
              </a:defRPr>
            </a:lvl6pPr>
            <a:lvl7pPr algn="l">
              <a:defRPr sz="6450" b="1">
                <a:solidFill>
                  <a:srgbClr val="F6F3EB"/>
                </a:solidFill>
                <a:latin typeface="DejaVu Sans"/>
                <a:ea typeface="DejaVu Sans"/>
                <a:cs typeface="DejaVu Sans"/>
              </a:defRPr>
            </a:lvl7pPr>
            <a:lvl8pPr algn="l">
              <a:defRPr sz="6450" b="1">
                <a:solidFill>
                  <a:srgbClr val="F6F3EB"/>
                </a:solidFill>
                <a:latin typeface="DejaVu Sans"/>
                <a:ea typeface="DejaVu Sans"/>
                <a:cs typeface="DejaVu Sans"/>
              </a:defRPr>
            </a:lvl8pPr>
            <a:lvl9pPr algn="l">
              <a:defRPr sz="6450" b="1">
                <a:solidFill>
                  <a:srgbClr val="F6F3EB"/>
                </a:solidFill>
                <a:latin typeface="DejaVu Sans"/>
                <a:ea typeface="DejaVu Sans"/>
                <a:cs typeface="DejaVu Sans"/>
              </a:defRPr>
            </a:lvl9pPr>
          </a:lstStyle>
          <a:p xmlns:a="http://schemas.openxmlformats.org/drawingml/2006/main">
            <a:pPr algn="l">
              <a:lnSpc>
                <a:spcPct val="108000"/>
              </a:lnSpc>
              <a:buNone/>
              <a:defRPr sz="6450" b="1">
                <a:solidFill>
                  <a:srgbClr val="F6F3EB"/>
                </a:solidFill>
                <a:latin typeface="DejaVu Sans"/>
                <a:ea typeface="DejaVu Sans"/>
                <a:cs typeface="DejaVu Sans"/>
              </a:defRPr>
            </a:pPr>
            <a:r>
              <a:rPr sz="6450" b="1">
                <a:solidFill>
                  <a:srgbClr val="F6F3EB"/>
                </a:solidFill>
                <a:latin typeface="DejaVu Sans"/>
                <a:ea typeface="DejaVu Sans"/>
                <a:cs typeface="DejaVu Sans"/>
              </a:rPr>
              <a:t>AgroVision</a:t>
            </a:r>
          </a:p>
        </p:txBody>
      </p:sp>
      <p:sp>
        <p:nvSpPr>
          <p:cNvPr id="2" name="official-title">
            <a:extLst xmlns:a="http://schemas.openxmlformats.org/drawingml/2006/main">
              <a:ext uri="{FF2B5EF4-FFF2-40B4-BE49-F238E27FC236}">
                <a16:creationId xmlns:a16="http://schemas.microsoft.com/office/drawing/2014/main" id="{9C64ECBD-3FAD-4D70-858E-2CE7DABA4C3B}"/>
              </a:ext>
            </a:extLst>
          </p:cNvPr>
          <p:cNvSpPr>
            <a:spLocks xmlns:a="http://schemas.openxmlformats.org/drawingml/2006/main" noGrp="1"/>
          </p:cNvSpPr>
          <p:nvPr/>
        </p:nvSpPr>
        <p:spPr>
          <a:xfrm xmlns:a="http://schemas.openxmlformats.org/drawingml/2006/main">
            <a:off x="723900" y="2381250"/>
            <a:ext cx="120967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0">
                <a:solidFill>
                  <a:srgbClr val="F6F3EB"/>
                </a:solidFill>
                <a:latin typeface="DejaVu Sans"/>
                <a:ea typeface="DejaVu Sans"/>
                <a:cs typeface="DejaVu Sans"/>
              </a:defRPr>
            </a:defPPr>
            <a:lvl1pPr algn="l">
              <a:defRPr sz="3600" b="0">
                <a:solidFill>
                  <a:srgbClr val="F6F3EB"/>
                </a:solidFill>
                <a:latin typeface="DejaVu Sans"/>
                <a:ea typeface="DejaVu Sans"/>
                <a:cs typeface="DejaVu Sans"/>
              </a:defRPr>
            </a:lvl1pPr>
            <a:lvl2pPr algn="l">
              <a:defRPr sz="3600" b="0">
                <a:solidFill>
                  <a:srgbClr val="F6F3EB"/>
                </a:solidFill>
                <a:latin typeface="DejaVu Sans"/>
                <a:ea typeface="DejaVu Sans"/>
                <a:cs typeface="DejaVu Sans"/>
              </a:defRPr>
            </a:lvl2pPr>
            <a:lvl3pPr algn="l">
              <a:defRPr sz="3600" b="0">
                <a:solidFill>
                  <a:srgbClr val="F6F3EB"/>
                </a:solidFill>
                <a:latin typeface="DejaVu Sans"/>
                <a:ea typeface="DejaVu Sans"/>
                <a:cs typeface="DejaVu Sans"/>
              </a:defRPr>
            </a:lvl3pPr>
            <a:lvl4pPr algn="l">
              <a:defRPr sz="3600" b="0">
                <a:solidFill>
                  <a:srgbClr val="F6F3EB"/>
                </a:solidFill>
                <a:latin typeface="DejaVu Sans"/>
                <a:ea typeface="DejaVu Sans"/>
                <a:cs typeface="DejaVu Sans"/>
              </a:defRPr>
            </a:lvl4pPr>
            <a:lvl5pPr algn="l">
              <a:defRPr sz="3600" b="0">
                <a:solidFill>
                  <a:srgbClr val="F6F3EB"/>
                </a:solidFill>
                <a:latin typeface="DejaVu Sans"/>
                <a:ea typeface="DejaVu Sans"/>
                <a:cs typeface="DejaVu Sans"/>
              </a:defRPr>
            </a:lvl5pPr>
            <a:lvl6pPr algn="l">
              <a:defRPr sz="3600" b="0">
                <a:solidFill>
                  <a:srgbClr val="F6F3EB"/>
                </a:solidFill>
                <a:latin typeface="DejaVu Sans"/>
                <a:ea typeface="DejaVu Sans"/>
                <a:cs typeface="DejaVu Sans"/>
              </a:defRPr>
            </a:lvl6pPr>
            <a:lvl7pPr algn="l">
              <a:defRPr sz="3600" b="0">
                <a:solidFill>
                  <a:srgbClr val="F6F3EB"/>
                </a:solidFill>
                <a:latin typeface="DejaVu Sans"/>
                <a:ea typeface="DejaVu Sans"/>
                <a:cs typeface="DejaVu Sans"/>
              </a:defRPr>
            </a:lvl7pPr>
            <a:lvl8pPr algn="l">
              <a:defRPr sz="3600" b="0">
                <a:solidFill>
                  <a:srgbClr val="F6F3EB"/>
                </a:solidFill>
                <a:latin typeface="DejaVu Sans"/>
                <a:ea typeface="DejaVu Sans"/>
                <a:cs typeface="DejaVu Sans"/>
              </a:defRPr>
            </a:lvl8pPr>
            <a:lvl9pPr algn="l">
              <a:defRPr sz="3600" b="0">
                <a:solidFill>
                  <a:srgbClr val="F6F3EB"/>
                </a:solidFill>
                <a:latin typeface="DejaVu Sans"/>
                <a:ea typeface="DejaVu Sans"/>
                <a:cs typeface="DejaVu Sans"/>
              </a:defRPr>
            </a:lvl9pPr>
          </a:lstStyle>
          <a:p xmlns:a="http://schemas.openxmlformats.org/drawingml/2006/main">
            <a:pPr algn="l">
              <a:lnSpc>
                <a:spcPct val="108000"/>
              </a:lnSpc>
              <a:buNone/>
              <a:defRPr sz="3600" b="0">
                <a:solidFill>
                  <a:srgbClr val="F6F3EB"/>
                </a:solidFill>
                <a:latin typeface="DejaVu Sans"/>
                <a:ea typeface="DejaVu Sans"/>
                <a:cs typeface="DejaVu Sans"/>
              </a:defRPr>
            </a:pPr>
            <a:r>
              <a:rPr sz="3600" b="0">
                <a:solidFill>
                  <a:srgbClr val="F6F3EB"/>
                </a:solidFill>
                <a:latin typeface="DejaVu Sans"/>
                <a:ea typeface="DejaVu Sans"/>
                <a:cs typeface="DejaVu Sans"/>
              </a:rPr>
              <a:t>An Intelligent Computer Vision System</a:t>
            </a:r>
          </a:p>
          <a:p xmlns:a="http://schemas.openxmlformats.org/drawingml/2006/main">
            <a:pPr algn="l">
              <a:lnSpc>
                <a:spcPct val="108000"/>
              </a:lnSpc>
              <a:buNone/>
              <a:defRPr sz="3600" b="0">
                <a:solidFill>
                  <a:srgbClr val="F6F3EB"/>
                </a:solidFill>
                <a:latin typeface="DejaVu Sans"/>
                <a:ea typeface="DejaVu Sans"/>
                <a:cs typeface="DejaVu Sans"/>
              </a:defRPr>
            </a:pPr>
            <a:r>
              <a:rPr sz="3600" b="0">
                <a:solidFill>
                  <a:srgbClr val="F6F3EB"/>
                </a:solidFill>
                <a:latin typeface="DejaVu Sans"/>
                <a:ea typeface="DejaVu Sans"/>
                <a:cs typeface="DejaVu Sans"/>
              </a:rPr>
              <a:t>for Plant Disease Diagnosis</a:t>
            </a:r>
          </a:p>
          <a:p xmlns:a="http://schemas.openxmlformats.org/drawingml/2006/main">
            <a:pPr algn="l">
              <a:lnSpc>
                <a:spcPct val="108000"/>
              </a:lnSpc>
              <a:buNone/>
              <a:defRPr sz="3600" b="0">
                <a:solidFill>
                  <a:srgbClr val="F6F3EB"/>
                </a:solidFill>
                <a:latin typeface="DejaVu Sans"/>
                <a:ea typeface="DejaVu Sans"/>
                <a:cs typeface="DejaVu Sans"/>
              </a:defRPr>
            </a:pPr>
            <a:r>
              <a:rPr sz="3600" b="0">
                <a:solidFill>
                  <a:srgbClr val="F6F3EB"/>
                </a:solidFill>
                <a:latin typeface="DejaVu Sans"/>
                <a:ea typeface="DejaVu Sans"/>
                <a:cs typeface="DejaVu Sans"/>
              </a:rPr>
              <a:t>in Kazakhstan</a:t>
            </a:r>
          </a:p>
        </p:txBody>
      </p:sp>
      <p:sp>
        <p:nvSpPr>
          <p:cNvPr id="3" name="text-2">
            <a:extLst xmlns:a="http://schemas.openxmlformats.org/drawingml/2006/main">
              <a:ext uri="{FF2B5EF4-FFF2-40B4-BE49-F238E27FC236}">
                <a16:creationId xmlns:a16="http://schemas.microsoft.com/office/drawing/2014/main" id="{D30EED72-2D34-4879-820F-7291357E86DE}"/>
              </a:ext>
            </a:extLst>
          </p:cNvPr>
          <p:cNvSpPr>
            <a:spLocks xmlns:a="http://schemas.openxmlformats.org/drawingml/2006/main" noGrp="1"/>
          </p:cNvSpPr>
          <p:nvPr/>
        </p:nvSpPr>
        <p:spPr>
          <a:xfrm xmlns:a="http://schemas.openxmlformats.org/drawingml/2006/main">
            <a:off x="723900" y="5000625"/>
            <a:ext cx="1200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D4E1D7"/>
                </a:solidFill>
                <a:latin typeface="DejaVu Sans"/>
                <a:ea typeface="DejaVu Sans"/>
                <a:cs typeface="DejaVu Sans"/>
              </a:defRPr>
            </a:defPPr>
            <a:lvl1pPr algn="l">
              <a:defRPr sz="2100" b="0">
                <a:solidFill>
                  <a:srgbClr val="D4E1D7"/>
                </a:solidFill>
                <a:latin typeface="DejaVu Sans"/>
                <a:ea typeface="DejaVu Sans"/>
                <a:cs typeface="DejaVu Sans"/>
              </a:defRPr>
            </a:lvl1pPr>
            <a:lvl2pPr algn="l">
              <a:defRPr sz="2100" b="0">
                <a:solidFill>
                  <a:srgbClr val="D4E1D7"/>
                </a:solidFill>
                <a:latin typeface="DejaVu Sans"/>
                <a:ea typeface="DejaVu Sans"/>
                <a:cs typeface="DejaVu Sans"/>
              </a:defRPr>
            </a:lvl2pPr>
            <a:lvl3pPr algn="l">
              <a:defRPr sz="2100" b="0">
                <a:solidFill>
                  <a:srgbClr val="D4E1D7"/>
                </a:solidFill>
                <a:latin typeface="DejaVu Sans"/>
                <a:ea typeface="DejaVu Sans"/>
                <a:cs typeface="DejaVu Sans"/>
              </a:defRPr>
            </a:lvl3pPr>
            <a:lvl4pPr algn="l">
              <a:defRPr sz="2100" b="0">
                <a:solidFill>
                  <a:srgbClr val="D4E1D7"/>
                </a:solidFill>
                <a:latin typeface="DejaVu Sans"/>
                <a:ea typeface="DejaVu Sans"/>
                <a:cs typeface="DejaVu Sans"/>
              </a:defRPr>
            </a:lvl4pPr>
            <a:lvl5pPr algn="l">
              <a:defRPr sz="2100" b="0">
                <a:solidFill>
                  <a:srgbClr val="D4E1D7"/>
                </a:solidFill>
                <a:latin typeface="DejaVu Sans"/>
                <a:ea typeface="DejaVu Sans"/>
                <a:cs typeface="DejaVu Sans"/>
              </a:defRPr>
            </a:lvl5pPr>
            <a:lvl6pPr algn="l">
              <a:defRPr sz="2100" b="0">
                <a:solidFill>
                  <a:srgbClr val="D4E1D7"/>
                </a:solidFill>
                <a:latin typeface="DejaVu Sans"/>
                <a:ea typeface="DejaVu Sans"/>
                <a:cs typeface="DejaVu Sans"/>
              </a:defRPr>
            </a:lvl6pPr>
            <a:lvl7pPr algn="l">
              <a:defRPr sz="2100" b="0">
                <a:solidFill>
                  <a:srgbClr val="D4E1D7"/>
                </a:solidFill>
                <a:latin typeface="DejaVu Sans"/>
                <a:ea typeface="DejaVu Sans"/>
                <a:cs typeface="DejaVu Sans"/>
              </a:defRPr>
            </a:lvl7pPr>
            <a:lvl8pPr algn="l">
              <a:defRPr sz="2100" b="0">
                <a:solidFill>
                  <a:srgbClr val="D4E1D7"/>
                </a:solidFill>
                <a:latin typeface="DejaVu Sans"/>
                <a:ea typeface="DejaVu Sans"/>
                <a:cs typeface="DejaVu Sans"/>
              </a:defRPr>
            </a:lvl8pPr>
            <a:lvl9pPr algn="l">
              <a:defRPr sz="2100" b="0">
                <a:solidFill>
                  <a:srgbClr val="D4E1D7"/>
                </a:solidFill>
                <a:latin typeface="DejaVu Sans"/>
                <a:ea typeface="DejaVu Sans"/>
                <a:cs typeface="DejaVu Sans"/>
              </a:defRPr>
            </a:lvl9pPr>
          </a:lstStyle>
          <a:p xmlns:a="http://schemas.openxmlformats.org/drawingml/2006/main">
            <a:pPr algn="l">
              <a:lnSpc>
                <a:spcPct val="108000"/>
              </a:lnSpc>
              <a:buNone/>
              <a:defRPr sz="2100" b="0">
                <a:solidFill>
                  <a:srgbClr val="D4E1D7"/>
                </a:solidFill>
                <a:latin typeface="DejaVu Sans"/>
                <a:ea typeface="DejaVu Sans"/>
                <a:cs typeface="DejaVu Sans"/>
              </a:defRPr>
            </a:pPr>
            <a:r>
              <a:rPr sz="2100" b="0">
                <a:solidFill>
                  <a:srgbClr val="D4E1D7"/>
                </a:solidFill>
                <a:latin typeface="DejaVu Sans"/>
                <a:ea typeface="DejaVu Sans"/>
                <a:cs typeface="DejaVu Sans"/>
              </a:rPr>
              <a:t>Исследовательская и проектная основа диплома</a:t>
            </a:r>
          </a:p>
        </p:txBody>
      </p:sp>
      <p:sp>
        <p:nvSpPr>
          <p:cNvPr id="4" name="text-3">
            <a:extLst xmlns:a="http://schemas.openxmlformats.org/drawingml/2006/main">
              <a:ext uri="{FF2B5EF4-FFF2-40B4-BE49-F238E27FC236}">
                <a16:creationId xmlns:a16="http://schemas.microsoft.com/office/drawing/2014/main" id="{E072BA5D-4BD5-49D1-AECB-7049474DA52C}"/>
              </a:ext>
            </a:extLst>
          </p:cNvPr>
          <p:cNvSpPr>
            <a:spLocks xmlns:a="http://schemas.openxmlformats.org/drawingml/2006/main" noGrp="1"/>
          </p:cNvSpPr>
          <p:nvPr/>
        </p:nvSpPr>
        <p:spPr>
          <a:xfrm xmlns:a="http://schemas.openxmlformats.org/drawingml/2006/main">
            <a:off x="723900" y="6229350"/>
            <a:ext cx="11430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D4E1D7"/>
                </a:solidFill>
                <a:latin typeface="DejaVu Sans"/>
                <a:ea typeface="DejaVu Sans"/>
                <a:cs typeface="DejaVu Sans"/>
              </a:defRPr>
            </a:defPPr>
            <a:lvl1pPr algn="l">
              <a:defRPr sz="1800" b="0">
                <a:solidFill>
                  <a:srgbClr val="D4E1D7"/>
                </a:solidFill>
                <a:latin typeface="DejaVu Sans"/>
                <a:ea typeface="DejaVu Sans"/>
                <a:cs typeface="DejaVu Sans"/>
              </a:defRPr>
            </a:lvl1pPr>
            <a:lvl2pPr algn="l">
              <a:defRPr sz="1800" b="0">
                <a:solidFill>
                  <a:srgbClr val="D4E1D7"/>
                </a:solidFill>
                <a:latin typeface="DejaVu Sans"/>
                <a:ea typeface="DejaVu Sans"/>
                <a:cs typeface="DejaVu Sans"/>
              </a:defRPr>
            </a:lvl2pPr>
            <a:lvl3pPr algn="l">
              <a:defRPr sz="1800" b="0">
                <a:solidFill>
                  <a:srgbClr val="D4E1D7"/>
                </a:solidFill>
                <a:latin typeface="DejaVu Sans"/>
                <a:ea typeface="DejaVu Sans"/>
                <a:cs typeface="DejaVu Sans"/>
              </a:defRPr>
            </a:lvl3pPr>
            <a:lvl4pPr algn="l">
              <a:defRPr sz="1800" b="0">
                <a:solidFill>
                  <a:srgbClr val="D4E1D7"/>
                </a:solidFill>
                <a:latin typeface="DejaVu Sans"/>
                <a:ea typeface="DejaVu Sans"/>
                <a:cs typeface="DejaVu Sans"/>
              </a:defRPr>
            </a:lvl4pPr>
            <a:lvl5pPr algn="l">
              <a:defRPr sz="1800" b="0">
                <a:solidFill>
                  <a:srgbClr val="D4E1D7"/>
                </a:solidFill>
                <a:latin typeface="DejaVu Sans"/>
                <a:ea typeface="DejaVu Sans"/>
                <a:cs typeface="DejaVu Sans"/>
              </a:defRPr>
            </a:lvl5pPr>
            <a:lvl6pPr algn="l">
              <a:defRPr sz="1800" b="0">
                <a:solidFill>
                  <a:srgbClr val="D4E1D7"/>
                </a:solidFill>
                <a:latin typeface="DejaVu Sans"/>
                <a:ea typeface="DejaVu Sans"/>
                <a:cs typeface="DejaVu Sans"/>
              </a:defRPr>
            </a:lvl6pPr>
            <a:lvl7pPr algn="l">
              <a:defRPr sz="1800" b="0">
                <a:solidFill>
                  <a:srgbClr val="D4E1D7"/>
                </a:solidFill>
                <a:latin typeface="DejaVu Sans"/>
                <a:ea typeface="DejaVu Sans"/>
                <a:cs typeface="DejaVu Sans"/>
              </a:defRPr>
            </a:lvl7pPr>
            <a:lvl8pPr algn="l">
              <a:defRPr sz="1800" b="0">
                <a:solidFill>
                  <a:srgbClr val="D4E1D7"/>
                </a:solidFill>
                <a:latin typeface="DejaVu Sans"/>
                <a:ea typeface="DejaVu Sans"/>
                <a:cs typeface="DejaVu Sans"/>
              </a:defRPr>
            </a:lvl8pPr>
            <a:lvl9pPr algn="l">
              <a:defRPr sz="1800" b="0">
                <a:solidFill>
                  <a:srgbClr val="D4E1D7"/>
                </a:solidFill>
                <a:latin typeface="DejaVu Sans"/>
                <a:ea typeface="DejaVu Sans"/>
                <a:cs typeface="DejaVu Sans"/>
              </a:defRPr>
            </a:lvl9pPr>
          </a:lstStyle>
          <a:p xmlns:a="http://schemas.openxmlformats.org/drawingml/2006/main">
            <a:pPr algn="l">
              <a:lnSpc>
                <a:spcPct val="108000"/>
              </a:lnSpc>
              <a:buNone/>
              <a:defRPr sz="1800" b="0">
                <a:solidFill>
                  <a:srgbClr val="D4E1D7"/>
                </a:solidFill>
                <a:latin typeface="DejaVu Sans"/>
                <a:ea typeface="DejaVu Sans"/>
                <a:cs typeface="DejaVu Sans"/>
              </a:defRPr>
            </a:pPr>
            <a:r>
              <a:rPr sz="1800" b="0">
                <a:solidFill>
                  <a:srgbClr val="D4E1D7"/>
                </a:solidFill>
                <a:latin typeface="DejaVu Sans"/>
                <a:ea typeface="DejaVu Sans"/>
                <a:cs typeface="DejaVu Sans"/>
              </a:rPr>
              <a:t>Мақсат Сыртбай  ·  Қайсар Матығұл</a:t>
            </a:r>
          </a:p>
          <a:p xmlns:a="http://schemas.openxmlformats.org/drawingml/2006/main">
            <a:pPr algn="l">
              <a:lnSpc>
                <a:spcPct val="108000"/>
              </a:lnSpc>
              <a:buNone/>
              <a:defRPr sz="1800" b="0">
                <a:solidFill>
                  <a:srgbClr val="D4E1D7"/>
                </a:solidFill>
                <a:latin typeface="DejaVu Sans"/>
                <a:ea typeface="DejaVu Sans"/>
                <a:cs typeface="DejaVu Sans"/>
              </a:defRPr>
            </a:pPr>
            <a:r>
              <a:rPr sz="1800" b="0">
                <a:solidFill>
                  <a:srgbClr val="D4E1D7"/>
                </a:solidFill>
                <a:latin typeface="DejaVu Sans"/>
                <a:ea typeface="DejaVu Sans"/>
                <a:cs typeface="DejaVu Sans"/>
              </a:rPr>
              <a:t>21 октября 2026</a:t>
            </a:r>
          </a:p>
        </p:txBody>
      </p:sp>
    </p:spTree>
    <p:extLst>
      <p:ext uri="{BB962C8B-B14F-4D97-AF65-F5344CB8AC3E}">
        <p14:creationId xmlns:p14="http://schemas.microsoft.com/office/powerpoint/2010/main" val="184066630"/>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FF06713-0EE7-43FB-A129-B3D736A615D7}"/>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Цель и границы проекта</a:t>
            </a:r>
          </a:p>
        </p:txBody>
      </p:sp>
      <p:sp>
        <p:nvSpPr>
          <p:cNvPr id="2" name="slide-number">
            <a:extLst xmlns:a="http://schemas.openxmlformats.org/drawingml/2006/main">
              <a:ext uri="{FF2B5EF4-FFF2-40B4-BE49-F238E27FC236}">
                <a16:creationId xmlns:a16="http://schemas.microsoft.com/office/drawing/2014/main" id="{9F3FAB66-496E-4C26-A8AC-6E0AF2A79E08}"/>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02</a:t>
            </a:r>
          </a:p>
        </p:txBody>
      </p:sp>
      <p:sp>
        <p:nvSpPr>
          <p:cNvPr id="3" name="text-2">
            <a:extLst xmlns:a="http://schemas.openxmlformats.org/drawingml/2006/main">
              <a:ext uri="{FF2B5EF4-FFF2-40B4-BE49-F238E27FC236}">
                <a16:creationId xmlns:a16="http://schemas.microsoft.com/office/drawing/2014/main" id="{E2EA670A-5292-4E38-B33C-2424F231272B}"/>
              </a:ext>
            </a:extLst>
          </p:cNvPr>
          <p:cNvSpPr>
            <a:spLocks xmlns:a="http://schemas.openxmlformats.org/drawingml/2006/main" noGrp="1"/>
          </p:cNvSpPr>
          <p:nvPr/>
        </p:nvSpPr>
        <p:spPr>
          <a:xfrm xmlns:a="http://schemas.openxmlformats.org/drawingml/2006/main">
            <a:off x="609600" y="1381125"/>
            <a:ext cx="12287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50" b="1">
                <a:solidFill>
                  <a:srgbClr val="243C31"/>
                </a:solidFill>
                <a:latin typeface="DejaVu Sans"/>
                <a:ea typeface="DejaVu Sans"/>
                <a:cs typeface="DejaVu Sans"/>
              </a:defRPr>
            </a:defPPr>
            <a:lvl1pPr algn="l">
              <a:defRPr sz="2850" b="1">
                <a:solidFill>
                  <a:srgbClr val="243C31"/>
                </a:solidFill>
                <a:latin typeface="DejaVu Sans"/>
                <a:ea typeface="DejaVu Sans"/>
                <a:cs typeface="DejaVu Sans"/>
              </a:defRPr>
            </a:lvl1pPr>
            <a:lvl2pPr algn="l">
              <a:defRPr sz="2850" b="1">
                <a:solidFill>
                  <a:srgbClr val="243C31"/>
                </a:solidFill>
                <a:latin typeface="DejaVu Sans"/>
                <a:ea typeface="DejaVu Sans"/>
                <a:cs typeface="DejaVu Sans"/>
              </a:defRPr>
            </a:lvl2pPr>
            <a:lvl3pPr algn="l">
              <a:defRPr sz="2850" b="1">
                <a:solidFill>
                  <a:srgbClr val="243C31"/>
                </a:solidFill>
                <a:latin typeface="DejaVu Sans"/>
                <a:ea typeface="DejaVu Sans"/>
                <a:cs typeface="DejaVu Sans"/>
              </a:defRPr>
            </a:lvl3pPr>
            <a:lvl4pPr algn="l">
              <a:defRPr sz="2850" b="1">
                <a:solidFill>
                  <a:srgbClr val="243C31"/>
                </a:solidFill>
                <a:latin typeface="DejaVu Sans"/>
                <a:ea typeface="DejaVu Sans"/>
                <a:cs typeface="DejaVu Sans"/>
              </a:defRPr>
            </a:lvl4pPr>
            <a:lvl5pPr algn="l">
              <a:defRPr sz="2850" b="1">
                <a:solidFill>
                  <a:srgbClr val="243C31"/>
                </a:solidFill>
                <a:latin typeface="DejaVu Sans"/>
                <a:ea typeface="DejaVu Sans"/>
                <a:cs typeface="DejaVu Sans"/>
              </a:defRPr>
            </a:lvl5pPr>
            <a:lvl6pPr algn="l">
              <a:defRPr sz="2850" b="1">
                <a:solidFill>
                  <a:srgbClr val="243C31"/>
                </a:solidFill>
                <a:latin typeface="DejaVu Sans"/>
                <a:ea typeface="DejaVu Sans"/>
                <a:cs typeface="DejaVu Sans"/>
              </a:defRPr>
            </a:lvl6pPr>
            <a:lvl7pPr algn="l">
              <a:defRPr sz="2850" b="1">
                <a:solidFill>
                  <a:srgbClr val="243C31"/>
                </a:solidFill>
                <a:latin typeface="DejaVu Sans"/>
                <a:ea typeface="DejaVu Sans"/>
                <a:cs typeface="DejaVu Sans"/>
              </a:defRPr>
            </a:lvl7pPr>
            <a:lvl8pPr algn="l">
              <a:defRPr sz="2850" b="1">
                <a:solidFill>
                  <a:srgbClr val="243C31"/>
                </a:solidFill>
                <a:latin typeface="DejaVu Sans"/>
                <a:ea typeface="DejaVu Sans"/>
                <a:cs typeface="DejaVu Sans"/>
              </a:defRPr>
            </a:lvl8pPr>
            <a:lvl9pPr algn="l">
              <a:defRPr sz="2850" b="1">
                <a:solidFill>
                  <a:srgbClr val="243C31"/>
                </a:solidFill>
                <a:latin typeface="DejaVu Sans"/>
                <a:ea typeface="DejaVu Sans"/>
                <a:cs typeface="DejaVu Sans"/>
              </a:defRPr>
            </a:lvl9pPr>
          </a:lstStyle>
          <a:p xmlns:a="http://schemas.openxmlformats.org/drawingml/2006/main">
            <a:pPr algn="l">
              <a:lnSpc>
                <a:spcPct val="108000"/>
              </a:lnSpc>
              <a:buNone/>
              <a:defRPr sz="2850" b="1">
                <a:solidFill>
                  <a:srgbClr val="243C31"/>
                </a:solidFill>
                <a:latin typeface="DejaVu Sans"/>
                <a:ea typeface="DejaVu Sans"/>
                <a:cs typeface="DejaVu Sans"/>
              </a:defRPr>
            </a:pPr>
            <a:r>
              <a:rPr sz="2850" b="1">
                <a:solidFill>
                  <a:srgbClr val="243C31"/>
                </a:solidFill>
                <a:latin typeface="DejaVu Sans"/>
                <a:ea typeface="DejaVu Sans"/>
                <a:cs typeface="DejaVu Sans"/>
              </a:rPr>
              <a:t>Предварительная оценка видимых симптомов по фото</a:t>
            </a:r>
          </a:p>
          <a:p xmlns:a="http://schemas.openxmlformats.org/drawingml/2006/main">
            <a:pPr algn="l">
              <a:lnSpc>
                <a:spcPct val="108000"/>
              </a:lnSpc>
              <a:buNone/>
              <a:defRPr sz="2850" b="1">
                <a:solidFill>
                  <a:srgbClr val="243C31"/>
                </a:solidFill>
                <a:latin typeface="DejaVu Sans"/>
                <a:ea typeface="DejaVu Sans"/>
                <a:cs typeface="DejaVu Sans"/>
              </a:defRPr>
            </a:pPr>
            <a:r>
              <a:rPr sz="2850" b="1">
                <a:solidFill>
                  <a:srgbClr val="243C31"/>
                </a:solidFill>
                <a:latin typeface="DejaVu Sans"/>
                <a:ea typeface="DejaVu Sans"/>
                <a:cs typeface="DejaVu Sans"/>
              </a:rPr>
              <a:t>для нескольких сельскохозяйственных культур</a:t>
            </a:r>
          </a:p>
        </p:txBody>
      </p:sp>
      <p:sp>
        <p:nvSpPr>
          <p:cNvPr id="4" name="text-3">
            <a:extLst xmlns:a="http://schemas.openxmlformats.org/drawingml/2006/main">
              <a:ext uri="{FF2B5EF4-FFF2-40B4-BE49-F238E27FC236}">
                <a16:creationId xmlns:a16="http://schemas.microsoft.com/office/drawing/2014/main" id="{D3EFFADE-091A-4CD5-9997-7D0B042954EB}"/>
              </a:ext>
            </a:extLst>
          </p:cNvPr>
          <p:cNvSpPr>
            <a:spLocks xmlns:a="http://schemas.openxmlformats.org/drawingml/2006/main" noGrp="1"/>
          </p:cNvSpPr>
          <p:nvPr/>
        </p:nvSpPr>
        <p:spPr>
          <a:xfrm xmlns:a="http://schemas.openxmlformats.org/drawingml/2006/main">
            <a:off x="609600" y="2895600"/>
            <a:ext cx="5638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73F32"/>
                </a:solidFill>
                <a:latin typeface="DejaVu Sans"/>
                <a:ea typeface="DejaVu Sans"/>
                <a:cs typeface="DejaVu Sans"/>
              </a:defRPr>
            </a:defPPr>
            <a:lvl1pPr algn="l">
              <a:defRPr sz="2175" b="1">
                <a:solidFill>
                  <a:srgbClr val="173F32"/>
                </a:solidFill>
                <a:latin typeface="DejaVu Sans"/>
                <a:ea typeface="DejaVu Sans"/>
                <a:cs typeface="DejaVu Sans"/>
              </a:defRPr>
            </a:lvl1pPr>
            <a:lvl2pPr algn="l">
              <a:defRPr sz="2175" b="1">
                <a:solidFill>
                  <a:srgbClr val="173F32"/>
                </a:solidFill>
                <a:latin typeface="DejaVu Sans"/>
                <a:ea typeface="DejaVu Sans"/>
                <a:cs typeface="DejaVu Sans"/>
              </a:defRPr>
            </a:lvl2pPr>
            <a:lvl3pPr algn="l">
              <a:defRPr sz="2175" b="1">
                <a:solidFill>
                  <a:srgbClr val="173F32"/>
                </a:solidFill>
                <a:latin typeface="DejaVu Sans"/>
                <a:ea typeface="DejaVu Sans"/>
                <a:cs typeface="DejaVu Sans"/>
              </a:defRPr>
            </a:lvl3pPr>
            <a:lvl4pPr algn="l">
              <a:defRPr sz="2175" b="1">
                <a:solidFill>
                  <a:srgbClr val="173F32"/>
                </a:solidFill>
                <a:latin typeface="DejaVu Sans"/>
                <a:ea typeface="DejaVu Sans"/>
                <a:cs typeface="DejaVu Sans"/>
              </a:defRPr>
            </a:lvl4pPr>
            <a:lvl5pPr algn="l">
              <a:defRPr sz="2175" b="1">
                <a:solidFill>
                  <a:srgbClr val="173F32"/>
                </a:solidFill>
                <a:latin typeface="DejaVu Sans"/>
                <a:ea typeface="DejaVu Sans"/>
                <a:cs typeface="DejaVu Sans"/>
              </a:defRPr>
            </a:lvl5pPr>
            <a:lvl6pPr algn="l">
              <a:defRPr sz="2175" b="1">
                <a:solidFill>
                  <a:srgbClr val="173F32"/>
                </a:solidFill>
                <a:latin typeface="DejaVu Sans"/>
                <a:ea typeface="DejaVu Sans"/>
                <a:cs typeface="DejaVu Sans"/>
              </a:defRPr>
            </a:lvl6pPr>
            <a:lvl7pPr algn="l">
              <a:defRPr sz="2175" b="1">
                <a:solidFill>
                  <a:srgbClr val="173F32"/>
                </a:solidFill>
                <a:latin typeface="DejaVu Sans"/>
                <a:ea typeface="DejaVu Sans"/>
                <a:cs typeface="DejaVu Sans"/>
              </a:defRPr>
            </a:lvl7pPr>
            <a:lvl8pPr algn="l">
              <a:defRPr sz="2175" b="1">
                <a:solidFill>
                  <a:srgbClr val="173F32"/>
                </a:solidFill>
                <a:latin typeface="DejaVu Sans"/>
                <a:ea typeface="DejaVu Sans"/>
                <a:cs typeface="DejaVu Sans"/>
              </a:defRPr>
            </a:lvl8pPr>
            <a:lvl9pPr algn="l">
              <a:defRPr sz="2175" b="1">
                <a:solidFill>
                  <a:srgbClr val="173F32"/>
                </a:solidFill>
                <a:latin typeface="DejaVu Sans"/>
                <a:ea typeface="DejaVu Sans"/>
                <a:cs typeface="DejaVu Sans"/>
              </a:defRPr>
            </a:lvl9pPr>
          </a:lstStyle>
          <a:p xmlns:a="http://schemas.openxmlformats.org/drawingml/2006/main">
            <a:pPr algn="l">
              <a:lnSpc>
                <a:spcPct val="108000"/>
              </a:lnSpc>
              <a:buNone/>
              <a:defRPr sz="2175" b="1">
                <a:solidFill>
                  <a:srgbClr val="173F32"/>
                </a:solidFill>
                <a:latin typeface="DejaVu Sans"/>
                <a:ea typeface="DejaVu Sans"/>
                <a:cs typeface="DejaVu Sans"/>
              </a:defRPr>
            </a:pPr>
            <a:r>
              <a:rPr sz="2175" b="1">
                <a:solidFill>
                  <a:srgbClr val="173F32"/>
                </a:solidFill>
                <a:latin typeface="DejaVu Sans"/>
                <a:ea typeface="DejaVu Sans"/>
                <a:cs typeface="DejaVu Sans"/>
              </a:rPr>
              <a:t>Пользовательский результат</a:t>
            </a:r>
          </a:p>
        </p:txBody>
      </p:sp>
      <p:sp>
        <p:nvSpPr>
          <p:cNvPr id="5" name="text-4">
            <a:extLst xmlns:a="http://schemas.openxmlformats.org/drawingml/2006/main">
              <a:ext uri="{FF2B5EF4-FFF2-40B4-BE49-F238E27FC236}">
                <a16:creationId xmlns:a16="http://schemas.microsoft.com/office/drawing/2014/main" id="{AA0E13F0-51F5-4692-941F-07D782797D58}"/>
              </a:ext>
            </a:extLst>
          </p:cNvPr>
          <p:cNvSpPr>
            <a:spLocks xmlns:a="http://schemas.openxmlformats.org/drawingml/2006/main" noGrp="1"/>
          </p:cNvSpPr>
          <p:nvPr/>
        </p:nvSpPr>
        <p:spPr>
          <a:xfrm xmlns:a="http://schemas.openxmlformats.org/drawingml/2006/main">
            <a:off x="609600" y="3505200"/>
            <a:ext cx="5810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243C31"/>
                </a:solidFill>
                <a:latin typeface="DejaVu Sans"/>
                <a:ea typeface="DejaVu Sans"/>
                <a:cs typeface="DejaVu Sans"/>
              </a:defRPr>
            </a:defPPr>
            <a:lvl1pPr algn="l">
              <a:defRPr sz="2025" b="0">
                <a:solidFill>
                  <a:srgbClr val="243C31"/>
                </a:solidFill>
                <a:latin typeface="DejaVu Sans"/>
                <a:ea typeface="DejaVu Sans"/>
                <a:cs typeface="DejaVu Sans"/>
              </a:defRPr>
            </a:lvl1pPr>
            <a:lvl2pPr algn="l">
              <a:defRPr sz="2025" b="0">
                <a:solidFill>
                  <a:srgbClr val="243C31"/>
                </a:solidFill>
                <a:latin typeface="DejaVu Sans"/>
                <a:ea typeface="DejaVu Sans"/>
                <a:cs typeface="DejaVu Sans"/>
              </a:defRPr>
            </a:lvl2pPr>
            <a:lvl3pPr algn="l">
              <a:defRPr sz="2025" b="0">
                <a:solidFill>
                  <a:srgbClr val="243C31"/>
                </a:solidFill>
                <a:latin typeface="DejaVu Sans"/>
                <a:ea typeface="DejaVu Sans"/>
                <a:cs typeface="DejaVu Sans"/>
              </a:defRPr>
            </a:lvl3pPr>
            <a:lvl4pPr algn="l">
              <a:defRPr sz="2025" b="0">
                <a:solidFill>
                  <a:srgbClr val="243C31"/>
                </a:solidFill>
                <a:latin typeface="DejaVu Sans"/>
                <a:ea typeface="DejaVu Sans"/>
                <a:cs typeface="DejaVu Sans"/>
              </a:defRPr>
            </a:lvl4pPr>
            <a:lvl5pPr algn="l">
              <a:defRPr sz="2025" b="0">
                <a:solidFill>
                  <a:srgbClr val="243C31"/>
                </a:solidFill>
                <a:latin typeface="DejaVu Sans"/>
                <a:ea typeface="DejaVu Sans"/>
                <a:cs typeface="DejaVu Sans"/>
              </a:defRPr>
            </a:lvl5pPr>
            <a:lvl6pPr algn="l">
              <a:defRPr sz="2025" b="0">
                <a:solidFill>
                  <a:srgbClr val="243C31"/>
                </a:solidFill>
                <a:latin typeface="DejaVu Sans"/>
                <a:ea typeface="DejaVu Sans"/>
                <a:cs typeface="DejaVu Sans"/>
              </a:defRPr>
            </a:lvl6pPr>
            <a:lvl7pPr algn="l">
              <a:defRPr sz="2025" b="0">
                <a:solidFill>
                  <a:srgbClr val="243C31"/>
                </a:solidFill>
                <a:latin typeface="DejaVu Sans"/>
                <a:ea typeface="DejaVu Sans"/>
                <a:cs typeface="DejaVu Sans"/>
              </a:defRPr>
            </a:lvl7pPr>
            <a:lvl8pPr algn="l">
              <a:defRPr sz="2025" b="0">
                <a:solidFill>
                  <a:srgbClr val="243C31"/>
                </a:solidFill>
                <a:latin typeface="DejaVu Sans"/>
                <a:ea typeface="DejaVu Sans"/>
                <a:cs typeface="DejaVu Sans"/>
              </a:defRPr>
            </a:lvl8pPr>
            <a:lvl9pPr algn="l">
              <a:defRPr sz="2025"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Выбор культуры и одно основное фото листа</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Гипотеза или понятная причина отказа</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Сохранённое наблюдение и история</a:t>
            </a:r>
          </a:p>
        </p:txBody>
      </p:sp>
      <p:sp>
        <p:nvSpPr>
          <p:cNvPr id="6" name="text-5">
            <a:extLst xmlns:a="http://schemas.openxmlformats.org/drawingml/2006/main">
              <a:ext uri="{FF2B5EF4-FFF2-40B4-BE49-F238E27FC236}">
                <a16:creationId xmlns:a16="http://schemas.microsoft.com/office/drawing/2014/main" id="{EC7CFB45-84F3-41FE-93EF-D6B1704C5EF4}"/>
              </a:ext>
            </a:extLst>
          </p:cNvPr>
          <p:cNvSpPr>
            <a:spLocks xmlns:a="http://schemas.openxmlformats.org/drawingml/2006/main" noGrp="1"/>
          </p:cNvSpPr>
          <p:nvPr/>
        </p:nvSpPr>
        <p:spPr>
          <a:xfrm xmlns:a="http://schemas.openxmlformats.org/drawingml/2006/main">
            <a:off x="7258050" y="2895600"/>
            <a:ext cx="582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73F32"/>
                </a:solidFill>
                <a:latin typeface="DejaVu Sans"/>
                <a:ea typeface="DejaVu Sans"/>
                <a:cs typeface="DejaVu Sans"/>
              </a:defRPr>
            </a:defPPr>
            <a:lvl1pPr algn="l">
              <a:defRPr sz="2175" b="1">
                <a:solidFill>
                  <a:srgbClr val="173F32"/>
                </a:solidFill>
                <a:latin typeface="DejaVu Sans"/>
                <a:ea typeface="DejaVu Sans"/>
                <a:cs typeface="DejaVu Sans"/>
              </a:defRPr>
            </a:lvl1pPr>
            <a:lvl2pPr algn="l">
              <a:defRPr sz="2175" b="1">
                <a:solidFill>
                  <a:srgbClr val="173F32"/>
                </a:solidFill>
                <a:latin typeface="DejaVu Sans"/>
                <a:ea typeface="DejaVu Sans"/>
                <a:cs typeface="DejaVu Sans"/>
              </a:defRPr>
            </a:lvl2pPr>
            <a:lvl3pPr algn="l">
              <a:defRPr sz="2175" b="1">
                <a:solidFill>
                  <a:srgbClr val="173F32"/>
                </a:solidFill>
                <a:latin typeface="DejaVu Sans"/>
                <a:ea typeface="DejaVu Sans"/>
                <a:cs typeface="DejaVu Sans"/>
              </a:defRPr>
            </a:lvl3pPr>
            <a:lvl4pPr algn="l">
              <a:defRPr sz="2175" b="1">
                <a:solidFill>
                  <a:srgbClr val="173F32"/>
                </a:solidFill>
                <a:latin typeface="DejaVu Sans"/>
                <a:ea typeface="DejaVu Sans"/>
                <a:cs typeface="DejaVu Sans"/>
              </a:defRPr>
            </a:lvl4pPr>
            <a:lvl5pPr algn="l">
              <a:defRPr sz="2175" b="1">
                <a:solidFill>
                  <a:srgbClr val="173F32"/>
                </a:solidFill>
                <a:latin typeface="DejaVu Sans"/>
                <a:ea typeface="DejaVu Sans"/>
                <a:cs typeface="DejaVu Sans"/>
              </a:defRPr>
            </a:lvl5pPr>
            <a:lvl6pPr algn="l">
              <a:defRPr sz="2175" b="1">
                <a:solidFill>
                  <a:srgbClr val="173F32"/>
                </a:solidFill>
                <a:latin typeface="DejaVu Sans"/>
                <a:ea typeface="DejaVu Sans"/>
                <a:cs typeface="DejaVu Sans"/>
              </a:defRPr>
            </a:lvl6pPr>
            <a:lvl7pPr algn="l">
              <a:defRPr sz="2175" b="1">
                <a:solidFill>
                  <a:srgbClr val="173F32"/>
                </a:solidFill>
                <a:latin typeface="DejaVu Sans"/>
                <a:ea typeface="DejaVu Sans"/>
                <a:cs typeface="DejaVu Sans"/>
              </a:defRPr>
            </a:lvl7pPr>
            <a:lvl8pPr algn="l">
              <a:defRPr sz="2175" b="1">
                <a:solidFill>
                  <a:srgbClr val="173F32"/>
                </a:solidFill>
                <a:latin typeface="DejaVu Sans"/>
                <a:ea typeface="DejaVu Sans"/>
                <a:cs typeface="DejaVu Sans"/>
              </a:defRPr>
            </a:lvl8pPr>
            <a:lvl9pPr algn="l">
              <a:defRPr sz="2175" b="1">
                <a:solidFill>
                  <a:srgbClr val="173F32"/>
                </a:solidFill>
                <a:latin typeface="DejaVu Sans"/>
                <a:ea typeface="DejaVu Sans"/>
                <a:cs typeface="DejaVu Sans"/>
              </a:defRPr>
            </a:lvl9pPr>
          </a:lstStyle>
          <a:p xmlns:a="http://schemas.openxmlformats.org/drawingml/2006/main">
            <a:pPr algn="l">
              <a:lnSpc>
                <a:spcPct val="108000"/>
              </a:lnSpc>
              <a:buNone/>
              <a:defRPr sz="2175" b="1">
                <a:solidFill>
                  <a:srgbClr val="173F32"/>
                </a:solidFill>
                <a:latin typeface="DejaVu Sans"/>
                <a:ea typeface="DejaVu Sans"/>
                <a:cs typeface="DejaVu Sans"/>
              </a:defRPr>
            </a:pPr>
            <a:r>
              <a:rPr sz="2175" b="1">
                <a:solidFill>
                  <a:srgbClr val="173F32"/>
                </a:solidFill>
                <a:latin typeface="DejaVu Sans"/>
                <a:ea typeface="DejaVu Sans"/>
                <a:cs typeface="DejaVu Sans"/>
              </a:rPr>
              <a:t>Исследовательский результат</a:t>
            </a:r>
          </a:p>
        </p:txBody>
      </p:sp>
      <p:sp>
        <p:nvSpPr>
          <p:cNvPr id="7" name="text-6">
            <a:extLst xmlns:a="http://schemas.openxmlformats.org/drawingml/2006/main">
              <a:ext uri="{FF2B5EF4-FFF2-40B4-BE49-F238E27FC236}">
                <a16:creationId xmlns:a16="http://schemas.microsoft.com/office/drawing/2014/main" id="{D3824097-2FB8-47E7-B679-CDFE58B58C76}"/>
              </a:ext>
            </a:extLst>
          </p:cNvPr>
          <p:cNvSpPr>
            <a:spLocks xmlns:a="http://schemas.openxmlformats.org/drawingml/2006/main" noGrp="1"/>
          </p:cNvSpPr>
          <p:nvPr/>
        </p:nvSpPr>
        <p:spPr>
          <a:xfrm xmlns:a="http://schemas.openxmlformats.org/drawingml/2006/main">
            <a:off x="7258050" y="3505200"/>
            <a:ext cx="5810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243C31"/>
                </a:solidFill>
                <a:latin typeface="DejaVu Sans"/>
                <a:ea typeface="DejaVu Sans"/>
                <a:cs typeface="DejaVu Sans"/>
              </a:defRPr>
            </a:defPPr>
            <a:lvl1pPr algn="l">
              <a:defRPr sz="2025" b="0">
                <a:solidFill>
                  <a:srgbClr val="243C31"/>
                </a:solidFill>
                <a:latin typeface="DejaVu Sans"/>
                <a:ea typeface="DejaVu Sans"/>
                <a:cs typeface="DejaVu Sans"/>
              </a:defRPr>
            </a:lvl1pPr>
            <a:lvl2pPr algn="l">
              <a:defRPr sz="2025" b="0">
                <a:solidFill>
                  <a:srgbClr val="243C31"/>
                </a:solidFill>
                <a:latin typeface="DejaVu Sans"/>
                <a:ea typeface="DejaVu Sans"/>
                <a:cs typeface="DejaVu Sans"/>
              </a:defRPr>
            </a:lvl2pPr>
            <a:lvl3pPr algn="l">
              <a:defRPr sz="2025" b="0">
                <a:solidFill>
                  <a:srgbClr val="243C31"/>
                </a:solidFill>
                <a:latin typeface="DejaVu Sans"/>
                <a:ea typeface="DejaVu Sans"/>
                <a:cs typeface="DejaVu Sans"/>
              </a:defRPr>
            </a:lvl3pPr>
            <a:lvl4pPr algn="l">
              <a:defRPr sz="2025" b="0">
                <a:solidFill>
                  <a:srgbClr val="243C31"/>
                </a:solidFill>
                <a:latin typeface="DejaVu Sans"/>
                <a:ea typeface="DejaVu Sans"/>
                <a:cs typeface="DejaVu Sans"/>
              </a:defRPr>
            </a:lvl4pPr>
            <a:lvl5pPr algn="l">
              <a:defRPr sz="2025" b="0">
                <a:solidFill>
                  <a:srgbClr val="243C31"/>
                </a:solidFill>
                <a:latin typeface="DejaVu Sans"/>
                <a:ea typeface="DejaVu Sans"/>
                <a:cs typeface="DejaVu Sans"/>
              </a:defRPr>
            </a:lvl5pPr>
            <a:lvl6pPr algn="l">
              <a:defRPr sz="2025" b="0">
                <a:solidFill>
                  <a:srgbClr val="243C31"/>
                </a:solidFill>
                <a:latin typeface="DejaVu Sans"/>
                <a:ea typeface="DejaVu Sans"/>
                <a:cs typeface="DejaVu Sans"/>
              </a:defRPr>
            </a:lvl6pPr>
            <a:lvl7pPr algn="l">
              <a:defRPr sz="2025" b="0">
                <a:solidFill>
                  <a:srgbClr val="243C31"/>
                </a:solidFill>
                <a:latin typeface="DejaVu Sans"/>
                <a:ea typeface="DejaVu Sans"/>
                <a:cs typeface="DejaVu Sans"/>
              </a:defRPr>
            </a:lvl7pPr>
            <a:lvl8pPr algn="l">
              <a:defRPr sz="2025" b="0">
                <a:solidFill>
                  <a:srgbClr val="243C31"/>
                </a:solidFill>
                <a:latin typeface="DejaVu Sans"/>
                <a:ea typeface="DejaVu Sans"/>
                <a:cs typeface="DejaVu Sans"/>
              </a:defRPr>
            </a:lvl8pPr>
            <a:lvl9pPr algn="l">
              <a:defRPr sz="2025"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Сравнение компактных моделей в одном протоколе</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Перенос на новый источник и локальные фото</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Оценка ошибок, отказов и ресурсов</a:t>
            </a:r>
          </a:p>
        </p:txBody>
      </p:sp>
      <p:sp>
        <p:nvSpPr>
          <p:cNvPr id="8" name="text-7">
            <a:extLst xmlns:a="http://schemas.openxmlformats.org/drawingml/2006/main">
              <a:ext uri="{FF2B5EF4-FFF2-40B4-BE49-F238E27FC236}">
                <a16:creationId xmlns:a16="http://schemas.microsoft.com/office/drawing/2014/main" id="{E2094F34-225E-4682-84A8-8E1C99F37ED8}"/>
              </a:ext>
            </a:extLst>
          </p:cNvPr>
          <p:cNvSpPr>
            <a:spLocks xmlns:a="http://schemas.openxmlformats.org/drawingml/2006/main" noGrp="1"/>
          </p:cNvSpPr>
          <p:nvPr/>
        </p:nvSpPr>
        <p:spPr>
          <a:xfrm xmlns:a="http://schemas.openxmlformats.org/drawingml/2006/main">
            <a:off x="609600" y="6257925"/>
            <a:ext cx="1249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B7064"/>
                </a:solidFill>
                <a:latin typeface="DejaVu Sans"/>
                <a:ea typeface="DejaVu Sans"/>
                <a:cs typeface="DejaVu Sans"/>
              </a:defRPr>
            </a:defPPr>
            <a:lvl1pPr algn="l">
              <a:defRPr sz="1875" b="0">
                <a:solidFill>
                  <a:srgbClr val="5B7064"/>
                </a:solidFill>
                <a:latin typeface="DejaVu Sans"/>
                <a:ea typeface="DejaVu Sans"/>
                <a:cs typeface="DejaVu Sans"/>
              </a:defRPr>
            </a:lvl1pPr>
            <a:lvl2pPr algn="l">
              <a:defRPr sz="1875" b="0">
                <a:solidFill>
                  <a:srgbClr val="5B7064"/>
                </a:solidFill>
                <a:latin typeface="DejaVu Sans"/>
                <a:ea typeface="DejaVu Sans"/>
                <a:cs typeface="DejaVu Sans"/>
              </a:defRPr>
            </a:lvl2pPr>
            <a:lvl3pPr algn="l">
              <a:defRPr sz="1875" b="0">
                <a:solidFill>
                  <a:srgbClr val="5B7064"/>
                </a:solidFill>
                <a:latin typeface="DejaVu Sans"/>
                <a:ea typeface="DejaVu Sans"/>
                <a:cs typeface="DejaVu Sans"/>
              </a:defRPr>
            </a:lvl3pPr>
            <a:lvl4pPr algn="l">
              <a:defRPr sz="1875" b="0">
                <a:solidFill>
                  <a:srgbClr val="5B7064"/>
                </a:solidFill>
                <a:latin typeface="DejaVu Sans"/>
                <a:ea typeface="DejaVu Sans"/>
                <a:cs typeface="DejaVu Sans"/>
              </a:defRPr>
            </a:lvl4pPr>
            <a:lvl5pPr algn="l">
              <a:defRPr sz="1875" b="0">
                <a:solidFill>
                  <a:srgbClr val="5B7064"/>
                </a:solidFill>
                <a:latin typeface="DejaVu Sans"/>
                <a:ea typeface="DejaVu Sans"/>
                <a:cs typeface="DejaVu Sans"/>
              </a:defRPr>
            </a:lvl5pPr>
            <a:lvl6pPr algn="l">
              <a:defRPr sz="1875" b="0">
                <a:solidFill>
                  <a:srgbClr val="5B7064"/>
                </a:solidFill>
                <a:latin typeface="DejaVu Sans"/>
                <a:ea typeface="DejaVu Sans"/>
                <a:cs typeface="DejaVu Sans"/>
              </a:defRPr>
            </a:lvl6pPr>
            <a:lvl7pPr algn="l">
              <a:defRPr sz="1875" b="0">
                <a:solidFill>
                  <a:srgbClr val="5B7064"/>
                </a:solidFill>
                <a:latin typeface="DejaVu Sans"/>
                <a:ea typeface="DejaVu Sans"/>
                <a:cs typeface="DejaVu Sans"/>
              </a:defRPr>
            </a:lvl7pPr>
            <a:lvl8pPr algn="l">
              <a:defRPr sz="1875" b="0">
                <a:solidFill>
                  <a:srgbClr val="5B7064"/>
                </a:solidFill>
                <a:latin typeface="DejaVu Sans"/>
                <a:ea typeface="DejaVu Sans"/>
                <a:cs typeface="DejaVu Sans"/>
              </a:defRPr>
            </a:lvl8pPr>
            <a:lvl9pPr algn="l">
              <a:defRPr sz="1875" b="0">
                <a:solidFill>
                  <a:srgbClr val="5B7064"/>
                </a:solidFill>
                <a:latin typeface="DejaVu Sans"/>
                <a:ea typeface="DejaVu Sans"/>
                <a:cs typeface="DejaVu Sans"/>
              </a:defRPr>
            </a:lvl9pPr>
          </a:lstStyle>
          <a:p xmlns:a="http://schemas.openxmlformats.org/drawingml/2006/main">
            <a:pPr algn="l">
              <a:lnSpc>
                <a:spcPct val="108000"/>
              </a:lnSpc>
              <a:buNone/>
              <a:defRPr sz="1875" b="0">
                <a:solidFill>
                  <a:srgbClr val="5B7064"/>
                </a:solidFill>
                <a:latin typeface="DejaVu Sans"/>
                <a:ea typeface="DejaVu Sans"/>
                <a:cs typeface="DejaVu Sans"/>
              </a:defRPr>
            </a:pPr>
            <a:r>
              <a:rPr sz="1875" b="0">
                <a:solidFill>
                  <a:srgbClr val="5B7064"/>
                </a:solidFill>
                <a:latin typeface="DejaVu Sans"/>
                <a:ea typeface="DejaVu Sans"/>
                <a:cs typeface="DejaVu Sans"/>
              </a:rPr>
              <a:t>Пшеница, картофель и томат — кандидаты пилота. Поддержка определяется данными для конкретных пар «культура–состояние».</a:t>
            </a:r>
          </a:p>
        </p:txBody>
      </p:sp>
    </p:spTree>
    <p:extLst>
      <p:ext uri="{BB962C8B-B14F-4D97-AF65-F5344CB8AC3E}">
        <p14:creationId xmlns:p14="http://schemas.microsoft.com/office/powerpoint/2010/main" val="2016053623"/>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51B5CAB-C89B-4DD9-94E4-E756C2CA92C0}"/>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Основания и статус доказательств</a:t>
            </a:r>
          </a:p>
        </p:txBody>
      </p:sp>
      <p:sp>
        <p:nvSpPr>
          <p:cNvPr id="2" name="slide-number">
            <a:extLst xmlns:a="http://schemas.openxmlformats.org/drawingml/2006/main">
              <a:ext uri="{FF2B5EF4-FFF2-40B4-BE49-F238E27FC236}">
                <a16:creationId xmlns:a16="http://schemas.microsoft.com/office/drawing/2014/main" id="{41AC42D6-72FB-430F-8DBD-477F570CC8B4}"/>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03</a:t>
            </a:r>
          </a:p>
        </p:txBody>
      </p:sp>
      <p:graphicFrame>
        <p:nvGraphicFramePr>
          <p:cNvPr id="3" name="">
            <a:extLst xmlns:a="http://schemas.openxmlformats.org/drawingml/2006/main">
              <a:ext uri="{FF2B5EF4-FFF2-40B4-BE49-F238E27FC236}">
                <a16:creationId xmlns:a16="http://schemas.microsoft.com/office/drawing/2014/main" id="{9B77DF52-3137-4E3C-92A2-64F2C9C00D66}"/>
              </a:ext>
            </a:extLst>
          </p:cNvPr>
          <p:cNvGraphicFramePr/>
          <p:nvPr/>
        </p:nvGraphicFramePr>
        <p:xfrm>
          <a:off xmlns:a="http://schemas.openxmlformats.org/drawingml/2006/main" x="609600" y="1476375"/>
          <a:ext xmlns:a="http://schemas.openxmlformats.org/drawingml/2006/main" cx="12496800" cy="4210050"/>
        </p:xfrm>
        <a:graphic xmlns:a="http://schemas.openxmlformats.org/drawingml/2006/main">
          <a:graphicData uri="http://schemas.openxmlformats.org/drawingml/2006/table">
            <a:tbl>
              <a:tblPr firstRow="1" bandRow="0"/>
              <a:tblGrid>
                <a:gridCol w="2857500"/>
                <a:gridCol w="4762500"/>
                <a:gridCol w="4876800"/>
              </a:tblGrid>
              <a:tr h="590550">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Основание</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Что оно подтверждает</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Что ещё нужно</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904875">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Публикации о переносе</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Различие лабораторных и полевых условий влияет на оценку</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Собственный независимый тест</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904875">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Казахстанский контекст</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Есть несколько целевых культур и локальные работы по ржавчине пшеницы</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Местные фото и агрономическая разметка</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904875">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Потенциальные пользователи</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Сценарий пока основан на проектных гипотезах</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3–5 реальных обсуждений или заказчик</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904875">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Интерактивный mobile-макет</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Сценарий можно показать и проверить</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Наблюдение за реальными пользователями</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bl>
          </a:graphicData>
        </a:graphic>
      </p:graphicFrame>
      <p:sp>
        <p:nvSpPr>
          <p:cNvPr id="4" name="text-2">
            <a:extLst xmlns:a="http://schemas.openxmlformats.org/drawingml/2006/main">
              <a:ext uri="{FF2B5EF4-FFF2-40B4-BE49-F238E27FC236}">
                <a16:creationId xmlns:a16="http://schemas.microsoft.com/office/drawing/2014/main" id="{24819CC1-CB24-42A6-9D00-3DF067AC610A}"/>
              </a:ext>
            </a:extLst>
          </p:cNvPr>
          <p:cNvSpPr>
            <a:spLocks xmlns:a="http://schemas.openxmlformats.org/drawingml/2006/main" noGrp="1"/>
          </p:cNvSpPr>
          <p:nvPr/>
        </p:nvSpPr>
        <p:spPr>
          <a:xfrm xmlns:a="http://schemas.openxmlformats.org/drawingml/2006/main">
            <a:off x="609600" y="6115050"/>
            <a:ext cx="12496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9B713E"/>
                </a:solidFill>
                <a:latin typeface="DejaVu Sans"/>
                <a:ea typeface="DejaVu Sans"/>
                <a:cs typeface="DejaVu Sans"/>
              </a:defRPr>
            </a:defPPr>
            <a:lvl1pPr algn="l">
              <a:defRPr sz="2175" b="1">
                <a:solidFill>
                  <a:srgbClr val="9B713E"/>
                </a:solidFill>
                <a:latin typeface="DejaVu Sans"/>
                <a:ea typeface="DejaVu Sans"/>
                <a:cs typeface="DejaVu Sans"/>
              </a:defRPr>
            </a:lvl1pPr>
            <a:lvl2pPr algn="l">
              <a:defRPr sz="2175" b="1">
                <a:solidFill>
                  <a:srgbClr val="9B713E"/>
                </a:solidFill>
                <a:latin typeface="DejaVu Sans"/>
                <a:ea typeface="DejaVu Sans"/>
                <a:cs typeface="DejaVu Sans"/>
              </a:defRPr>
            </a:lvl2pPr>
            <a:lvl3pPr algn="l">
              <a:defRPr sz="2175" b="1">
                <a:solidFill>
                  <a:srgbClr val="9B713E"/>
                </a:solidFill>
                <a:latin typeface="DejaVu Sans"/>
                <a:ea typeface="DejaVu Sans"/>
                <a:cs typeface="DejaVu Sans"/>
              </a:defRPr>
            </a:lvl3pPr>
            <a:lvl4pPr algn="l">
              <a:defRPr sz="2175" b="1">
                <a:solidFill>
                  <a:srgbClr val="9B713E"/>
                </a:solidFill>
                <a:latin typeface="DejaVu Sans"/>
                <a:ea typeface="DejaVu Sans"/>
                <a:cs typeface="DejaVu Sans"/>
              </a:defRPr>
            </a:lvl4pPr>
            <a:lvl5pPr algn="l">
              <a:defRPr sz="2175" b="1">
                <a:solidFill>
                  <a:srgbClr val="9B713E"/>
                </a:solidFill>
                <a:latin typeface="DejaVu Sans"/>
                <a:ea typeface="DejaVu Sans"/>
                <a:cs typeface="DejaVu Sans"/>
              </a:defRPr>
            </a:lvl5pPr>
            <a:lvl6pPr algn="l">
              <a:defRPr sz="2175" b="1">
                <a:solidFill>
                  <a:srgbClr val="9B713E"/>
                </a:solidFill>
                <a:latin typeface="DejaVu Sans"/>
                <a:ea typeface="DejaVu Sans"/>
                <a:cs typeface="DejaVu Sans"/>
              </a:defRPr>
            </a:lvl6pPr>
            <a:lvl7pPr algn="l">
              <a:defRPr sz="2175" b="1">
                <a:solidFill>
                  <a:srgbClr val="9B713E"/>
                </a:solidFill>
                <a:latin typeface="DejaVu Sans"/>
                <a:ea typeface="DejaVu Sans"/>
                <a:cs typeface="DejaVu Sans"/>
              </a:defRPr>
            </a:lvl7pPr>
            <a:lvl8pPr algn="l">
              <a:defRPr sz="2175" b="1">
                <a:solidFill>
                  <a:srgbClr val="9B713E"/>
                </a:solidFill>
                <a:latin typeface="DejaVu Sans"/>
                <a:ea typeface="DejaVu Sans"/>
                <a:cs typeface="DejaVu Sans"/>
              </a:defRPr>
            </a:lvl8pPr>
            <a:lvl9pPr algn="l">
              <a:defRPr sz="2175" b="1">
                <a:solidFill>
                  <a:srgbClr val="9B713E"/>
                </a:solidFill>
                <a:latin typeface="DejaVu Sans"/>
                <a:ea typeface="DejaVu Sans"/>
                <a:cs typeface="DejaVu Sans"/>
              </a:defRPr>
            </a:lvl9pPr>
          </a:lstStyle>
          <a:p xmlns:a="http://schemas.openxmlformats.org/drawingml/2006/main">
            <a:pPr algn="l">
              <a:lnSpc>
                <a:spcPct val="108000"/>
              </a:lnSpc>
              <a:buNone/>
              <a:defRPr sz="2175" b="1">
                <a:solidFill>
                  <a:srgbClr val="9B713E"/>
                </a:solidFill>
                <a:latin typeface="DejaVu Sans"/>
                <a:ea typeface="DejaVu Sans"/>
                <a:cs typeface="DejaVu Sans"/>
              </a:defRPr>
            </a:pPr>
            <a:r>
              <a:rPr sz="2175" b="1">
                <a:solidFill>
                  <a:srgbClr val="9B713E"/>
                </a:solidFill>
                <a:latin typeface="DejaVu Sans"/>
                <a:ea typeface="DejaVu Sans"/>
                <a:cs typeface="DejaVu Sans"/>
              </a:rPr>
              <a:t>Интервью ещё не проведены. Публикации и макеты не заменяют пользовательские свидетельства.</a:t>
            </a:r>
          </a:p>
        </p:txBody>
      </p:sp>
      <p:sp>
        <p:nvSpPr>
          <p:cNvPr id="5" name="source-footer">
            <a:extLst xmlns:a="http://schemas.openxmlformats.org/drawingml/2006/main">
              <a:ext uri="{FF2B5EF4-FFF2-40B4-BE49-F238E27FC236}">
                <a16:creationId xmlns:a16="http://schemas.microsoft.com/office/drawing/2014/main" id="{BC7F77DA-D323-4FFF-969D-9A6842C89C91}"/>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Источники: Xu 2024, Wu 2023, Rsaliyev 2025, МСХ Казахстана. Полные ссылки в заметках.</a:t>
            </a:r>
          </a:p>
        </p:txBody>
      </p:sp>
    </p:spTree>
    <p:extLst>
      <p:ext uri="{BB962C8B-B14F-4D97-AF65-F5344CB8AC3E}">
        <p14:creationId xmlns:p14="http://schemas.microsoft.com/office/powerpoint/2010/main" val="1312489081"/>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154F5F5-DFB3-4BAA-A209-92FAE257C72A}"/>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Критический синтез литературы</a:t>
            </a:r>
          </a:p>
        </p:txBody>
      </p:sp>
      <p:sp>
        <p:nvSpPr>
          <p:cNvPr id="2" name="slide-number">
            <a:extLst xmlns:a="http://schemas.openxmlformats.org/drawingml/2006/main">
              <a:ext uri="{FF2B5EF4-FFF2-40B4-BE49-F238E27FC236}">
                <a16:creationId xmlns:a16="http://schemas.microsoft.com/office/drawing/2014/main" id="{4922E963-A96E-4ABD-A7D0-812745DCC0FD}"/>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04</a:t>
            </a:r>
          </a:p>
        </p:txBody>
      </p:sp>
      <p:sp>
        <p:nvSpPr>
          <p:cNvPr id="3" name="text-2">
            <a:extLst xmlns:a="http://schemas.openxmlformats.org/drawingml/2006/main">
              <a:ext uri="{FF2B5EF4-FFF2-40B4-BE49-F238E27FC236}">
                <a16:creationId xmlns:a16="http://schemas.microsoft.com/office/drawing/2014/main" id="{8CB1CC8F-B388-49B1-9E96-5C3CE85A75D2}"/>
              </a:ext>
            </a:extLst>
          </p:cNvPr>
          <p:cNvSpPr>
            <a:spLocks xmlns:a="http://schemas.openxmlformats.org/drawingml/2006/main" noGrp="1"/>
          </p:cNvSpPr>
          <p:nvPr/>
        </p:nvSpPr>
        <p:spPr>
          <a:xfrm xmlns:a="http://schemas.openxmlformats.org/drawingml/2006/main">
            <a:off x="609600" y="1266825"/>
            <a:ext cx="12496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243C31"/>
                </a:solidFill>
                <a:latin typeface="DejaVu Sans"/>
                <a:ea typeface="DejaVu Sans"/>
                <a:cs typeface="DejaVu Sans"/>
              </a:defRPr>
            </a:defPPr>
            <a:lvl1pPr algn="l">
              <a:defRPr sz="2100" b="1">
                <a:solidFill>
                  <a:srgbClr val="243C31"/>
                </a:solidFill>
                <a:latin typeface="DejaVu Sans"/>
                <a:ea typeface="DejaVu Sans"/>
                <a:cs typeface="DejaVu Sans"/>
              </a:defRPr>
            </a:lvl1pPr>
            <a:lvl2pPr algn="l">
              <a:defRPr sz="2100" b="1">
                <a:solidFill>
                  <a:srgbClr val="243C31"/>
                </a:solidFill>
                <a:latin typeface="DejaVu Sans"/>
                <a:ea typeface="DejaVu Sans"/>
                <a:cs typeface="DejaVu Sans"/>
              </a:defRPr>
            </a:lvl2pPr>
            <a:lvl3pPr algn="l">
              <a:defRPr sz="2100" b="1">
                <a:solidFill>
                  <a:srgbClr val="243C31"/>
                </a:solidFill>
                <a:latin typeface="DejaVu Sans"/>
                <a:ea typeface="DejaVu Sans"/>
                <a:cs typeface="DejaVu Sans"/>
              </a:defRPr>
            </a:lvl3pPr>
            <a:lvl4pPr algn="l">
              <a:defRPr sz="2100" b="1">
                <a:solidFill>
                  <a:srgbClr val="243C31"/>
                </a:solidFill>
                <a:latin typeface="DejaVu Sans"/>
                <a:ea typeface="DejaVu Sans"/>
                <a:cs typeface="DejaVu Sans"/>
              </a:defRPr>
            </a:lvl4pPr>
            <a:lvl5pPr algn="l">
              <a:defRPr sz="2100" b="1">
                <a:solidFill>
                  <a:srgbClr val="243C31"/>
                </a:solidFill>
                <a:latin typeface="DejaVu Sans"/>
                <a:ea typeface="DejaVu Sans"/>
                <a:cs typeface="DejaVu Sans"/>
              </a:defRPr>
            </a:lvl5pPr>
            <a:lvl6pPr algn="l">
              <a:defRPr sz="2100" b="1">
                <a:solidFill>
                  <a:srgbClr val="243C31"/>
                </a:solidFill>
                <a:latin typeface="DejaVu Sans"/>
                <a:ea typeface="DejaVu Sans"/>
                <a:cs typeface="DejaVu Sans"/>
              </a:defRPr>
            </a:lvl6pPr>
            <a:lvl7pPr algn="l">
              <a:defRPr sz="2100" b="1">
                <a:solidFill>
                  <a:srgbClr val="243C31"/>
                </a:solidFill>
                <a:latin typeface="DejaVu Sans"/>
                <a:ea typeface="DejaVu Sans"/>
                <a:cs typeface="DejaVu Sans"/>
              </a:defRPr>
            </a:lvl7pPr>
            <a:lvl8pPr algn="l">
              <a:defRPr sz="2100" b="1">
                <a:solidFill>
                  <a:srgbClr val="243C31"/>
                </a:solidFill>
                <a:latin typeface="DejaVu Sans"/>
                <a:ea typeface="DejaVu Sans"/>
                <a:cs typeface="DejaVu Sans"/>
              </a:defRPr>
            </a:lvl8pPr>
            <a:lvl9pPr algn="l">
              <a:defRPr sz="2100" b="1">
                <a:solidFill>
                  <a:srgbClr val="243C31"/>
                </a:solidFill>
                <a:latin typeface="DejaVu Sans"/>
                <a:ea typeface="DejaVu Sans"/>
                <a:cs typeface="DejaVu Sans"/>
              </a:defRPr>
            </a:lvl9pPr>
          </a:lstStyle>
          <a:p xmlns:a="http://schemas.openxmlformats.org/drawingml/2006/main">
            <a:pPr algn="l">
              <a:lnSpc>
                <a:spcPct val="108000"/>
              </a:lnSpc>
              <a:buNone/>
              <a:defRPr sz="2100" b="1">
                <a:solidFill>
                  <a:srgbClr val="243C31"/>
                </a:solidFill>
                <a:latin typeface="DejaVu Sans"/>
                <a:ea typeface="DejaVu Sans"/>
                <a:cs typeface="DejaVu Sans"/>
              </a:defRPr>
            </a:pPr>
            <a:r>
              <a:rPr sz="2100" b="1">
                <a:solidFill>
                  <a:srgbClr val="243C31"/>
                </a:solidFill>
                <a:latin typeface="DejaVu Sans"/>
                <a:ea typeface="DejaVu Sans"/>
                <a:cs typeface="DejaVu Sans"/>
              </a:rPr>
              <a:t>16 источников: 14 рецензируемых публикаций, 1 препринт, 1 документация</a:t>
            </a:r>
          </a:p>
        </p:txBody>
      </p:sp>
      <p:graphicFrame>
        <p:nvGraphicFramePr>
          <p:cNvPr id="4" name="">
            <a:extLst xmlns:a="http://schemas.openxmlformats.org/drawingml/2006/main">
              <a:ext uri="{FF2B5EF4-FFF2-40B4-BE49-F238E27FC236}">
                <a16:creationId xmlns:a16="http://schemas.microsoft.com/office/drawing/2014/main" id="{BAFE0B9A-02EB-46FC-8E2A-709B7642A92D}"/>
              </a:ext>
            </a:extLst>
          </p:cNvPr>
          <p:cNvGraphicFramePr/>
          <p:nvPr/>
        </p:nvGraphicFramePr>
        <p:xfrm>
          <a:off xmlns:a="http://schemas.openxmlformats.org/drawingml/2006/main" x="609600" y="2000250"/>
          <a:ext xmlns:a="http://schemas.openxmlformats.org/drawingml/2006/main" cx="12496800" cy="3867150"/>
        </p:xfrm>
        <a:graphic xmlns:a="http://schemas.openxmlformats.org/drawingml/2006/main">
          <a:graphicData uri="http://schemas.openxmlformats.org/drawingml/2006/table">
            <a:tbl>
              <a:tblPr firstRow="1" bandRow="0"/>
              <a:tblGrid>
                <a:gridCol w="3857625"/>
                <a:gridCol w="4000500"/>
                <a:gridCol w="4638675"/>
              </a:tblGrid>
              <a:tr h="552450">
                <a:tc>
                  <a:txBody>
                    <a:bodyPr lIns="114300" tIns="95250" rIns="114300" bIns="95250">
                      <a:noAutofit/>
                    </a:bodyPr>
                    <a:lstStyle/>
                    <a:p>
                      <a:pPr>
                        <a:lnSpc>
                          <a:spcPct val="105000"/>
                        </a:lnSpc>
                        <a:buNone/>
                      </a:pPr>
                      <a:r>
                        <a:rPr sz="1725" b="1">
                          <a:solidFill>
                            <a:srgbClr val="FFFFFF"/>
                          </a:solidFill>
                          <a:latin typeface="DejaVu Sans"/>
                          <a:ea typeface="DejaVu Sans"/>
                          <a:cs typeface="DejaVu Sans"/>
                        </a:rPr>
                        <a:t>Наблюдение в работах</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725" b="1">
                          <a:solidFill>
                            <a:srgbClr val="FFFFFF"/>
                          </a:solidFill>
                          <a:latin typeface="DejaVu Sans"/>
                          <a:ea typeface="DejaVu Sans"/>
                          <a:cs typeface="DejaVu Sans"/>
                        </a:rPr>
                        <a:t>Ограничение</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725" b="1">
                          <a:solidFill>
                            <a:srgbClr val="FFFFFF"/>
                          </a:solidFill>
                          <a:latin typeface="DejaVu Sans"/>
                          <a:ea typeface="DejaVu Sans"/>
                          <a:cs typeface="DejaVu Sans"/>
                        </a:rPr>
                        <a:t>Решение AgroVision</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828675">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PlantVillage, Wu, PlantWild</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Полевой перенос не следует из случайного split</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Отложенный источник и отдельный локальный тест</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828675">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CerealConv, Paddy Doctor, Tomato</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Версии, классы и происхождение неоднородны</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Онтология, provenance и группировка до split</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828675">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EfficientNet, MobileNetV3, DINOv2</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Общие benchmarks не выбирают нашу модель</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Одинаковый протокол и измерение CPU/VRAM</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828675">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Guo, Ovadia</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Калибровка слабеет при смене условий</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Risk–coverage и внешняя проверка отказов</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bl>
          </a:graphicData>
        </a:graphic>
      </p:graphicFrame>
      <p:sp>
        <p:nvSpPr>
          <p:cNvPr id="5" name="text-3">
            <a:extLst xmlns:a="http://schemas.openxmlformats.org/drawingml/2006/main">
              <a:ext uri="{FF2B5EF4-FFF2-40B4-BE49-F238E27FC236}">
                <a16:creationId xmlns:a16="http://schemas.microsoft.com/office/drawing/2014/main" id="{B73A73D8-21E9-4375-AE8F-63A2C48108DC}"/>
              </a:ext>
            </a:extLst>
          </p:cNvPr>
          <p:cNvSpPr>
            <a:spLocks xmlns:a="http://schemas.openxmlformats.org/drawingml/2006/main" noGrp="1"/>
          </p:cNvSpPr>
          <p:nvPr/>
        </p:nvSpPr>
        <p:spPr>
          <a:xfrm xmlns:a="http://schemas.openxmlformats.org/drawingml/2006/main">
            <a:off x="609600" y="6210300"/>
            <a:ext cx="1249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B7064"/>
                </a:solidFill>
                <a:latin typeface="DejaVu Sans"/>
                <a:ea typeface="DejaVu Sans"/>
                <a:cs typeface="DejaVu Sans"/>
              </a:defRPr>
            </a:defPPr>
            <a:lvl1pPr algn="l">
              <a:defRPr sz="1875" b="0">
                <a:solidFill>
                  <a:srgbClr val="5B7064"/>
                </a:solidFill>
                <a:latin typeface="DejaVu Sans"/>
                <a:ea typeface="DejaVu Sans"/>
                <a:cs typeface="DejaVu Sans"/>
              </a:defRPr>
            </a:lvl1pPr>
            <a:lvl2pPr algn="l">
              <a:defRPr sz="1875" b="0">
                <a:solidFill>
                  <a:srgbClr val="5B7064"/>
                </a:solidFill>
                <a:latin typeface="DejaVu Sans"/>
                <a:ea typeface="DejaVu Sans"/>
                <a:cs typeface="DejaVu Sans"/>
              </a:defRPr>
            </a:lvl2pPr>
            <a:lvl3pPr algn="l">
              <a:defRPr sz="1875" b="0">
                <a:solidFill>
                  <a:srgbClr val="5B7064"/>
                </a:solidFill>
                <a:latin typeface="DejaVu Sans"/>
                <a:ea typeface="DejaVu Sans"/>
                <a:cs typeface="DejaVu Sans"/>
              </a:defRPr>
            </a:lvl3pPr>
            <a:lvl4pPr algn="l">
              <a:defRPr sz="1875" b="0">
                <a:solidFill>
                  <a:srgbClr val="5B7064"/>
                </a:solidFill>
                <a:latin typeface="DejaVu Sans"/>
                <a:ea typeface="DejaVu Sans"/>
                <a:cs typeface="DejaVu Sans"/>
              </a:defRPr>
            </a:lvl4pPr>
            <a:lvl5pPr algn="l">
              <a:defRPr sz="1875" b="0">
                <a:solidFill>
                  <a:srgbClr val="5B7064"/>
                </a:solidFill>
                <a:latin typeface="DejaVu Sans"/>
                <a:ea typeface="DejaVu Sans"/>
                <a:cs typeface="DejaVu Sans"/>
              </a:defRPr>
            </a:lvl5pPr>
            <a:lvl6pPr algn="l">
              <a:defRPr sz="1875" b="0">
                <a:solidFill>
                  <a:srgbClr val="5B7064"/>
                </a:solidFill>
                <a:latin typeface="DejaVu Sans"/>
                <a:ea typeface="DejaVu Sans"/>
                <a:cs typeface="DejaVu Sans"/>
              </a:defRPr>
            </a:lvl6pPr>
            <a:lvl7pPr algn="l">
              <a:defRPr sz="1875" b="0">
                <a:solidFill>
                  <a:srgbClr val="5B7064"/>
                </a:solidFill>
                <a:latin typeface="DejaVu Sans"/>
                <a:ea typeface="DejaVu Sans"/>
                <a:cs typeface="DejaVu Sans"/>
              </a:defRPr>
            </a:lvl7pPr>
            <a:lvl8pPr algn="l">
              <a:defRPr sz="1875" b="0">
                <a:solidFill>
                  <a:srgbClr val="5B7064"/>
                </a:solidFill>
                <a:latin typeface="DejaVu Sans"/>
                <a:ea typeface="DejaVu Sans"/>
                <a:cs typeface="DejaVu Sans"/>
              </a:defRPr>
            </a:lvl8pPr>
            <a:lvl9pPr algn="l">
              <a:defRPr sz="1875" b="0">
                <a:solidFill>
                  <a:srgbClr val="5B7064"/>
                </a:solidFill>
                <a:latin typeface="DejaVu Sans"/>
                <a:ea typeface="DejaVu Sans"/>
                <a:cs typeface="DejaVu Sans"/>
              </a:defRPr>
            </a:lvl9pPr>
          </a:lstStyle>
          <a:p xmlns:a="http://schemas.openxmlformats.org/drawingml/2006/main">
            <a:pPr algn="l">
              <a:lnSpc>
                <a:spcPct val="108000"/>
              </a:lnSpc>
              <a:buNone/>
              <a:defRPr sz="1875" b="0">
                <a:solidFill>
                  <a:srgbClr val="5B7064"/>
                </a:solidFill>
                <a:latin typeface="DejaVu Sans"/>
                <a:ea typeface="DejaVu Sans"/>
                <a:cs typeface="DejaVu Sans"/>
              </a:defRPr>
            </a:pPr>
            <a:r>
              <a:rPr sz="1875" b="0">
                <a:solidFill>
                  <a:srgbClr val="5B7064"/>
                </a:solidFill>
                <a:latin typeface="DejaVu Sans"/>
                <a:ea typeface="DejaVu Sans"/>
                <a:cs typeface="DejaVu Sans"/>
              </a:rPr>
              <a:t>Современное ядро: 9 рецензируемых работ 2023–2026. Чужие метрики не являются точностью AgroVision.</a:t>
            </a:r>
          </a:p>
        </p:txBody>
      </p:sp>
      <p:sp>
        <p:nvSpPr>
          <p:cNvPr id="6" name="source-footer">
            <a:extLst xmlns:a="http://schemas.openxmlformats.org/drawingml/2006/main">
              <a:ext uri="{FF2B5EF4-FFF2-40B4-BE49-F238E27FC236}">
                <a16:creationId xmlns:a16="http://schemas.microsoft.com/office/drawing/2014/main" id="{2D48756F-9244-42FF-9786-DCFA22AE590A}"/>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Полная матрица с вкладом, ограничениями и решениями: references/LITERATURE_REVIEW.md</a:t>
            </a:r>
          </a:p>
        </p:txBody>
      </p:sp>
    </p:spTree>
    <p:extLst>
      <p:ext uri="{BB962C8B-B14F-4D97-AF65-F5344CB8AC3E}">
        <p14:creationId xmlns:p14="http://schemas.microsoft.com/office/powerpoint/2010/main" val="1258220025"/>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9D0FC82-29EB-4020-A946-1ABC7328D0D2}"/>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Существующие системы</a:t>
            </a:r>
          </a:p>
        </p:txBody>
      </p:sp>
      <p:sp>
        <p:nvSpPr>
          <p:cNvPr id="2" name="slide-number">
            <a:extLst xmlns:a="http://schemas.openxmlformats.org/drawingml/2006/main">
              <a:ext uri="{FF2B5EF4-FFF2-40B4-BE49-F238E27FC236}">
                <a16:creationId xmlns:a16="http://schemas.microsoft.com/office/drawing/2014/main" id="{6CC2E735-6382-439C-8C9E-5D51D5F13B75}"/>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05</a:t>
            </a:r>
          </a:p>
        </p:txBody>
      </p:sp>
      <p:sp>
        <p:nvSpPr>
          <p:cNvPr id="3" name="text-2">
            <a:extLst xmlns:a="http://schemas.openxmlformats.org/drawingml/2006/main">
              <a:ext uri="{FF2B5EF4-FFF2-40B4-BE49-F238E27FC236}">
                <a16:creationId xmlns:a16="http://schemas.microsoft.com/office/drawing/2014/main" id="{80C6E4A8-7FAB-48EF-974D-E23209B4AE69}"/>
              </a:ext>
            </a:extLst>
          </p:cNvPr>
          <p:cNvSpPr>
            <a:spLocks xmlns:a="http://schemas.openxmlformats.org/drawingml/2006/main" noGrp="1"/>
          </p:cNvSpPr>
          <p:nvPr/>
        </p:nvSpPr>
        <p:spPr>
          <a:xfrm xmlns:a="http://schemas.openxmlformats.org/drawingml/2006/main">
            <a:off x="609600" y="1209675"/>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243C31"/>
                </a:solidFill>
                <a:latin typeface="DejaVu Sans"/>
                <a:ea typeface="DejaVu Sans"/>
                <a:cs typeface="DejaVu Sans"/>
              </a:defRPr>
            </a:defPPr>
            <a:lvl1pPr algn="l">
              <a:defRPr sz="2025" b="0">
                <a:solidFill>
                  <a:srgbClr val="243C31"/>
                </a:solidFill>
                <a:latin typeface="DejaVu Sans"/>
                <a:ea typeface="DejaVu Sans"/>
                <a:cs typeface="DejaVu Sans"/>
              </a:defRPr>
            </a:lvl1pPr>
            <a:lvl2pPr algn="l">
              <a:defRPr sz="2025" b="0">
                <a:solidFill>
                  <a:srgbClr val="243C31"/>
                </a:solidFill>
                <a:latin typeface="DejaVu Sans"/>
                <a:ea typeface="DejaVu Sans"/>
                <a:cs typeface="DejaVu Sans"/>
              </a:defRPr>
            </a:lvl2pPr>
            <a:lvl3pPr algn="l">
              <a:defRPr sz="2025" b="0">
                <a:solidFill>
                  <a:srgbClr val="243C31"/>
                </a:solidFill>
                <a:latin typeface="DejaVu Sans"/>
                <a:ea typeface="DejaVu Sans"/>
                <a:cs typeface="DejaVu Sans"/>
              </a:defRPr>
            </a:lvl3pPr>
            <a:lvl4pPr algn="l">
              <a:defRPr sz="2025" b="0">
                <a:solidFill>
                  <a:srgbClr val="243C31"/>
                </a:solidFill>
                <a:latin typeface="DejaVu Sans"/>
                <a:ea typeface="DejaVu Sans"/>
                <a:cs typeface="DejaVu Sans"/>
              </a:defRPr>
            </a:lvl4pPr>
            <a:lvl5pPr algn="l">
              <a:defRPr sz="2025" b="0">
                <a:solidFill>
                  <a:srgbClr val="243C31"/>
                </a:solidFill>
                <a:latin typeface="DejaVu Sans"/>
                <a:ea typeface="DejaVu Sans"/>
                <a:cs typeface="DejaVu Sans"/>
              </a:defRPr>
            </a:lvl5pPr>
            <a:lvl6pPr algn="l">
              <a:defRPr sz="2025" b="0">
                <a:solidFill>
                  <a:srgbClr val="243C31"/>
                </a:solidFill>
                <a:latin typeface="DejaVu Sans"/>
                <a:ea typeface="DejaVu Sans"/>
                <a:cs typeface="DejaVu Sans"/>
              </a:defRPr>
            </a:lvl6pPr>
            <a:lvl7pPr algn="l">
              <a:defRPr sz="2025" b="0">
                <a:solidFill>
                  <a:srgbClr val="243C31"/>
                </a:solidFill>
                <a:latin typeface="DejaVu Sans"/>
                <a:ea typeface="DejaVu Sans"/>
                <a:cs typeface="DejaVu Sans"/>
              </a:defRPr>
            </a:lvl7pPr>
            <a:lvl8pPr algn="l">
              <a:defRPr sz="2025" b="0">
                <a:solidFill>
                  <a:srgbClr val="243C31"/>
                </a:solidFill>
                <a:latin typeface="DejaVu Sans"/>
                <a:ea typeface="DejaVu Sans"/>
                <a:cs typeface="DejaVu Sans"/>
              </a:defRPr>
            </a:lvl8pPr>
            <a:lvl9pPr algn="l">
              <a:defRPr sz="2025" b="0">
                <a:solidFill>
                  <a:srgbClr val="243C31"/>
                </a:solidFill>
                <a:latin typeface="DejaVu Sans"/>
                <a:ea typeface="DejaVu Sans"/>
                <a:cs typeface="DejaVu Sans"/>
              </a:defRPr>
            </a:lvl9pPr>
          </a:lstStyle>
          <a:p xmlns:a="http://schemas.openxmlformats.org/drawingml/2006/main">
            <a:pPr algn="l">
              <a:lnSpc>
                <a:spcPct val="108000"/>
              </a:lnSpc>
              <a:buNone/>
              <a:defRPr sz="2025" b="0">
                <a:solidFill>
                  <a:srgbClr val="243C31"/>
                </a:solidFill>
                <a:latin typeface="DejaVu Sans"/>
                <a:ea typeface="DejaVu Sans"/>
                <a:cs typeface="DejaVu Sans"/>
              </a:defRPr>
            </a:pPr>
            <a:r>
              <a:rPr sz="2025" b="0">
                <a:solidFill>
                  <a:srgbClr val="243C31"/>
                </a:solidFill>
                <a:latin typeface="DejaVu Sans"/>
                <a:ea typeface="DejaVu Sans"/>
                <a:cs typeface="DejaVu Sans"/>
              </a:rPr>
              <a:t>Четыре решения по единым критериям. Полная матрица из восьми критериев находится в заметках.</a:t>
            </a:r>
          </a:p>
        </p:txBody>
      </p:sp>
      <p:graphicFrame>
        <p:nvGraphicFramePr>
          <p:cNvPr id="4" name="">
            <a:extLst xmlns:a="http://schemas.openxmlformats.org/drawingml/2006/main">
              <a:ext uri="{FF2B5EF4-FFF2-40B4-BE49-F238E27FC236}">
                <a16:creationId xmlns:a16="http://schemas.microsoft.com/office/drawing/2014/main" id="{51BCFE82-6801-4939-BFA5-EEBD0A034169}"/>
              </a:ext>
            </a:extLst>
          </p:cNvPr>
          <p:cNvGraphicFramePr/>
          <p:nvPr/>
        </p:nvGraphicFramePr>
        <p:xfrm>
          <a:off xmlns:a="http://schemas.openxmlformats.org/drawingml/2006/main" x="609600" y="2095500"/>
          <a:ext xmlns:a="http://schemas.openxmlformats.org/drawingml/2006/main" cx="12496800" cy="3429000"/>
        </p:xfrm>
        <a:graphic xmlns:a="http://schemas.openxmlformats.org/drawingml/2006/main">
          <a:graphicData uri="http://schemas.openxmlformats.org/drawingml/2006/table">
            <a:tbl>
              <a:tblPr firstRow="1" bandRow="0"/>
              <a:tblGrid>
                <a:gridCol w="2857500"/>
                <a:gridCol w="3067050"/>
                <a:gridCol w="3333750"/>
                <a:gridCol w="3238500"/>
              </a:tblGrid>
              <a:tr h="609600">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Система</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Фото и доступ</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История / журнал</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Автономная диагностика</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7048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Plantix</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Android, REST API</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Полевой журнал не установлен</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Не установлена</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7048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PlantVillage+</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Android</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PV Journal</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Полный текущий режим не установлен</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7048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Agrio</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Android, iOS, API</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Полевые записи и отчёты</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Не установлена</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7048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kindwise crop.health</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REST API, веб-демо</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Сохранённые API-результаты</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Серверный HTTPS API</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bl>
          </a:graphicData>
        </a:graphic>
      </p:graphicFrame>
      <p:sp>
        <p:nvSpPr>
          <p:cNvPr id="5" name="text-3">
            <a:extLst xmlns:a="http://schemas.openxmlformats.org/drawingml/2006/main">
              <a:ext uri="{FF2B5EF4-FFF2-40B4-BE49-F238E27FC236}">
                <a16:creationId xmlns:a16="http://schemas.microsoft.com/office/drawing/2014/main" id="{BD24F227-24DE-480A-8A37-6F429635A78C}"/>
              </a:ext>
            </a:extLst>
          </p:cNvPr>
          <p:cNvSpPr>
            <a:spLocks xmlns:a="http://schemas.openxmlformats.org/drawingml/2006/main" noGrp="1"/>
          </p:cNvSpPr>
          <p:nvPr/>
        </p:nvSpPr>
        <p:spPr>
          <a:xfrm xmlns:a="http://schemas.openxmlformats.org/drawingml/2006/main">
            <a:off x="609600" y="5972175"/>
            <a:ext cx="124968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B7064"/>
                </a:solidFill>
                <a:latin typeface="DejaVu Sans"/>
                <a:ea typeface="DejaVu Sans"/>
                <a:cs typeface="DejaVu Sans"/>
              </a:defRPr>
            </a:defPPr>
            <a:lvl1pPr algn="l">
              <a:defRPr sz="2025" b="0">
                <a:solidFill>
                  <a:srgbClr val="5B7064"/>
                </a:solidFill>
                <a:latin typeface="DejaVu Sans"/>
                <a:ea typeface="DejaVu Sans"/>
                <a:cs typeface="DejaVu Sans"/>
              </a:defRPr>
            </a:lvl1pPr>
            <a:lvl2pPr algn="l">
              <a:defRPr sz="2025" b="0">
                <a:solidFill>
                  <a:srgbClr val="5B7064"/>
                </a:solidFill>
                <a:latin typeface="DejaVu Sans"/>
                <a:ea typeface="DejaVu Sans"/>
                <a:cs typeface="DejaVu Sans"/>
              </a:defRPr>
            </a:lvl2pPr>
            <a:lvl3pPr algn="l">
              <a:defRPr sz="2025" b="0">
                <a:solidFill>
                  <a:srgbClr val="5B7064"/>
                </a:solidFill>
                <a:latin typeface="DejaVu Sans"/>
                <a:ea typeface="DejaVu Sans"/>
                <a:cs typeface="DejaVu Sans"/>
              </a:defRPr>
            </a:lvl3pPr>
            <a:lvl4pPr algn="l">
              <a:defRPr sz="2025" b="0">
                <a:solidFill>
                  <a:srgbClr val="5B7064"/>
                </a:solidFill>
                <a:latin typeface="DejaVu Sans"/>
                <a:ea typeface="DejaVu Sans"/>
                <a:cs typeface="DejaVu Sans"/>
              </a:defRPr>
            </a:lvl4pPr>
            <a:lvl5pPr algn="l">
              <a:defRPr sz="2025" b="0">
                <a:solidFill>
                  <a:srgbClr val="5B7064"/>
                </a:solidFill>
                <a:latin typeface="DejaVu Sans"/>
                <a:ea typeface="DejaVu Sans"/>
                <a:cs typeface="DejaVu Sans"/>
              </a:defRPr>
            </a:lvl5pPr>
            <a:lvl6pPr algn="l">
              <a:defRPr sz="2025" b="0">
                <a:solidFill>
                  <a:srgbClr val="5B7064"/>
                </a:solidFill>
                <a:latin typeface="DejaVu Sans"/>
                <a:ea typeface="DejaVu Sans"/>
                <a:cs typeface="DejaVu Sans"/>
              </a:defRPr>
            </a:lvl6pPr>
            <a:lvl7pPr algn="l">
              <a:defRPr sz="2025" b="0">
                <a:solidFill>
                  <a:srgbClr val="5B7064"/>
                </a:solidFill>
                <a:latin typeface="DejaVu Sans"/>
                <a:ea typeface="DejaVu Sans"/>
                <a:cs typeface="DejaVu Sans"/>
              </a:defRPr>
            </a:lvl7pPr>
            <a:lvl8pPr algn="l">
              <a:defRPr sz="2025" b="0">
                <a:solidFill>
                  <a:srgbClr val="5B7064"/>
                </a:solidFill>
                <a:latin typeface="DejaVu Sans"/>
                <a:ea typeface="DejaVu Sans"/>
                <a:cs typeface="DejaVu Sans"/>
              </a:defRPr>
            </a:lvl8pPr>
            <a:lvl9pPr algn="l">
              <a:defRPr sz="2025" b="0">
                <a:solidFill>
                  <a:srgbClr val="5B7064"/>
                </a:solidFill>
                <a:latin typeface="DejaVu Sans"/>
                <a:ea typeface="DejaVu Sans"/>
                <a:cs typeface="DejaVu Sans"/>
              </a:defRPr>
            </a:lvl9pPr>
          </a:lstStyle>
          <a:p xmlns:a="http://schemas.openxmlformats.org/drawingml/2006/main">
            <a:pPr algn="l">
              <a:lnSpc>
                <a:spcPct val="108000"/>
              </a:lnSpc>
              <a:buNone/>
              <a:defRPr sz="2025" b="0">
                <a:solidFill>
                  <a:srgbClr val="5B7064"/>
                </a:solidFill>
                <a:latin typeface="DejaVu Sans"/>
                <a:ea typeface="DejaVu Sans"/>
                <a:cs typeface="DejaVu Sans"/>
              </a:defRPr>
            </a:pPr>
            <a:r>
              <a:rPr sz="2025" b="0">
                <a:solidFill>
                  <a:srgbClr val="5B7064"/>
                </a:solidFill>
                <a:latin typeface="DejaVu Sans"/>
                <a:ea typeface="DejaVu Sans"/>
                <a:cs typeface="DejaVu Sans"/>
              </a:rPr>
              <a:t>По изученным источникам независимый тест этих систем в Казахстане не установлен. Это не доказывает отсутствие функции или низкое качество.</a:t>
            </a:r>
          </a:p>
        </p:txBody>
      </p:sp>
      <p:sp>
        <p:nvSpPr>
          <p:cNvPr id="6" name="source-footer">
            <a:extLst xmlns:a="http://schemas.openxmlformats.org/drawingml/2006/main">
              <a:ext uri="{FF2B5EF4-FFF2-40B4-BE49-F238E27FC236}">
                <a16:creationId xmlns:a16="http://schemas.microsoft.com/office/drawing/2014/main" id="{D600669B-76A1-4CA2-9FE5-031EB104E550}"/>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Заявления поставщиков, срез 21.10.2026. Собственное сравнительное испытание не проводилось.</a:t>
            </a:r>
          </a:p>
        </p:txBody>
      </p:sp>
    </p:spTree>
    <p:extLst>
      <p:ext uri="{BB962C8B-B14F-4D97-AF65-F5344CB8AC3E}">
        <p14:creationId xmlns:p14="http://schemas.microsoft.com/office/powerpoint/2010/main" val="497040690"/>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A4978B-B0D9-44BD-9D41-D5BF61BC8A81}"/>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Шесть технических решений</a:t>
            </a:r>
          </a:p>
        </p:txBody>
      </p:sp>
      <p:sp>
        <p:nvSpPr>
          <p:cNvPr id="2" name="slide-number">
            <a:extLst xmlns:a="http://schemas.openxmlformats.org/drawingml/2006/main">
              <a:ext uri="{FF2B5EF4-FFF2-40B4-BE49-F238E27FC236}">
                <a16:creationId xmlns:a16="http://schemas.microsoft.com/office/drawing/2014/main" id="{841E34E1-20AF-4988-B247-DA440255DFBD}"/>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06</a:t>
            </a:r>
          </a:p>
        </p:txBody>
      </p:sp>
      <p:graphicFrame>
        <p:nvGraphicFramePr>
          <p:cNvPr id="3" name="">
            <a:extLst xmlns:a="http://schemas.openxmlformats.org/drawingml/2006/main">
              <a:ext uri="{FF2B5EF4-FFF2-40B4-BE49-F238E27FC236}">
                <a16:creationId xmlns:a16="http://schemas.microsoft.com/office/drawing/2014/main" id="{12A34DAB-6555-4223-ABDA-32E00B1290BD}"/>
              </a:ext>
            </a:extLst>
          </p:cNvPr>
          <p:cNvGraphicFramePr/>
          <p:nvPr/>
        </p:nvGraphicFramePr>
        <p:xfrm>
          <a:off xmlns:a="http://schemas.openxmlformats.org/drawingml/2006/main" x="609600" y="1428750"/>
          <a:ext xmlns:a="http://schemas.openxmlformats.org/drawingml/2006/main" cx="12496800" cy="4591050"/>
        </p:xfrm>
        <a:graphic xmlns:a="http://schemas.openxmlformats.org/drawingml/2006/main">
          <a:graphicData uri="http://schemas.openxmlformats.org/drawingml/2006/table">
            <a:tbl>
              <a:tblPr firstRow="1" bandRow="0"/>
              <a:tblGrid>
                <a:gridCol w="3476625"/>
                <a:gridCol w="3857625"/>
                <a:gridCol w="5162550"/>
              </a:tblGrid>
              <a:tr h="590550">
                <a:tc>
                  <a:txBody>
                    <a:bodyPr lIns="114300" tIns="95250" rIns="114300" bIns="95250">
                      <a:noAutofit/>
                    </a:bodyPr>
                    <a:lstStyle/>
                    <a:p>
                      <a:pPr>
                        <a:lnSpc>
                          <a:spcPct val="105000"/>
                        </a:lnSpc>
                        <a:buNone/>
                      </a:pPr>
                      <a:r>
                        <a:rPr sz="1725" b="1">
                          <a:solidFill>
                            <a:srgbClr val="FFFFFF"/>
                          </a:solidFill>
                          <a:latin typeface="DejaVu Sans"/>
                          <a:ea typeface="DejaVu Sans"/>
                          <a:cs typeface="DejaVu Sans"/>
                        </a:rPr>
                        <a:t>Решение</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725" b="1">
                          <a:solidFill>
                            <a:srgbClr val="FFFFFF"/>
                          </a:solidFill>
                          <a:latin typeface="DejaVu Sans"/>
                          <a:ea typeface="DejaVu Sans"/>
                          <a:cs typeface="DejaVu Sans"/>
                        </a:rPr>
                        <a:t>Выбор</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725" b="1">
                          <a:solidFill>
                            <a:srgbClr val="FFFFFF"/>
                          </a:solidFill>
                          <a:latin typeface="DejaVu Sans"/>
                          <a:ea typeface="DejaVu Sans"/>
                          <a:cs typeface="DejaVu Sans"/>
                        </a:rPr>
                        <a:t>Обоснование для команды</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666750">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ADR-01 Backend</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FastAPI</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Общий Python-стек API и ML</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66750">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ADR-02 Границы</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Модульный монолит</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Одна кодовая база, API и worker отдельно</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666750">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ADR-03 Данные</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PostgreSQL + private S3</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Связи и транзакции отдельно от фото</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66750">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ADR-04 Задания</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Worker + PostgreSQL queue</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Согласованное создание assessment и job</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666750">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ADR-05 Inference</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CPU ONNX Runtime</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Проверяемый экспорт и единый runtime</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66750">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ADR-06 Код</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pnpm + uv, один repo</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00" b="0">
                          <a:solidFill>
                            <a:srgbClr val="243C31"/>
                          </a:solidFill>
                          <a:latin typeface="DejaVu Sans"/>
                          <a:ea typeface="DejaVu Sans"/>
                          <a:cs typeface="DejaVu Sans"/>
                        </a:rPr>
                        <a:t>Общий контракт и простая координация</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bl>
          </a:graphicData>
        </a:graphic>
      </p:graphicFrame>
      <p:sp>
        <p:nvSpPr>
          <p:cNvPr id="4" name="text-2">
            <a:extLst xmlns:a="http://schemas.openxmlformats.org/drawingml/2006/main">
              <a:ext uri="{FF2B5EF4-FFF2-40B4-BE49-F238E27FC236}">
                <a16:creationId xmlns:a16="http://schemas.microsoft.com/office/drawing/2014/main" id="{BE435514-C508-44A0-9FE1-0E6EAEBCF998}"/>
              </a:ext>
            </a:extLst>
          </p:cNvPr>
          <p:cNvSpPr>
            <a:spLocks xmlns:a="http://schemas.openxmlformats.org/drawingml/2006/main" noGrp="1"/>
          </p:cNvSpPr>
          <p:nvPr/>
        </p:nvSpPr>
        <p:spPr>
          <a:xfrm xmlns:a="http://schemas.openxmlformats.org/drawingml/2006/main">
            <a:off x="609600" y="6391275"/>
            <a:ext cx="12496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B7064"/>
                </a:solidFill>
                <a:latin typeface="DejaVu Sans"/>
                <a:ea typeface="DejaVu Sans"/>
                <a:cs typeface="DejaVu Sans"/>
              </a:defRPr>
            </a:defPPr>
            <a:lvl1pPr algn="l">
              <a:defRPr sz="1875" b="0">
                <a:solidFill>
                  <a:srgbClr val="5B7064"/>
                </a:solidFill>
                <a:latin typeface="DejaVu Sans"/>
                <a:ea typeface="DejaVu Sans"/>
                <a:cs typeface="DejaVu Sans"/>
              </a:defRPr>
            </a:lvl1pPr>
            <a:lvl2pPr algn="l">
              <a:defRPr sz="1875" b="0">
                <a:solidFill>
                  <a:srgbClr val="5B7064"/>
                </a:solidFill>
                <a:latin typeface="DejaVu Sans"/>
                <a:ea typeface="DejaVu Sans"/>
                <a:cs typeface="DejaVu Sans"/>
              </a:defRPr>
            </a:lvl2pPr>
            <a:lvl3pPr algn="l">
              <a:defRPr sz="1875" b="0">
                <a:solidFill>
                  <a:srgbClr val="5B7064"/>
                </a:solidFill>
                <a:latin typeface="DejaVu Sans"/>
                <a:ea typeface="DejaVu Sans"/>
                <a:cs typeface="DejaVu Sans"/>
              </a:defRPr>
            </a:lvl3pPr>
            <a:lvl4pPr algn="l">
              <a:defRPr sz="1875" b="0">
                <a:solidFill>
                  <a:srgbClr val="5B7064"/>
                </a:solidFill>
                <a:latin typeface="DejaVu Sans"/>
                <a:ea typeface="DejaVu Sans"/>
                <a:cs typeface="DejaVu Sans"/>
              </a:defRPr>
            </a:lvl4pPr>
            <a:lvl5pPr algn="l">
              <a:defRPr sz="1875" b="0">
                <a:solidFill>
                  <a:srgbClr val="5B7064"/>
                </a:solidFill>
                <a:latin typeface="DejaVu Sans"/>
                <a:ea typeface="DejaVu Sans"/>
                <a:cs typeface="DejaVu Sans"/>
              </a:defRPr>
            </a:lvl5pPr>
            <a:lvl6pPr algn="l">
              <a:defRPr sz="1875" b="0">
                <a:solidFill>
                  <a:srgbClr val="5B7064"/>
                </a:solidFill>
                <a:latin typeface="DejaVu Sans"/>
                <a:ea typeface="DejaVu Sans"/>
                <a:cs typeface="DejaVu Sans"/>
              </a:defRPr>
            </a:lvl6pPr>
            <a:lvl7pPr algn="l">
              <a:defRPr sz="1875" b="0">
                <a:solidFill>
                  <a:srgbClr val="5B7064"/>
                </a:solidFill>
                <a:latin typeface="DejaVu Sans"/>
                <a:ea typeface="DejaVu Sans"/>
                <a:cs typeface="DejaVu Sans"/>
              </a:defRPr>
            </a:lvl7pPr>
            <a:lvl8pPr algn="l">
              <a:defRPr sz="1875" b="0">
                <a:solidFill>
                  <a:srgbClr val="5B7064"/>
                </a:solidFill>
                <a:latin typeface="DejaVu Sans"/>
                <a:ea typeface="DejaVu Sans"/>
                <a:cs typeface="DejaVu Sans"/>
              </a:defRPr>
            </a:lvl8pPr>
            <a:lvl9pPr algn="l">
              <a:defRPr sz="1875" b="0">
                <a:solidFill>
                  <a:srgbClr val="5B7064"/>
                </a:solidFill>
                <a:latin typeface="DejaVu Sans"/>
                <a:ea typeface="DejaVu Sans"/>
                <a:cs typeface="DejaVu Sans"/>
              </a:defRPr>
            </a:lvl9pPr>
          </a:lstStyle>
          <a:p xmlns:a="http://schemas.openxmlformats.org/drawingml/2006/main">
            <a:pPr algn="l">
              <a:lnSpc>
                <a:spcPct val="108000"/>
              </a:lnSpc>
              <a:buNone/>
              <a:defRPr sz="1875" b="0">
                <a:solidFill>
                  <a:srgbClr val="5B7064"/>
                </a:solidFill>
                <a:latin typeface="DejaVu Sans"/>
                <a:ea typeface="DejaVu Sans"/>
                <a:cs typeface="DejaVu Sans"/>
              </a:defRPr>
            </a:pPr>
            <a:r>
              <a:rPr sz="1875" b="0">
                <a:solidFill>
                  <a:srgbClr val="5B7064"/>
                </a:solidFill>
                <a:latin typeface="DejaVu Sans"/>
                <a:ea typeface="DejaVu Sans"/>
                <a:cs typeface="DejaVu Sans"/>
              </a:rPr>
              <a:t>Для каждого ADR рассмотрены три варианта. Выбор остаётся проектным и проверяется на свежем коде и измерениях.</a:t>
            </a:r>
          </a:p>
        </p:txBody>
      </p:sp>
      <p:sp>
        <p:nvSpPr>
          <p:cNvPr id="5" name="source-footer">
            <a:extLst xmlns:a="http://schemas.openxmlformats.org/drawingml/2006/main">
              <a:ext uri="{FF2B5EF4-FFF2-40B4-BE49-F238E27FC236}">
                <a16:creationId xmlns:a16="http://schemas.microsoft.com/office/drawing/2014/main" id="{EC7AA945-216E-47EC-8A07-D0AF2408DBFD}"/>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Альтернативы и первичные технические источники: architecture/DECISIONS.md и заметки слайда.</a:t>
            </a:r>
          </a:p>
        </p:txBody>
      </p:sp>
    </p:spTree>
    <p:extLst>
      <p:ext uri="{BB962C8B-B14F-4D97-AF65-F5344CB8AC3E}">
        <p14:creationId xmlns:p14="http://schemas.microsoft.com/office/powerpoint/2010/main" val="1162808611"/>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CDBEFB0-688C-4033-A7BA-DF6CEE2CDCFD}"/>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Проверяемые требования</a:t>
            </a:r>
          </a:p>
        </p:txBody>
      </p:sp>
      <p:sp>
        <p:nvSpPr>
          <p:cNvPr id="2" name="slide-number">
            <a:extLst xmlns:a="http://schemas.openxmlformats.org/drawingml/2006/main">
              <a:ext uri="{FF2B5EF4-FFF2-40B4-BE49-F238E27FC236}">
                <a16:creationId xmlns:a16="http://schemas.microsoft.com/office/drawing/2014/main" id="{D105E3AE-9DA5-4E46-BE1C-9C59332BD331}"/>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07</a:t>
            </a:r>
          </a:p>
        </p:txBody>
      </p:sp>
      <p:graphicFrame>
        <p:nvGraphicFramePr>
          <p:cNvPr id="3" name="">
            <a:extLst xmlns:a="http://schemas.openxmlformats.org/drawingml/2006/main">
              <a:ext uri="{FF2B5EF4-FFF2-40B4-BE49-F238E27FC236}">
                <a16:creationId xmlns:a16="http://schemas.microsoft.com/office/drawing/2014/main" id="{6FE56B27-D67B-4880-9D27-B6FA8E1F06EF}"/>
              </a:ext>
            </a:extLst>
          </p:cNvPr>
          <p:cNvGraphicFramePr/>
          <p:nvPr/>
        </p:nvGraphicFramePr>
        <p:xfrm>
          <a:off xmlns:a="http://schemas.openxmlformats.org/drawingml/2006/main" x="609600" y="1476375"/>
          <a:ext xmlns:a="http://schemas.openxmlformats.org/drawingml/2006/main" cx="12496800" cy="4048125"/>
        </p:xfrm>
        <a:graphic xmlns:a="http://schemas.openxmlformats.org/drawingml/2006/main">
          <a:graphicData uri="http://schemas.openxmlformats.org/drawingml/2006/table">
            <a:tbl>
              <a:tblPr firstRow="1" bandRow="0"/>
              <a:tblGrid>
                <a:gridCol w="4953000"/>
                <a:gridCol w="7543800"/>
              </a:tblGrid>
              <a:tr h="571500">
                <a:tc>
                  <a:txBody>
                    <a:bodyPr lIns="114300" tIns="95250" rIns="114300" bIns="95250">
                      <a:noAutofit/>
                    </a:bodyPr>
                    <a:lstStyle/>
                    <a:p>
                      <a:pPr>
                        <a:lnSpc>
                          <a:spcPct val="105000"/>
                        </a:lnSpc>
                        <a:buNone/>
                      </a:pPr>
                      <a:r>
                        <a:rPr sz="1875" b="1">
                          <a:solidFill>
                            <a:srgbClr val="FFFFFF"/>
                          </a:solidFill>
                          <a:latin typeface="DejaVu Sans"/>
                          <a:ea typeface="DejaVu Sans"/>
                          <a:cs typeface="DejaVu Sans"/>
                        </a:rPr>
                        <a:t>Требование</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75" b="1">
                          <a:solidFill>
                            <a:srgbClr val="FFFFFF"/>
                          </a:solidFill>
                          <a:latin typeface="DejaVu Sans"/>
                          <a:ea typeface="DejaVu Sans"/>
                          <a:cs typeface="DejaVu Sans"/>
                        </a:rPr>
                        <a:t>Будущее свидетельство приёмки</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695325">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FR-01/16 Каталог</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Культура, состояние и орган согласованы с model manifest</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95325">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FR-05/06, NFR-03 Надёжность</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Повтор запроса и restart worker сохраняют один committed result</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695325">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FR-07/08 Результат</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predicted, inconclusive, unsupported_input, retake_photo различаются</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95325">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FR-09, NFR-04 История и доступ</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Собственные записи доступны, чужие object IDs запрещены</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695325">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FR-14, NFR-06 Версия модели</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950" b="0">
                          <a:solidFill>
                            <a:srgbClr val="243C31"/>
                          </a:solidFill>
                          <a:latin typeface="DejaVu Sans"/>
                          <a:ea typeface="DejaVu Sans"/>
                          <a:cs typeface="DejaVu Sans"/>
                        </a:rPr>
                        <a:t>Проверенный bundle закреплён за assessment и не меняется</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0A19BFB-8233-483F-B475-8E567ADF2F8D}"/>
              </a:ext>
            </a:extLst>
          </p:cNvPr>
          <p:cNvSpPr>
            <a:spLocks xmlns:a="http://schemas.openxmlformats.org/drawingml/2006/main" noGrp="1"/>
          </p:cNvSpPr>
          <p:nvPr/>
        </p:nvSpPr>
        <p:spPr>
          <a:xfrm xmlns:a="http://schemas.openxmlformats.org/drawingml/2006/main">
            <a:off x="609600" y="5924550"/>
            <a:ext cx="124968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5B7064"/>
                </a:solidFill>
                <a:latin typeface="DejaVu Sans"/>
                <a:ea typeface="DejaVu Sans"/>
                <a:cs typeface="DejaVu Sans"/>
              </a:defRPr>
            </a:defPPr>
            <a:lvl1pPr algn="l">
              <a:defRPr sz="2100" b="0">
                <a:solidFill>
                  <a:srgbClr val="5B7064"/>
                </a:solidFill>
                <a:latin typeface="DejaVu Sans"/>
                <a:ea typeface="DejaVu Sans"/>
                <a:cs typeface="DejaVu Sans"/>
              </a:defRPr>
            </a:lvl1pPr>
            <a:lvl2pPr algn="l">
              <a:defRPr sz="2100" b="0">
                <a:solidFill>
                  <a:srgbClr val="5B7064"/>
                </a:solidFill>
                <a:latin typeface="DejaVu Sans"/>
                <a:ea typeface="DejaVu Sans"/>
                <a:cs typeface="DejaVu Sans"/>
              </a:defRPr>
            </a:lvl2pPr>
            <a:lvl3pPr algn="l">
              <a:defRPr sz="2100" b="0">
                <a:solidFill>
                  <a:srgbClr val="5B7064"/>
                </a:solidFill>
                <a:latin typeface="DejaVu Sans"/>
                <a:ea typeface="DejaVu Sans"/>
                <a:cs typeface="DejaVu Sans"/>
              </a:defRPr>
            </a:lvl3pPr>
            <a:lvl4pPr algn="l">
              <a:defRPr sz="2100" b="0">
                <a:solidFill>
                  <a:srgbClr val="5B7064"/>
                </a:solidFill>
                <a:latin typeface="DejaVu Sans"/>
                <a:ea typeface="DejaVu Sans"/>
                <a:cs typeface="DejaVu Sans"/>
              </a:defRPr>
            </a:lvl4pPr>
            <a:lvl5pPr algn="l">
              <a:defRPr sz="2100" b="0">
                <a:solidFill>
                  <a:srgbClr val="5B7064"/>
                </a:solidFill>
                <a:latin typeface="DejaVu Sans"/>
                <a:ea typeface="DejaVu Sans"/>
                <a:cs typeface="DejaVu Sans"/>
              </a:defRPr>
            </a:lvl5pPr>
            <a:lvl6pPr algn="l">
              <a:defRPr sz="2100" b="0">
                <a:solidFill>
                  <a:srgbClr val="5B7064"/>
                </a:solidFill>
                <a:latin typeface="DejaVu Sans"/>
                <a:ea typeface="DejaVu Sans"/>
                <a:cs typeface="DejaVu Sans"/>
              </a:defRPr>
            </a:lvl6pPr>
            <a:lvl7pPr algn="l">
              <a:defRPr sz="2100" b="0">
                <a:solidFill>
                  <a:srgbClr val="5B7064"/>
                </a:solidFill>
                <a:latin typeface="DejaVu Sans"/>
                <a:ea typeface="DejaVu Sans"/>
                <a:cs typeface="DejaVu Sans"/>
              </a:defRPr>
            </a:lvl7pPr>
            <a:lvl8pPr algn="l">
              <a:defRPr sz="2100" b="0">
                <a:solidFill>
                  <a:srgbClr val="5B7064"/>
                </a:solidFill>
                <a:latin typeface="DejaVu Sans"/>
                <a:ea typeface="DejaVu Sans"/>
                <a:cs typeface="DejaVu Sans"/>
              </a:defRPr>
            </a:lvl8pPr>
            <a:lvl9pPr algn="l">
              <a:defRPr sz="2100" b="0">
                <a:solidFill>
                  <a:srgbClr val="5B7064"/>
                </a:solidFill>
                <a:latin typeface="DejaVu Sans"/>
                <a:ea typeface="DejaVu Sans"/>
                <a:cs typeface="DejaVu Sans"/>
              </a:defRPr>
            </a:lvl9pPr>
          </a:lstStyle>
          <a:p xmlns:a="http://schemas.openxmlformats.org/drawingml/2006/main">
            <a:pPr algn="l">
              <a:lnSpc>
                <a:spcPct val="108000"/>
              </a:lnSpc>
              <a:buNone/>
              <a:defRPr sz="2100" b="0">
                <a:solidFill>
                  <a:srgbClr val="5B7064"/>
                </a:solidFill>
                <a:latin typeface="DejaVu Sans"/>
                <a:ea typeface="DejaVu Sans"/>
                <a:cs typeface="DejaVu Sans"/>
              </a:defRPr>
            </a:pPr>
            <a:r>
              <a:rPr sz="2100" b="0">
                <a:solidFill>
                  <a:srgbClr val="5B7064"/>
                </a:solidFill>
                <a:latin typeface="DejaVu Sans"/>
                <a:ea typeface="DejaVu Sans"/>
                <a:cs typeface="DejaVu Sans"/>
              </a:rPr>
              <a:t>Техническое failed отделено от результата диагностики. Заранее неподдержанная культура даёт HTTP 422 до создания задания.</a:t>
            </a:r>
          </a:p>
        </p:txBody>
      </p:sp>
      <p:sp>
        <p:nvSpPr>
          <p:cNvPr id="5" name="source-footer">
            <a:extLst xmlns:a="http://schemas.openxmlformats.org/drawingml/2006/main">
              <a:ext uri="{FF2B5EF4-FFF2-40B4-BE49-F238E27FC236}">
                <a16:creationId xmlns:a16="http://schemas.microsoft.com/office/drawing/2014/main" id="{37677661-82AB-4996-8CB4-7611016B7599}"/>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Must/Should и все FR/NFR с методами проверки: planning/REQUIREMENTS_AND_TRACEABILITY.md</a:t>
            </a:r>
          </a:p>
        </p:txBody>
      </p:sp>
    </p:spTree>
    <p:extLst>
      <p:ext uri="{BB962C8B-B14F-4D97-AF65-F5344CB8AC3E}">
        <p14:creationId xmlns:p14="http://schemas.microsoft.com/office/powerpoint/2010/main" val="1993849691"/>
      </p:ext>
    </p:extLst>
  </p:cSld>
</p:sld>
</file>

<file path=ppt/slides/slide8.xml><?xml version="1.0" encoding="utf-8"?>
<p:sld xmlns:p="http://schemas.openxmlformats.org/presentationml/2006/main">
  <p:cSld>
    <p:bg>
      <p:bgPr>
        <a:solidFill xmlns:a="http://schemas.openxmlformats.org/drawingml/2006/main">
          <a:srgbClr val="F6F9F7"/>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E1EFAA8-8E80-408B-94EE-5F1850B40DCD}"/>
              </a:ext>
            </a:extLst>
          </p:cNvPr>
          <p:cNvPicPr>
            <a:picLocks xmlns:a="http://schemas.openxmlformats.org/drawingml/2006/main" noChangeAspect="1"/>
          </p:cNvPicPr>
          <p:nvPr/>
        </p:nvPicPr>
        <p:blipFill>
          <a:blip xmlns:r="http://schemas.openxmlformats.org/officeDocument/2006/relationships" xmlns:a="http://schemas.openxmlformats.org/drawingml/2006/main" r:embed="Ra8a02157794041ea"/>
          <a:stretch xmlns:a="http://schemas.openxmlformats.org/drawingml/2006/main"/>
        </p:blipFill>
        <p:spPr>
          <a:xfrm xmlns:a="http://schemas.openxmlformats.org/drawingml/2006/main">
            <a:off x="1105401" y="0"/>
            <a:ext cx="11505197" cy="7715250"/>
          </a:xfrm>
          <a:prstGeom xmlns:a="http://schemas.openxmlformats.org/drawingml/2006/main" prst="rect">
            <a:avLst/>
          </a:prstGeom>
        </p:spPr>
      </p:pic>
    </p:spTree>
    <p:extLst>
      <p:ext uri="{BB962C8B-B14F-4D97-AF65-F5344CB8AC3E}">
        <p14:creationId xmlns:p14="http://schemas.microsoft.com/office/powerpoint/2010/main" val="1361504196"/>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C98B783-114E-48E5-AE91-7CBDE9500419}"/>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Компоненты и границы</a:t>
            </a:r>
          </a:p>
        </p:txBody>
      </p:sp>
      <p:sp>
        <p:nvSpPr>
          <p:cNvPr id="2" name="text-1">
            <a:extLst xmlns:a="http://schemas.openxmlformats.org/drawingml/2006/main">
              <a:ext uri="{FF2B5EF4-FFF2-40B4-BE49-F238E27FC236}">
                <a16:creationId xmlns:a16="http://schemas.microsoft.com/office/drawing/2014/main" id="{E3DD43D1-DB30-417D-B9A1-392A66652231}"/>
              </a:ext>
            </a:extLst>
          </p:cNvPr>
          <p:cNvSpPr>
            <a:spLocks xmlns:a="http://schemas.openxmlformats.org/drawingml/2006/main" noGrp="1"/>
          </p:cNvSpPr>
          <p:nvPr/>
        </p:nvSpPr>
        <p:spPr>
          <a:xfrm xmlns:a="http://schemas.openxmlformats.org/drawingml/2006/main">
            <a:off x="609600" y="1533525"/>
            <a:ext cx="34290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243C31"/>
                </a:solidFill>
                <a:latin typeface="DejaVu Sans"/>
                <a:ea typeface="DejaVu Sans"/>
                <a:cs typeface="DejaVu Sans"/>
              </a:defRPr>
            </a:defPPr>
            <a:lvl1pPr algn="l">
              <a:defRPr sz="2550" b="1">
                <a:solidFill>
                  <a:srgbClr val="243C31"/>
                </a:solidFill>
                <a:latin typeface="DejaVu Sans"/>
                <a:ea typeface="DejaVu Sans"/>
                <a:cs typeface="DejaVu Sans"/>
              </a:defRPr>
            </a:lvl1pPr>
            <a:lvl2pPr algn="l">
              <a:defRPr sz="2550" b="1">
                <a:solidFill>
                  <a:srgbClr val="243C31"/>
                </a:solidFill>
                <a:latin typeface="DejaVu Sans"/>
                <a:ea typeface="DejaVu Sans"/>
                <a:cs typeface="DejaVu Sans"/>
              </a:defRPr>
            </a:lvl2pPr>
            <a:lvl3pPr algn="l">
              <a:defRPr sz="2550" b="1">
                <a:solidFill>
                  <a:srgbClr val="243C31"/>
                </a:solidFill>
                <a:latin typeface="DejaVu Sans"/>
                <a:ea typeface="DejaVu Sans"/>
                <a:cs typeface="DejaVu Sans"/>
              </a:defRPr>
            </a:lvl3pPr>
            <a:lvl4pPr algn="l">
              <a:defRPr sz="2550" b="1">
                <a:solidFill>
                  <a:srgbClr val="243C31"/>
                </a:solidFill>
                <a:latin typeface="DejaVu Sans"/>
                <a:ea typeface="DejaVu Sans"/>
                <a:cs typeface="DejaVu Sans"/>
              </a:defRPr>
            </a:lvl4pPr>
            <a:lvl5pPr algn="l">
              <a:defRPr sz="2550" b="1">
                <a:solidFill>
                  <a:srgbClr val="243C31"/>
                </a:solidFill>
                <a:latin typeface="DejaVu Sans"/>
                <a:ea typeface="DejaVu Sans"/>
                <a:cs typeface="DejaVu Sans"/>
              </a:defRPr>
            </a:lvl5pPr>
            <a:lvl6pPr algn="l">
              <a:defRPr sz="2550" b="1">
                <a:solidFill>
                  <a:srgbClr val="243C31"/>
                </a:solidFill>
                <a:latin typeface="DejaVu Sans"/>
                <a:ea typeface="DejaVu Sans"/>
                <a:cs typeface="DejaVu Sans"/>
              </a:defRPr>
            </a:lvl6pPr>
            <a:lvl7pPr algn="l">
              <a:defRPr sz="2550" b="1">
                <a:solidFill>
                  <a:srgbClr val="243C31"/>
                </a:solidFill>
                <a:latin typeface="DejaVu Sans"/>
                <a:ea typeface="DejaVu Sans"/>
                <a:cs typeface="DejaVu Sans"/>
              </a:defRPr>
            </a:lvl7pPr>
            <a:lvl8pPr algn="l">
              <a:defRPr sz="2550" b="1">
                <a:solidFill>
                  <a:srgbClr val="243C31"/>
                </a:solidFill>
                <a:latin typeface="DejaVu Sans"/>
                <a:ea typeface="DejaVu Sans"/>
                <a:cs typeface="DejaVu Sans"/>
              </a:defRPr>
            </a:lvl8pPr>
            <a:lvl9pPr algn="l">
              <a:defRPr sz="2550" b="1">
                <a:solidFill>
                  <a:srgbClr val="243C31"/>
                </a:solidFill>
                <a:latin typeface="DejaVu Sans"/>
                <a:ea typeface="DejaVu Sans"/>
                <a:cs typeface="DejaVu Sans"/>
              </a:defRPr>
            </a:lvl9pPr>
          </a:lstStyle>
          <a:p xmlns:a="http://schemas.openxmlformats.org/drawingml/2006/main">
            <a:pPr algn="l">
              <a:lnSpc>
                <a:spcPct val="108000"/>
              </a:lnSpc>
              <a:buNone/>
              <a:defRPr sz="2550" b="1">
                <a:solidFill>
                  <a:srgbClr val="243C31"/>
                </a:solidFill>
                <a:latin typeface="DejaVu Sans"/>
                <a:ea typeface="DejaVu Sans"/>
                <a:cs typeface="DejaVu Sans"/>
              </a:defRPr>
            </a:pPr>
            <a:r>
              <a:rPr sz="2550" b="1">
                <a:solidFill>
                  <a:srgbClr val="243C31"/>
                </a:solidFill>
                <a:latin typeface="DejaVu Sans"/>
                <a:ea typeface="DejaVu Sans"/>
                <a:cs typeface="DejaVu Sans"/>
              </a:rPr>
              <a:t>Одна кодовая</a:t>
            </a:r>
          </a:p>
          <a:p xmlns:a="http://schemas.openxmlformats.org/drawingml/2006/main">
            <a:pPr algn="l">
              <a:lnSpc>
                <a:spcPct val="108000"/>
              </a:lnSpc>
              <a:buNone/>
              <a:defRPr sz="2550" b="1">
                <a:solidFill>
                  <a:srgbClr val="243C31"/>
                </a:solidFill>
                <a:latin typeface="DejaVu Sans"/>
                <a:ea typeface="DejaVu Sans"/>
                <a:cs typeface="DejaVu Sans"/>
              </a:defRPr>
            </a:pPr>
            <a:r>
              <a:rPr sz="2550" b="1">
                <a:solidFill>
                  <a:srgbClr val="243C31"/>
                </a:solidFill>
                <a:latin typeface="DejaVu Sans"/>
                <a:ea typeface="DejaVu Sans"/>
                <a:cs typeface="DejaVu Sans"/>
              </a:rPr>
              <a:t>база</a:t>
            </a:r>
          </a:p>
        </p:txBody>
      </p:sp>
      <p:sp>
        <p:nvSpPr>
          <p:cNvPr id="3" name="text-2">
            <a:extLst xmlns:a="http://schemas.openxmlformats.org/drawingml/2006/main">
              <a:ext uri="{FF2B5EF4-FFF2-40B4-BE49-F238E27FC236}">
                <a16:creationId xmlns:a16="http://schemas.microsoft.com/office/drawing/2014/main" id="{D36D9A79-F1BB-4A6A-8406-685C8B8A2F6B}"/>
              </a:ext>
            </a:extLst>
          </p:cNvPr>
          <p:cNvSpPr>
            <a:spLocks xmlns:a="http://schemas.openxmlformats.org/drawingml/2006/main" noGrp="1"/>
          </p:cNvSpPr>
          <p:nvPr/>
        </p:nvSpPr>
        <p:spPr>
          <a:xfrm xmlns:a="http://schemas.openxmlformats.org/drawingml/2006/main">
            <a:off x="609600" y="2733675"/>
            <a:ext cx="3476625"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243C31"/>
                </a:solidFill>
                <a:latin typeface="DejaVu Sans"/>
                <a:ea typeface="DejaVu Sans"/>
                <a:cs typeface="DejaVu Sans"/>
              </a:defRPr>
            </a:defPPr>
            <a:lvl1pPr algn="l">
              <a:defRPr sz="2025" b="0">
                <a:solidFill>
                  <a:srgbClr val="243C31"/>
                </a:solidFill>
                <a:latin typeface="DejaVu Sans"/>
                <a:ea typeface="DejaVu Sans"/>
                <a:cs typeface="DejaVu Sans"/>
              </a:defRPr>
            </a:lvl1pPr>
            <a:lvl2pPr algn="l">
              <a:defRPr sz="2025" b="0">
                <a:solidFill>
                  <a:srgbClr val="243C31"/>
                </a:solidFill>
                <a:latin typeface="DejaVu Sans"/>
                <a:ea typeface="DejaVu Sans"/>
                <a:cs typeface="DejaVu Sans"/>
              </a:defRPr>
            </a:lvl2pPr>
            <a:lvl3pPr algn="l">
              <a:defRPr sz="2025" b="0">
                <a:solidFill>
                  <a:srgbClr val="243C31"/>
                </a:solidFill>
                <a:latin typeface="DejaVu Sans"/>
                <a:ea typeface="DejaVu Sans"/>
                <a:cs typeface="DejaVu Sans"/>
              </a:defRPr>
            </a:lvl3pPr>
            <a:lvl4pPr algn="l">
              <a:defRPr sz="2025" b="0">
                <a:solidFill>
                  <a:srgbClr val="243C31"/>
                </a:solidFill>
                <a:latin typeface="DejaVu Sans"/>
                <a:ea typeface="DejaVu Sans"/>
                <a:cs typeface="DejaVu Sans"/>
              </a:defRPr>
            </a:lvl4pPr>
            <a:lvl5pPr algn="l">
              <a:defRPr sz="2025" b="0">
                <a:solidFill>
                  <a:srgbClr val="243C31"/>
                </a:solidFill>
                <a:latin typeface="DejaVu Sans"/>
                <a:ea typeface="DejaVu Sans"/>
                <a:cs typeface="DejaVu Sans"/>
              </a:defRPr>
            </a:lvl5pPr>
            <a:lvl6pPr algn="l">
              <a:defRPr sz="2025" b="0">
                <a:solidFill>
                  <a:srgbClr val="243C31"/>
                </a:solidFill>
                <a:latin typeface="DejaVu Sans"/>
                <a:ea typeface="DejaVu Sans"/>
                <a:cs typeface="DejaVu Sans"/>
              </a:defRPr>
            </a:lvl6pPr>
            <a:lvl7pPr algn="l">
              <a:defRPr sz="2025" b="0">
                <a:solidFill>
                  <a:srgbClr val="243C31"/>
                </a:solidFill>
                <a:latin typeface="DejaVu Sans"/>
                <a:ea typeface="DejaVu Sans"/>
                <a:cs typeface="DejaVu Sans"/>
              </a:defRPr>
            </a:lvl7pPr>
            <a:lvl8pPr algn="l">
              <a:defRPr sz="2025" b="0">
                <a:solidFill>
                  <a:srgbClr val="243C31"/>
                </a:solidFill>
                <a:latin typeface="DejaVu Sans"/>
                <a:ea typeface="DejaVu Sans"/>
                <a:cs typeface="DejaVu Sans"/>
              </a:defRPr>
            </a:lvl8pPr>
            <a:lvl9pPr algn="l">
              <a:defRPr sz="2025"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API принимает запрос</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Worker выполняет inference</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Runtime не зависит от FastAPI</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Training остаётся отдельным инструментом</a:t>
            </a:r>
          </a:p>
        </p:txBody>
      </p:sp>
      <p:sp>
        <p:nvSpPr>
          <p:cNvPr id="4" name="text-3">
            <a:extLst xmlns:a="http://schemas.openxmlformats.org/drawingml/2006/main">
              <a:ext uri="{FF2B5EF4-FFF2-40B4-BE49-F238E27FC236}">
                <a16:creationId xmlns:a16="http://schemas.microsoft.com/office/drawing/2014/main" id="{66927EE4-5447-4A03-8357-926A360C593A}"/>
              </a:ext>
            </a:extLst>
          </p:cNvPr>
          <p:cNvSpPr>
            <a:spLocks xmlns:a="http://schemas.openxmlformats.org/drawingml/2006/main" noGrp="1"/>
          </p:cNvSpPr>
          <p:nvPr/>
        </p:nvSpPr>
        <p:spPr>
          <a:xfrm xmlns:a="http://schemas.openxmlformats.org/drawingml/2006/main">
            <a:off x="609600" y="6315075"/>
            <a:ext cx="347662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B7064"/>
                </a:solidFill>
                <a:latin typeface="DejaVu Sans"/>
                <a:ea typeface="DejaVu Sans"/>
                <a:cs typeface="DejaVu Sans"/>
              </a:defRPr>
            </a:defPPr>
            <a:lvl1pPr algn="l">
              <a:defRPr sz="1875" b="0">
                <a:solidFill>
                  <a:srgbClr val="5B7064"/>
                </a:solidFill>
                <a:latin typeface="DejaVu Sans"/>
                <a:ea typeface="DejaVu Sans"/>
                <a:cs typeface="DejaVu Sans"/>
              </a:defRPr>
            </a:lvl1pPr>
            <a:lvl2pPr algn="l">
              <a:defRPr sz="1875" b="0">
                <a:solidFill>
                  <a:srgbClr val="5B7064"/>
                </a:solidFill>
                <a:latin typeface="DejaVu Sans"/>
                <a:ea typeface="DejaVu Sans"/>
                <a:cs typeface="DejaVu Sans"/>
              </a:defRPr>
            </a:lvl2pPr>
            <a:lvl3pPr algn="l">
              <a:defRPr sz="1875" b="0">
                <a:solidFill>
                  <a:srgbClr val="5B7064"/>
                </a:solidFill>
                <a:latin typeface="DejaVu Sans"/>
                <a:ea typeface="DejaVu Sans"/>
                <a:cs typeface="DejaVu Sans"/>
              </a:defRPr>
            </a:lvl3pPr>
            <a:lvl4pPr algn="l">
              <a:defRPr sz="1875" b="0">
                <a:solidFill>
                  <a:srgbClr val="5B7064"/>
                </a:solidFill>
                <a:latin typeface="DejaVu Sans"/>
                <a:ea typeface="DejaVu Sans"/>
                <a:cs typeface="DejaVu Sans"/>
              </a:defRPr>
            </a:lvl4pPr>
            <a:lvl5pPr algn="l">
              <a:defRPr sz="1875" b="0">
                <a:solidFill>
                  <a:srgbClr val="5B7064"/>
                </a:solidFill>
                <a:latin typeface="DejaVu Sans"/>
                <a:ea typeface="DejaVu Sans"/>
                <a:cs typeface="DejaVu Sans"/>
              </a:defRPr>
            </a:lvl5pPr>
            <a:lvl6pPr algn="l">
              <a:defRPr sz="1875" b="0">
                <a:solidFill>
                  <a:srgbClr val="5B7064"/>
                </a:solidFill>
                <a:latin typeface="DejaVu Sans"/>
                <a:ea typeface="DejaVu Sans"/>
                <a:cs typeface="DejaVu Sans"/>
              </a:defRPr>
            </a:lvl6pPr>
            <a:lvl7pPr algn="l">
              <a:defRPr sz="1875" b="0">
                <a:solidFill>
                  <a:srgbClr val="5B7064"/>
                </a:solidFill>
                <a:latin typeface="DejaVu Sans"/>
                <a:ea typeface="DejaVu Sans"/>
                <a:cs typeface="DejaVu Sans"/>
              </a:defRPr>
            </a:lvl7pPr>
            <a:lvl8pPr algn="l">
              <a:defRPr sz="1875" b="0">
                <a:solidFill>
                  <a:srgbClr val="5B7064"/>
                </a:solidFill>
                <a:latin typeface="DejaVu Sans"/>
                <a:ea typeface="DejaVu Sans"/>
                <a:cs typeface="DejaVu Sans"/>
              </a:defRPr>
            </a:lvl8pPr>
            <a:lvl9pPr algn="l">
              <a:defRPr sz="1875" b="0">
                <a:solidFill>
                  <a:srgbClr val="5B7064"/>
                </a:solidFill>
                <a:latin typeface="DejaVu Sans"/>
                <a:ea typeface="DejaVu Sans"/>
                <a:cs typeface="DejaVu Sans"/>
              </a:defRPr>
            </a:lvl9pPr>
          </a:lstStyle>
          <a:p xmlns:a="http://schemas.openxmlformats.org/drawingml/2006/main">
            <a:pPr algn="l">
              <a:lnSpc>
                <a:spcPct val="108000"/>
              </a:lnSpc>
              <a:buNone/>
              <a:defRPr sz="1875" b="0">
                <a:solidFill>
                  <a:srgbClr val="5B7064"/>
                </a:solidFill>
                <a:latin typeface="DejaVu Sans"/>
                <a:ea typeface="DejaVu Sans"/>
                <a:cs typeface="DejaVu Sans"/>
              </a:defRPr>
            </a:pPr>
            <a:r>
              <a:rPr sz="1875" b="0">
                <a:solidFill>
                  <a:srgbClr val="5B7064"/>
                </a:solidFill>
                <a:latin typeface="DejaVu Sans"/>
                <a:ea typeface="DejaVu Sans"/>
                <a:cs typeface="DejaVu Sans"/>
              </a:rPr>
              <a:t>Версия модели фиксируется при постановке задания.</a:t>
            </a:r>
          </a:p>
        </p:txBody>
      </p:sp>
      <p:pic>
        <p:nvPicPr>
          <p:cNvPr id="5" name="">
            <a:extLst xmlns:a="http://schemas.openxmlformats.org/drawingml/2006/main">
              <a:ext uri="{FF2B5EF4-FFF2-40B4-BE49-F238E27FC236}">
                <a16:creationId xmlns:a16="http://schemas.microsoft.com/office/drawing/2014/main" id="{8DD91E91-39B7-4488-8846-70CA1158C71D}"/>
              </a:ext>
            </a:extLst>
          </p:cNvPr>
          <p:cNvPicPr>
            <a:picLocks xmlns:a="http://schemas.openxmlformats.org/drawingml/2006/main" noChangeAspect="1"/>
          </p:cNvPicPr>
          <p:nvPr/>
        </p:nvPicPr>
        <p:blipFill>
          <a:blip xmlns:r="http://schemas.openxmlformats.org/officeDocument/2006/relationships" xmlns:a="http://schemas.openxmlformats.org/drawingml/2006/main" r:embed="Rccaf6b10da834f7d"/>
          <a:srcRect xmlns:a="http://schemas.openxmlformats.org/drawingml/2006/main" l="1500" t="10968" r="1500" b="5484"/>
          <a:stretch xmlns:a="http://schemas.openxmlformats.org/drawingml/2006/main"/>
        </p:blipFill>
        <p:spPr>
          <a:xfrm xmlns:a="http://schemas.openxmlformats.org/drawingml/2006/main">
            <a:off x="4229100" y="1047750"/>
            <a:ext cx="8877300" cy="6584347"/>
          </a:xfrm>
          <a:prstGeom xmlns:a="http://schemas.openxmlformats.org/drawingml/2006/main" prst="rect">
            <a:avLst/>
          </a:prstGeom>
        </p:spPr>
      </p:pic>
    </p:spTree>
    <p:extLst>
      <p:ext uri="{BB962C8B-B14F-4D97-AF65-F5344CB8AC3E}">
        <p14:creationId xmlns:p14="http://schemas.microsoft.com/office/powerpoint/2010/main" val="2104050100"/>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8E534F2-73EF-418B-B06F-FEC4F02D4F63}"/>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UML Use Case: пользователь и эксперт</a:t>
            </a:r>
          </a:p>
        </p:txBody>
      </p:sp>
      <p:sp>
        <p:nvSpPr>
          <p:cNvPr id="2" name="slide-number">
            <a:extLst xmlns:a="http://schemas.openxmlformats.org/drawingml/2006/main">
              <a:ext uri="{FF2B5EF4-FFF2-40B4-BE49-F238E27FC236}">
                <a16:creationId xmlns:a16="http://schemas.microsoft.com/office/drawing/2014/main" id="{32DACFC2-A096-4D2E-A4C9-067D04571B67}"/>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872F10EF-C342-4D24-B8B1-29037FA1DD86}"/>
              </a:ext>
            </a:extLst>
          </p:cNvPr>
          <p:cNvPicPr>
            <a:picLocks xmlns:a="http://schemas.openxmlformats.org/drawingml/2006/main" noChangeAspect="1"/>
          </p:cNvPicPr>
          <p:nvPr/>
        </p:nvPicPr>
        <p:blipFill>
          <a:blip xmlns:r="http://schemas.openxmlformats.org/officeDocument/2006/relationships" xmlns:a="http://schemas.openxmlformats.org/drawingml/2006/main" r:embed="R1ded324831f74ac9"/>
          <a:srcRect xmlns:a="http://schemas.openxmlformats.org/drawingml/2006/main" l="0" t="10326" r="0" b="39130"/>
          <a:stretch xmlns:a="http://schemas.openxmlformats.org/drawingml/2006/main"/>
        </p:blipFill>
        <p:spPr>
          <a:xfrm xmlns:a="http://schemas.openxmlformats.org/drawingml/2006/main">
            <a:off x="609600" y="1123950"/>
            <a:ext cx="12496800" cy="5929598"/>
          </a:xfrm>
          <a:prstGeom xmlns:a="http://schemas.openxmlformats.org/drawingml/2006/main" prst="rect">
            <a:avLst/>
          </a:prstGeom>
        </p:spPr>
      </p:pic>
      <p:sp>
        <p:nvSpPr>
          <p:cNvPr id="4" name="source-footer">
            <a:extLst xmlns:a="http://schemas.openxmlformats.org/drawingml/2006/main">
              <a:ext uri="{FF2B5EF4-FFF2-40B4-BE49-F238E27FC236}">
                <a16:creationId xmlns:a16="http://schemas.microsoft.com/office/drawing/2014/main" id="{5537B6B6-4138-4DBB-81EC-B195136416AD}"/>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Фрагмент 1 из 2. Полная UML-схема и редактируемый PlantUML находятся в пакете.</a:t>
            </a:r>
          </a:p>
        </p:txBody>
      </p:sp>
    </p:spTree>
    <p:extLst>
      <p:ext uri="{BB962C8B-B14F-4D97-AF65-F5344CB8AC3E}">
        <p14:creationId xmlns:p14="http://schemas.microsoft.com/office/powerpoint/2010/main" val="1554713825"/>
      </p:ext>
    </p:extLst>
  </p:cSld>
</p:sld>
</file>

<file path=ppt/slides/slide1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BC6CD89-ADFD-4EAF-BF07-232C25F110D0}"/>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UML Use Case: история и управление моделью</a:t>
            </a:r>
          </a:p>
        </p:txBody>
      </p:sp>
      <p:sp>
        <p:nvSpPr>
          <p:cNvPr id="2" name="slide-number">
            <a:extLst xmlns:a="http://schemas.openxmlformats.org/drawingml/2006/main">
              <a:ext uri="{FF2B5EF4-FFF2-40B4-BE49-F238E27FC236}">
                <a16:creationId xmlns:a16="http://schemas.microsoft.com/office/drawing/2014/main" id="{A67602F3-8C07-438E-BBD8-BEB12012719D}"/>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11</a:t>
            </a:r>
          </a:p>
        </p:txBody>
      </p:sp>
      <p:pic>
        <p:nvPicPr>
          <p:cNvPr id="3" name="">
            <a:extLst xmlns:a="http://schemas.openxmlformats.org/drawingml/2006/main">
              <a:ext uri="{FF2B5EF4-FFF2-40B4-BE49-F238E27FC236}">
                <a16:creationId xmlns:a16="http://schemas.microsoft.com/office/drawing/2014/main" id="{CE682CB9-1D36-45FC-AF7F-36A965805DFC}"/>
              </a:ext>
            </a:extLst>
          </p:cNvPr>
          <p:cNvPicPr>
            <a:picLocks xmlns:a="http://schemas.openxmlformats.org/drawingml/2006/main" noChangeAspect="1"/>
          </p:cNvPicPr>
          <p:nvPr/>
        </p:nvPicPr>
        <p:blipFill>
          <a:blip xmlns:r="http://schemas.openxmlformats.org/officeDocument/2006/relationships" xmlns:a="http://schemas.openxmlformats.org/drawingml/2006/main" r:embed="Rc502b9090cde43ad"/>
          <a:srcRect xmlns:a="http://schemas.openxmlformats.org/drawingml/2006/main" l="0" t="36413" r="0" b="6793"/>
          <a:stretch xmlns:a="http://schemas.openxmlformats.org/drawingml/2006/main"/>
        </p:blipFill>
        <p:spPr>
          <a:xfrm xmlns:a="http://schemas.openxmlformats.org/drawingml/2006/main">
            <a:off x="1190625" y="1085850"/>
            <a:ext cx="11334750" cy="6043232"/>
          </a:xfrm>
          <a:prstGeom xmlns:a="http://schemas.openxmlformats.org/drawingml/2006/main" prst="rect">
            <a:avLst/>
          </a:prstGeom>
        </p:spPr>
      </p:pic>
      <p:sp>
        <p:nvSpPr>
          <p:cNvPr id="4" name="source-footer">
            <a:extLst xmlns:a="http://schemas.openxmlformats.org/drawingml/2006/main">
              <a:ext uri="{FF2B5EF4-FFF2-40B4-BE49-F238E27FC236}">
                <a16:creationId xmlns:a16="http://schemas.microsoft.com/office/drawing/2014/main" id="{2F060466-F71B-44BA-A7BC-61B914C9FA20}"/>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Фрагмент 2 из 2. Offline-черновик сохраняет фото на устройстве до отправки.</a:t>
            </a:r>
          </a:p>
        </p:txBody>
      </p:sp>
    </p:spTree>
    <p:extLst>
      <p:ext uri="{BB962C8B-B14F-4D97-AF65-F5344CB8AC3E}">
        <p14:creationId xmlns:p14="http://schemas.microsoft.com/office/powerpoint/2010/main" val="1441040103"/>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50B1335-706B-48A6-9559-712182FB5671}"/>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Мобильный сценарий</a:t>
            </a:r>
          </a:p>
        </p:txBody>
      </p:sp>
      <p:sp>
        <p:nvSpPr>
          <p:cNvPr id="2" name="slide-number">
            <a:extLst xmlns:a="http://schemas.openxmlformats.org/drawingml/2006/main">
              <a:ext uri="{FF2B5EF4-FFF2-40B4-BE49-F238E27FC236}">
                <a16:creationId xmlns:a16="http://schemas.microsoft.com/office/drawing/2014/main" id="{FF9FE27C-85BF-4E65-8E67-4A535AEE284E}"/>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12</a:t>
            </a:r>
          </a:p>
        </p:txBody>
      </p:sp>
      <p:sp>
        <p:nvSpPr>
          <p:cNvPr id="3" name="text-2">
            <a:extLst xmlns:a="http://schemas.openxmlformats.org/drawingml/2006/main">
              <a:ext uri="{FF2B5EF4-FFF2-40B4-BE49-F238E27FC236}">
                <a16:creationId xmlns:a16="http://schemas.microsoft.com/office/drawing/2014/main" id="{7D0BB204-4082-42B7-B1E0-E8BE42F7D388}"/>
              </a:ext>
            </a:extLst>
          </p:cNvPr>
          <p:cNvSpPr>
            <a:spLocks xmlns:a="http://schemas.openxmlformats.org/drawingml/2006/main" noGrp="1"/>
          </p:cNvSpPr>
          <p:nvPr/>
        </p:nvSpPr>
        <p:spPr>
          <a:xfrm xmlns:a="http://schemas.openxmlformats.org/drawingml/2006/main">
            <a:off x="742950" y="116205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173F32"/>
                </a:solidFill>
                <a:latin typeface="DejaVu Sans"/>
                <a:ea typeface="DejaVu Sans"/>
                <a:cs typeface="DejaVu Sans"/>
              </a:defRPr>
            </a:defPPr>
            <a:lvl1pPr algn="l">
              <a:defRPr sz="1950" b="1">
                <a:solidFill>
                  <a:srgbClr val="173F32"/>
                </a:solidFill>
                <a:latin typeface="DejaVu Sans"/>
                <a:ea typeface="DejaVu Sans"/>
                <a:cs typeface="DejaVu Sans"/>
              </a:defRPr>
            </a:lvl1pPr>
            <a:lvl2pPr algn="l">
              <a:defRPr sz="1950" b="1">
                <a:solidFill>
                  <a:srgbClr val="173F32"/>
                </a:solidFill>
                <a:latin typeface="DejaVu Sans"/>
                <a:ea typeface="DejaVu Sans"/>
                <a:cs typeface="DejaVu Sans"/>
              </a:defRPr>
            </a:lvl2pPr>
            <a:lvl3pPr algn="l">
              <a:defRPr sz="1950" b="1">
                <a:solidFill>
                  <a:srgbClr val="173F32"/>
                </a:solidFill>
                <a:latin typeface="DejaVu Sans"/>
                <a:ea typeface="DejaVu Sans"/>
                <a:cs typeface="DejaVu Sans"/>
              </a:defRPr>
            </a:lvl3pPr>
            <a:lvl4pPr algn="l">
              <a:defRPr sz="1950" b="1">
                <a:solidFill>
                  <a:srgbClr val="173F32"/>
                </a:solidFill>
                <a:latin typeface="DejaVu Sans"/>
                <a:ea typeface="DejaVu Sans"/>
                <a:cs typeface="DejaVu Sans"/>
              </a:defRPr>
            </a:lvl4pPr>
            <a:lvl5pPr algn="l">
              <a:defRPr sz="1950" b="1">
                <a:solidFill>
                  <a:srgbClr val="173F32"/>
                </a:solidFill>
                <a:latin typeface="DejaVu Sans"/>
                <a:ea typeface="DejaVu Sans"/>
                <a:cs typeface="DejaVu Sans"/>
              </a:defRPr>
            </a:lvl5pPr>
            <a:lvl6pPr algn="l">
              <a:defRPr sz="1950" b="1">
                <a:solidFill>
                  <a:srgbClr val="173F32"/>
                </a:solidFill>
                <a:latin typeface="DejaVu Sans"/>
                <a:ea typeface="DejaVu Sans"/>
                <a:cs typeface="DejaVu Sans"/>
              </a:defRPr>
            </a:lvl6pPr>
            <a:lvl7pPr algn="l">
              <a:defRPr sz="1950" b="1">
                <a:solidFill>
                  <a:srgbClr val="173F32"/>
                </a:solidFill>
                <a:latin typeface="DejaVu Sans"/>
                <a:ea typeface="DejaVu Sans"/>
                <a:cs typeface="DejaVu Sans"/>
              </a:defRPr>
            </a:lvl7pPr>
            <a:lvl8pPr algn="l">
              <a:defRPr sz="1950" b="1">
                <a:solidFill>
                  <a:srgbClr val="173F32"/>
                </a:solidFill>
                <a:latin typeface="DejaVu Sans"/>
                <a:ea typeface="DejaVu Sans"/>
                <a:cs typeface="DejaVu Sans"/>
              </a:defRPr>
            </a:lvl8pPr>
            <a:lvl9pPr algn="l">
              <a:defRPr sz="1950" b="1">
                <a:solidFill>
                  <a:srgbClr val="173F32"/>
                </a:solidFill>
                <a:latin typeface="DejaVu Sans"/>
                <a:ea typeface="DejaVu Sans"/>
                <a:cs typeface="DejaVu Sans"/>
              </a:defRPr>
            </a:lvl9pPr>
          </a:lstStyle>
          <a:p xmlns:a="http://schemas.openxmlformats.org/drawingml/2006/main">
            <a:pPr algn="l">
              <a:lnSpc>
                <a:spcPct val="108000"/>
              </a:lnSpc>
              <a:buNone/>
              <a:defRPr sz="1950" b="1">
                <a:solidFill>
                  <a:srgbClr val="173F32"/>
                </a:solidFill>
                <a:latin typeface="DejaVu Sans"/>
                <a:ea typeface="DejaVu Sans"/>
                <a:cs typeface="DejaVu Sans"/>
              </a:defRPr>
            </a:pPr>
            <a:r>
              <a:rPr sz="1950" b="1">
                <a:solidFill>
                  <a:srgbClr val="173F32"/>
                </a:solidFill>
                <a:latin typeface="DejaVu Sans"/>
                <a:ea typeface="DejaVu Sans"/>
                <a:cs typeface="DejaVu Sans"/>
              </a:rPr>
              <a:t>Выбор культуры</a:t>
            </a:r>
          </a:p>
        </p:txBody>
      </p:sp>
      <p:pic>
        <p:nvPicPr>
          <p:cNvPr id="4" name="">
            <a:extLst xmlns:a="http://schemas.openxmlformats.org/drawingml/2006/main">
              <a:ext uri="{FF2B5EF4-FFF2-40B4-BE49-F238E27FC236}">
                <a16:creationId xmlns:a16="http://schemas.microsoft.com/office/drawing/2014/main" id="{6FAD289C-6495-4B4E-A354-5B1CCBEFEE3F}"/>
              </a:ext>
            </a:extLst>
          </p:cNvPr>
          <p:cNvPicPr>
            <a:picLocks xmlns:a="http://schemas.openxmlformats.org/drawingml/2006/main" noChangeAspect="1"/>
          </p:cNvPicPr>
          <p:nvPr/>
        </p:nvPicPr>
        <p:blipFill>
          <a:blip xmlns:r="http://schemas.openxmlformats.org/officeDocument/2006/relationships" xmlns:a="http://schemas.openxmlformats.org/drawingml/2006/main" r:embed="Rc7e8af828ed64a2c"/>
          <a:stretch xmlns:a="http://schemas.openxmlformats.org/drawingml/2006/main"/>
        </p:blipFill>
        <p:spPr>
          <a:xfrm xmlns:a="http://schemas.openxmlformats.org/drawingml/2006/main">
            <a:off x="838256" y="1724025"/>
            <a:ext cx="2381137" cy="515302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29BC295D-546E-4A71-AC94-FEFCAFC653DE}"/>
              </a:ext>
            </a:extLst>
          </p:cNvPr>
          <p:cNvSpPr>
            <a:spLocks xmlns:a="http://schemas.openxmlformats.org/drawingml/2006/main" noGrp="1"/>
          </p:cNvSpPr>
          <p:nvPr/>
        </p:nvSpPr>
        <p:spPr>
          <a:xfrm xmlns:a="http://schemas.openxmlformats.org/drawingml/2006/main">
            <a:off x="3943350" y="116205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173F32"/>
                </a:solidFill>
                <a:latin typeface="DejaVu Sans"/>
                <a:ea typeface="DejaVu Sans"/>
                <a:cs typeface="DejaVu Sans"/>
              </a:defRPr>
            </a:defPPr>
            <a:lvl1pPr algn="l">
              <a:defRPr sz="1950" b="1">
                <a:solidFill>
                  <a:srgbClr val="173F32"/>
                </a:solidFill>
                <a:latin typeface="DejaVu Sans"/>
                <a:ea typeface="DejaVu Sans"/>
                <a:cs typeface="DejaVu Sans"/>
              </a:defRPr>
            </a:lvl1pPr>
            <a:lvl2pPr algn="l">
              <a:defRPr sz="1950" b="1">
                <a:solidFill>
                  <a:srgbClr val="173F32"/>
                </a:solidFill>
                <a:latin typeface="DejaVu Sans"/>
                <a:ea typeface="DejaVu Sans"/>
                <a:cs typeface="DejaVu Sans"/>
              </a:defRPr>
            </a:lvl2pPr>
            <a:lvl3pPr algn="l">
              <a:defRPr sz="1950" b="1">
                <a:solidFill>
                  <a:srgbClr val="173F32"/>
                </a:solidFill>
                <a:latin typeface="DejaVu Sans"/>
                <a:ea typeface="DejaVu Sans"/>
                <a:cs typeface="DejaVu Sans"/>
              </a:defRPr>
            </a:lvl3pPr>
            <a:lvl4pPr algn="l">
              <a:defRPr sz="1950" b="1">
                <a:solidFill>
                  <a:srgbClr val="173F32"/>
                </a:solidFill>
                <a:latin typeface="DejaVu Sans"/>
                <a:ea typeface="DejaVu Sans"/>
                <a:cs typeface="DejaVu Sans"/>
              </a:defRPr>
            </a:lvl4pPr>
            <a:lvl5pPr algn="l">
              <a:defRPr sz="1950" b="1">
                <a:solidFill>
                  <a:srgbClr val="173F32"/>
                </a:solidFill>
                <a:latin typeface="DejaVu Sans"/>
                <a:ea typeface="DejaVu Sans"/>
                <a:cs typeface="DejaVu Sans"/>
              </a:defRPr>
            </a:lvl5pPr>
            <a:lvl6pPr algn="l">
              <a:defRPr sz="1950" b="1">
                <a:solidFill>
                  <a:srgbClr val="173F32"/>
                </a:solidFill>
                <a:latin typeface="DejaVu Sans"/>
                <a:ea typeface="DejaVu Sans"/>
                <a:cs typeface="DejaVu Sans"/>
              </a:defRPr>
            </a:lvl6pPr>
            <a:lvl7pPr algn="l">
              <a:defRPr sz="1950" b="1">
                <a:solidFill>
                  <a:srgbClr val="173F32"/>
                </a:solidFill>
                <a:latin typeface="DejaVu Sans"/>
                <a:ea typeface="DejaVu Sans"/>
                <a:cs typeface="DejaVu Sans"/>
              </a:defRPr>
            </a:lvl7pPr>
            <a:lvl8pPr algn="l">
              <a:defRPr sz="1950" b="1">
                <a:solidFill>
                  <a:srgbClr val="173F32"/>
                </a:solidFill>
                <a:latin typeface="DejaVu Sans"/>
                <a:ea typeface="DejaVu Sans"/>
                <a:cs typeface="DejaVu Sans"/>
              </a:defRPr>
            </a:lvl8pPr>
            <a:lvl9pPr algn="l">
              <a:defRPr sz="1950" b="1">
                <a:solidFill>
                  <a:srgbClr val="173F32"/>
                </a:solidFill>
                <a:latin typeface="DejaVu Sans"/>
                <a:ea typeface="DejaVu Sans"/>
                <a:cs typeface="DejaVu Sans"/>
              </a:defRPr>
            </a:lvl9pPr>
          </a:lstStyle>
          <a:p xmlns:a="http://schemas.openxmlformats.org/drawingml/2006/main">
            <a:pPr algn="l">
              <a:lnSpc>
                <a:spcPct val="108000"/>
              </a:lnSpc>
              <a:buNone/>
              <a:defRPr sz="1950" b="1">
                <a:solidFill>
                  <a:srgbClr val="173F32"/>
                </a:solidFill>
                <a:latin typeface="DejaVu Sans"/>
                <a:ea typeface="DejaVu Sans"/>
                <a:cs typeface="DejaVu Sans"/>
              </a:defRPr>
            </a:pPr>
            <a:r>
              <a:rPr sz="1950" b="1">
                <a:solidFill>
                  <a:srgbClr val="173F32"/>
                </a:solidFill>
                <a:latin typeface="DejaVu Sans"/>
                <a:ea typeface="DejaVu Sans"/>
                <a:cs typeface="DejaVu Sans"/>
              </a:rPr>
              <a:t>Фото листа</a:t>
            </a:r>
          </a:p>
        </p:txBody>
      </p:sp>
      <p:pic>
        <p:nvPicPr>
          <p:cNvPr id="6" name="">
            <a:extLst xmlns:a="http://schemas.openxmlformats.org/drawingml/2006/main">
              <a:ext uri="{FF2B5EF4-FFF2-40B4-BE49-F238E27FC236}">
                <a16:creationId xmlns:a16="http://schemas.microsoft.com/office/drawing/2014/main" id="{531E958D-8F7C-41C4-BA6B-ED9ECB61E0CB}"/>
              </a:ext>
            </a:extLst>
          </p:cNvPr>
          <p:cNvPicPr>
            <a:picLocks xmlns:a="http://schemas.openxmlformats.org/drawingml/2006/main" noChangeAspect="1"/>
          </p:cNvPicPr>
          <p:nvPr/>
        </p:nvPicPr>
        <p:blipFill>
          <a:blip xmlns:r="http://schemas.openxmlformats.org/officeDocument/2006/relationships" xmlns:a="http://schemas.openxmlformats.org/drawingml/2006/main" r:embed="R3fae46d9ef4c4b4c"/>
          <a:stretch xmlns:a="http://schemas.openxmlformats.org/drawingml/2006/main"/>
        </p:blipFill>
        <p:spPr>
          <a:xfrm xmlns:a="http://schemas.openxmlformats.org/drawingml/2006/main">
            <a:off x="4038656" y="1724025"/>
            <a:ext cx="2381137" cy="5153025"/>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4895CE24-4244-4AA9-AFE0-C3D0BBB1CDF5}"/>
              </a:ext>
            </a:extLst>
          </p:cNvPr>
          <p:cNvSpPr>
            <a:spLocks xmlns:a="http://schemas.openxmlformats.org/drawingml/2006/main" noGrp="1"/>
          </p:cNvSpPr>
          <p:nvPr/>
        </p:nvSpPr>
        <p:spPr>
          <a:xfrm xmlns:a="http://schemas.openxmlformats.org/drawingml/2006/main">
            <a:off x="7143750" y="116205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173F32"/>
                </a:solidFill>
                <a:latin typeface="DejaVu Sans"/>
                <a:ea typeface="DejaVu Sans"/>
                <a:cs typeface="DejaVu Sans"/>
              </a:defRPr>
            </a:defPPr>
            <a:lvl1pPr algn="l">
              <a:defRPr sz="1950" b="1">
                <a:solidFill>
                  <a:srgbClr val="173F32"/>
                </a:solidFill>
                <a:latin typeface="DejaVu Sans"/>
                <a:ea typeface="DejaVu Sans"/>
                <a:cs typeface="DejaVu Sans"/>
              </a:defRPr>
            </a:lvl1pPr>
            <a:lvl2pPr algn="l">
              <a:defRPr sz="1950" b="1">
                <a:solidFill>
                  <a:srgbClr val="173F32"/>
                </a:solidFill>
                <a:latin typeface="DejaVu Sans"/>
                <a:ea typeface="DejaVu Sans"/>
                <a:cs typeface="DejaVu Sans"/>
              </a:defRPr>
            </a:lvl2pPr>
            <a:lvl3pPr algn="l">
              <a:defRPr sz="1950" b="1">
                <a:solidFill>
                  <a:srgbClr val="173F32"/>
                </a:solidFill>
                <a:latin typeface="DejaVu Sans"/>
                <a:ea typeface="DejaVu Sans"/>
                <a:cs typeface="DejaVu Sans"/>
              </a:defRPr>
            </a:lvl3pPr>
            <a:lvl4pPr algn="l">
              <a:defRPr sz="1950" b="1">
                <a:solidFill>
                  <a:srgbClr val="173F32"/>
                </a:solidFill>
                <a:latin typeface="DejaVu Sans"/>
                <a:ea typeface="DejaVu Sans"/>
                <a:cs typeface="DejaVu Sans"/>
              </a:defRPr>
            </a:lvl4pPr>
            <a:lvl5pPr algn="l">
              <a:defRPr sz="1950" b="1">
                <a:solidFill>
                  <a:srgbClr val="173F32"/>
                </a:solidFill>
                <a:latin typeface="DejaVu Sans"/>
                <a:ea typeface="DejaVu Sans"/>
                <a:cs typeface="DejaVu Sans"/>
              </a:defRPr>
            </a:lvl5pPr>
            <a:lvl6pPr algn="l">
              <a:defRPr sz="1950" b="1">
                <a:solidFill>
                  <a:srgbClr val="173F32"/>
                </a:solidFill>
                <a:latin typeface="DejaVu Sans"/>
                <a:ea typeface="DejaVu Sans"/>
                <a:cs typeface="DejaVu Sans"/>
              </a:defRPr>
            </a:lvl6pPr>
            <a:lvl7pPr algn="l">
              <a:defRPr sz="1950" b="1">
                <a:solidFill>
                  <a:srgbClr val="173F32"/>
                </a:solidFill>
                <a:latin typeface="DejaVu Sans"/>
                <a:ea typeface="DejaVu Sans"/>
                <a:cs typeface="DejaVu Sans"/>
              </a:defRPr>
            </a:lvl7pPr>
            <a:lvl8pPr algn="l">
              <a:defRPr sz="1950" b="1">
                <a:solidFill>
                  <a:srgbClr val="173F32"/>
                </a:solidFill>
                <a:latin typeface="DejaVu Sans"/>
                <a:ea typeface="DejaVu Sans"/>
                <a:cs typeface="DejaVu Sans"/>
              </a:defRPr>
            </a:lvl8pPr>
            <a:lvl9pPr algn="l">
              <a:defRPr sz="1950" b="1">
                <a:solidFill>
                  <a:srgbClr val="173F32"/>
                </a:solidFill>
                <a:latin typeface="DejaVu Sans"/>
                <a:ea typeface="DejaVu Sans"/>
                <a:cs typeface="DejaVu Sans"/>
              </a:defRPr>
            </a:lvl9pPr>
          </a:lstStyle>
          <a:p xmlns:a="http://schemas.openxmlformats.org/drawingml/2006/main">
            <a:pPr algn="l">
              <a:lnSpc>
                <a:spcPct val="108000"/>
              </a:lnSpc>
              <a:buNone/>
              <a:defRPr sz="1950" b="1">
                <a:solidFill>
                  <a:srgbClr val="173F32"/>
                </a:solidFill>
                <a:latin typeface="DejaVu Sans"/>
                <a:ea typeface="DejaVu Sans"/>
                <a:cs typeface="DejaVu Sans"/>
              </a:defRPr>
            </a:pPr>
            <a:r>
              <a:rPr sz="1950" b="1">
                <a:solidFill>
                  <a:srgbClr val="173F32"/>
                </a:solidFill>
                <a:latin typeface="DejaVu Sans"/>
                <a:ea typeface="DejaVu Sans"/>
                <a:cs typeface="DejaVu Sans"/>
              </a:rPr>
              <a:t>Гипотеза</a:t>
            </a:r>
          </a:p>
        </p:txBody>
      </p:sp>
      <p:pic>
        <p:nvPicPr>
          <p:cNvPr id="8" name="">
            <a:extLst xmlns:a="http://schemas.openxmlformats.org/drawingml/2006/main">
              <a:ext uri="{FF2B5EF4-FFF2-40B4-BE49-F238E27FC236}">
                <a16:creationId xmlns:a16="http://schemas.microsoft.com/office/drawing/2014/main" id="{3C01794E-1C5B-4456-BE8F-C0BD1F8AABFD}"/>
              </a:ext>
            </a:extLst>
          </p:cNvPr>
          <p:cNvPicPr>
            <a:picLocks xmlns:a="http://schemas.openxmlformats.org/drawingml/2006/main" noChangeAspect="1"/>
          </p:cNvPicPr>
          <p:nvPr/>
        </p:nvPicPr>
        <p:blipFill>
          <a:blip xmlns:r="http://schemas.openxmlformats.org/officeDocument/2006/relationships" xmlns:a="http://schemas.openxmlformats.org/drawingml/2006/main" r:embed="R6a9d62aaebcf4712"/>
          <a:stretch xmlns:a="http://schemas.openxmlformats.org/drawingml/2006/main"/>
        </p:blipFill>
        <p:spPr>
          <a:xfrm xmlns:a="http://schemas.openxmlformats.org/drawingml/2006/main">
            <a:off x="7239056" y="1724025"/>
            <a:ext cx="2381137" cy="5153025"/>
          </a:xfrm>
          <a:prstGeom xmlns:a="http://schemas.openxmlformats.org/drawingml/2006/main" prst="rect">
            <a:avLst/>
          </a:prstGeom>
        </p:spPr>
      </p:pic>
      <p:sp>
        <p:nvSpPr>
          <p:cNvPr id="9" name="text-5">
            <a:extLst xmlns:a="http://schemas.openxmlformats.org/drawingml/2006/main">
              <a:ext uri="{FF2B5EF4-FFF2-40B4-BE49-F238E27FC236}">
                <a16:creationId xmlns:a16="http://schemas.microsoft.com/office/drawing/2014/main" id="{7AC807E5-4556-41FC-9509-DACAC5DE46B8}"/>
              </a:ext>
            </a:extLst>
          </p:cNvPr>
          <p:cNvSpPr>
            <a:spLocks xmlns:a="http://schemas.openxmlformats.org/drawingml/2006/main" noGrp="1"/>
          </p:cNvSpPr>
          <p:nvPr/>
        </p:nvSpPr>
        <p:spPr>
          <a:xfrm xmlns:a="http://schemas.openxmlformats.org/drawingml/2006/main">
            <a:off x="10344150" y="116205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173F32"/>
                </a:solidFill>
                <a:latin typeface="DejaVu Sans"/>
                <a:ea typeface="DejaVu Sans"/>
                <a:cs typeface="DejaVu Sans"/>
              </a:defRPr>
            </a:defPPr>
            <a:lvl1pPr algn="l">
              <a:defRPr sz="1950" b="1">
                <a:solidFill>
                  <a:srgbClr val="173F32"/>
                </a:solidFill>
                <a:latin typeface="DejaVu Sans"/>
                <a:ea typeface="DejaVu Sans"/>
                <a:cs typeface="DejaVu Sans"/>
              </a:defRPr>
            </a:lvl1pPr>
            <a:lvl2pPr algn="l">
              <a:defRPr sz="1950" b="1">
                <a:solidFill>
                  <a:srgbClr val="173F32"/>
                </a:solidFill>
                <a:latin typeface="DejaVu Sans"/>
                <a:ea typeface="DejaVu Sans"/>
                <a:cs typeface="DejaVu Sans"/>
              </a:defRPr>
            </a:lvl2pPr>
            <a:lvl3pPr algn="l">
              <a:defRPr sz="1950" b="1">
                <a:solidFill>
                  <a:srgbClr val="173F32"/>
                </a:solidFill>
                <a:latin typeface="DejaVu Sans"/>
                <a:ea typeface="DejaVu Sans"/>
                <a:cs typeface="DejaVu Sans"/>
              </a:defRPr>
            </a:lvl3pPr>
            <a:lvl4pPr algn="l">
              <a:defRPr sz="1950" b="1">
                <a:solidFill>
                  <a:srgbClr val="173F32"/>
                </a:solidFill>
                <a:latin typeface="DejaVu Sans"/>
                <a:ea typeface="DejaVu Sans"/>
                <a:cs typeface="DejaVu Sans"/>
              </a:defRPr>
            </a:lvl4pPr>
            <a:lvl5pPr algn="l">
              <a:defRPr sz="1950" b="1">
                <a:solidFill>
                  <a:srgbClr val="173F32"/>
                </a:solidFill>
                <a:latin typeface="DejaVu Sans"/>
                <a:ea typeface="DejaVu Sans"/>
                <a:cs typeface="DejaVu Sans"/>
              </a:defRPr>
            </a:lvl5pPr>
            <a:lvl6pPr algn="l">
              <a:defRPr sz="1950" b="1">
                <a:solidFill>
                  <a:srgbClr val="173F32"/>
                </a:solidFill>
                <a:latin typeface="DejaVu Sans"/>
                <a:ea typeface="DejaVu Sans"/>
                <a:cs typeface="DejaVu Sans"/>
              </a:defRPr>
            </a:lvl6pPr>
            <a:lvl7pPr algn="l">
              <a:defRPr sz="1950" b="1">
                <a:solidFill>
                  <a:srgbClr val="173F32"/>
                </a:solidFill>
                <a:latin typeface="DejaVu Sans"/>
                <a:ea typeface="DejaVu Sans"/>
                <a:cs typeface="DejaVu Sans"/>
              </a:defRPr>
            </a:lvl7pPr>
            <a:lvl8pPr algn="l">
              <a:defRPr sz="1950" b="1">
                <a:solidFill>
                  <a:srgbClr val="173F32"/>
                </a:solidFill>
                <a:latin typeface="DejaVu Sans"/>
                <a:ea typeface="DejaVu Sans"/>
                <a:cs typeface="DejaVu Sans"/>
              </a:defRPr>
            </a:lvl8pPr>
            <a:lvl9pPr algn="l">
              <a:defRPr sz="1950" b="1">
                <a:solidFill>
                  <a:srgbClr val="173F32"/>
                </a:solidFill>
                <a:latin typeface="DejaVu Sans"/>
                <a:ea typeface="DejaVu Sans"/>
                <a:cs typeface="DejaVu Sans"/>
              </a:defRPr>
            </a:lvl9pPr>
          </a:lstStyle>
          <a:p xmlns:a="http://schemas.openxmlformats.org/drawingml/2006/main">
            <a:pPr algn="l">
              <a:lnSpc>
                <a:spcPct val="108000"/>
              </a:lnSpc>
              <a:buNone/>
              <a:defRPr sz="1950" b="1">
                <a:solidFill>
                  <a:srgbClr val="173F32"/>
                </a:solidFill>
                <a:latin typeface="DejaVu Sans"/>
                <a:ea typeface="DejaVu Sans"/>
                <a:cs typeface="DejaVu Sans"/>
              </a:defRPr>
            </a:pPr>
            <a:r>
              <a:rPr sz="1950" b="1">
                <a:solidFill>
                  <a:srgbClr val="173F32"/>
                </a:solidFill>
                <a:latin typeface="DejaVu Sans"/>
                <a:ea typeface="DejaVu Sans"/>
                <a:cs typeface="DejaVu Sans"/>
              </a:rPr>
              <a:t>Мало данных</a:t>
            </a:r>
          </a:p>
        </p:txBody>
      </p:sp>
      <p:pic>
        <p:nvPicPr>
          <p:cNvPr id="10" name="">
            <a:extLst xmlns:a="http://schemas.openxmlformats.org/drawingml/2006/main">
              <a:ext uri="{FF2B5EF4-FFF2-40B4-BE49-F238E27FC236}">
                <a16:creationId xmlns:a16="http://schemas.microsoft.com/office/drawing/2014/main" id="{EC5822D6-D657-4F24-B768-E24347896348}"/>
              </a:ext>
            </a:extLst>
          </p:cNvPr>
          <p:cNvPicPr>
            <a:picLocks xmlns:a="http://schemas.openxmlformats.org/drawingml/2006/main" noChangeAspect="1"/>
          </p:cNvPicPr>
          <p:nvPr/>
        </p:nvPicPr>
        <p:blipFill>
          <a:blip xmlns:r="http://schemas.openxmlformats.org/officeDocument/2006/relationships" xmlns:a="http://schemas.openxmlformats.org/drawingml/2006/main" r:embed="Rae70026b5d764f33"/>
          <a:stretch xmlns:a="http://schemas.openxmlformats.org/drawingml/2006/main"/>
        </p:blipFill>
        <p:spPr>
          <a:xfrm xmlns:a="http://schemas.openxmlformats.org/drawingml/2006/main">
            <a:off x="10439456" y="1724025"/>
            <a:ext cx="2381137" cy="5153025"/>
          </a:xfrm>
          <a:prstGeom xmlns:a="http://schemas.openxmlformats.org/drawingml/2006/main" prst="rect">
            <a:avLst/>
          </a:prstGeom>
        </p:spPr>
      </p:pic>
      <p:sp>
        <p:nvSpPr>
          <p:cNvPr id="11" name="source-footer">
            <a:extLst xmlns:a="http://schemas.openxmlformats.org/drawingml/2006/main">
              <a:ext uri="{FF2B5EF4-FFF2-40B4-BE49-F238E27FC236}">
                <a16:creationId xmlns:a16="http://schemas.microsoft.com/office/drawing/2014/main" id="{44CF744A-9196-4AA4-861F-857DE5ABF707}"/>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Figma: figma.com/design/07cVYgjO4tZw4IaR7kUxEz. Дизайн-прототип с условными данными.</a:t>
            </a:r>
          </a:p>
        </p:txBody>
      </p:sp>
    </p:spTree>
    <p:extLst>
      <p:ext uri="{BB962C8B-B14F-4D97-AF65-F5344CB8AC3E}">
        <p14:creationId xmlns:p14="http://schemas.microsoft.com/office/powerpoint/2010/main" val="752605002"/>
      </p:ext>
    </p:extLst>
  </p:cSld>
</p:sld>
</file>

<file path=ppt/slides/slide1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79A3FE4-37AD-42B7-B3C5-44BB670E3820}"/>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Базовые модели и доступные GPU</a:t>
            </a:r>
          </a:p>
        </p:txBody>
      </p:sp>
      <p:sp>
        <p:nvSpPr>
          <p:cNvPr id="2" name="slide-number">
            <a:extLst xmlns:a="http://schemas.openxmlformats.org/drawingml/2006/main">
              <a:ext uri="{FF2B5EF4-FFF2-40B4-BE49-F238E27FC236}">
                <a16:creationId xmlns:a16="http://schemas.microsoft.com/office/drawing/2014/main" id="{5150A985-D6FA-458E-91BB-51E7098DB2C1}"/>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13</a:t>
            </a:r>
          </a:p>
        </p:txBody>
      </p:sp>
      <p:sp>
        <p:nvSpPr>
          <p:cNvPr id="3" name="text-2">
            <a:extLst xmlns:a="http://schemas.openxmlformats.org/drawingml/2006/main">
              <a:ext uri="{FF2B5EF4-FFF2-40B4-BE49-F238E27FC236}">
                <a16:creationId xmlns:a16="http://schemas.microsoft.com/office/drawing/2014/main" id="{B89C5291-28FE-47B6-ADCB-8DE38FC1BE0F}"/>
              </a:ext>
            </a:extLst>
          </p:cNvPr>
          <p:cNvSpPr>
            <a:spLocks xmlns:a="http://schemas.openxmlformats.org/drawingml/2006/main" noGrp="1"/>
          </p:cNvSpPr>
          <p:nvPr/>
        </p:nvSpPr>
        <p:spPr>
          <a:xfrm xmlns:a="http://schemas.openxmlformats.org/drawingml/2006/main">
            <a:off x="609600" y="1304925"/>
            <a:ext cx="124968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243C31"/>
                </a:solidFill>
                <a:latin typeface="DejaVu Sans"/>
                <a:ea typeface="DejaVu Sans"/>
                <a:cs typeface="DejaVu Sans"/>
              </a:defRPr>
            </a:defPPr>
            <a:lvl1pPr algn="l">
              <a:defRPr sz="2475" b="1">
                <a:solidFill>
                  <a:srgbClr val="243C31"/>
                </a:solidFill>
                <a:latin typeface="DejaVu Sans"/>
                <a:ea typeface="DejaVu Sans"/>
                <a:cs typeface="DejaVu Sans"/>
              </a:defRPr>
            </a:lvl1pPr>
            <a:lvl2pPr algn="l">
              <a:defRPr sz="2475" b="1">
                <a:solidFill>
                  <a:srgbClr val="243C31"/>
                </a:solidFill>
                <a:latin typeface="DejaVu Sans"/>
                <a:ea typeface="DejaVu Sans"/>
                <a:cs typeface="DejaVu Sans"/>
              </a:defRPr>
            </a:lvl2pPr>
            <a:lvl3pPr algn="l">
              <a:defRPr sz="2475" b="1">
                <a:solidFill>
                  <a:srgbClr val="243C31"/>
                </a:solidFill>
                <a:latin typeface="DejaVu Sans"/>
                <a:ea typeface="DejaVu Sans"/>
                <a:cs typeface="DejaVu Sans"/>
              </a:defRPr>
            </a:lvl3pPr>
            <a:lvl4pPr algn="l">
              <a:defRPr sz="2475" b="1">
                <a:solidFill>
                  <a:srgbClr val="243C31"/>
                </a:solidFill>
                <a:latin typeface="DejaVu Sans"/>
                <a:ea typeface="DejaVu Sans"/>
                <a:cs typeface="DejaVu Sans"/>
              </a:defRPr>
            </a:lvl4pPr>
            <a:lvl5pPr algn="l">
              <a:defRPr sz="2475" b="1">
                <a:solidFill>
                  <a:srgbClr val="243C31"/>
                </a:solidFill>
                <a:latin typeface="DejaVu Sans"/>
                <a:ea typeface="DejaVu Sans"/>
                <a:cs typeface="DejaVu Sans"/>
              </a:defRPr>
            </a:lvl5pPr>
            <a:lvl6pPr algn="l">
              <a:defRPr sz="2475" b="1">
                <a:solidFill>
                  <a:srgbClr val="243C31"/>
                </a:solidFill>
                <a:latin typeface="DejaVu Sans"/>
                <a:ea typeface="DejaVu Sans"/>
                <a:cs typeface="DejaVu Sans"/>
              </a:defRPr>
            </a:lvl6pPr>
            <a:lvl7pPr algn="l">
              <a:defRPr sz="2475" b="1">
                <a:solidFill>
                  <a:srgbClr val="243C31"/>
                </a:solidFill>
                <a:latin typeface="DejaVu Sans"/>
                <a:ea typeface="DejaVu Sans"/>
                <a:cs typeface="DejaVu Sans"/>
              </a:defRPr>
            </a:lvl7pPr>
            <a:lvl8pPr algn="l">
              <a:defRPr sz="2475" b="1">
                <a:solidFill>
                  <a:srgbClr val="243C31"/>
                </a:solidFill>
                <a:latin typeface="DejaVu Sans"/>
                <a:ea typeface="DejaVu Sans"/>
                <a:cs typeface="DejaVu Sans"/>
              </a:defRPr>
            </a:lvl8pPr>
            <a:lvl9pPr algn="l">
              <a:defRPr sz="2475" b="1">
                <a:solidFill>
                  <a:srgbClr val="243C31"/>
                </a:solidFill>
                <a:latin typeface="DejaVu Sans"/>
                <a:ea typeface="DejaVu Sans"/>
                <a:cs typeface="DejaVu Sans"/>
              </a:defRPr>
            </a:lvl9pPr>
          </a:lstStyle>
          <a:p xmlns:a="http://schemas.openxmlformats.org/drawingml/2006/main">
            <a:pPr algn="l">
              <a:lnSpc>
                <a:spcPct val="108000"/>
              </a:lnSpc>
              <a:buNone/>
              <a:defRPr sz="2475" b="1">
                <a:solidFill>
                  <a:srgbClr val="243C31"/>
                </a:solidFill>
                <a:latin typeface="DejaVu Sans"/>
                <a:ea typeface="DejaVu Sans"/>
                <a:cs typeface="DejaVu Sans"/>
              </a:defRPr>
            </a:pPr>
            <a:r>
              <a:rPr sz="2475" b="1">
                <a:solidFill>
                  <a:srgbClr val="243C31"/>
                </a:solidFill>
                <a:latin typeface="DejaVu Sans"/>
                <a:ea typeface="DejaVu Sans"/>
                <a:cs typeface="DejaVu Sans"/>
              </a:rPr>
              <a:t>EfficientNet-B0, MobileNetV3-Large и ResNet18</a:t>
            </a:r>
          </a:p>
          <a:p xmlns:a="http://schemas.openxmlformats.org/drawingml/2006/main">
            <a:pPr algn="l">
              <a:lnSpc>
                <a:spcPct val="108000"/>
              </a:lnSpc>
              <a:buNone/>
              <a:defRPr sz="2475" b="1">
                <a:solidFill>
                  <a:srgbClr val="243C31"/>
                </a:solidFill>
                <a:latin typeface="DejaVu Sans"/>
                <a:ea typeface="DejaVu Sans"/>
                <a:cs typeface="DejaVu Sans"/>
              </a:defRPr>
            </a:pPr>
            <a:r>
              <a:rPr sz="2475" b="1">
                <a:solidFill>
                  <a:srgbClr val="243C31"/>
                </a:solidFill>
                <a:latin typeface="DejaVu Sans"/>
                <a:ea typeface="DejaVu Sans"/>
                <a:cs typeface="DejaVu Sans"/>
              </a:rPr>
              <a:t>ImageNet transfer learning, единый вход 224 × 224</a:t>
            </a:r>
          </a:p>
        </p:txBody>
      </p:sp>
      <p:graphicFrame>
        <p:nvGraphicFramePr>
          <p:cNvPr id="4" name="">
            <a:extLst xmlns:a="http://schemas.openxmlformats.org/drawingml/2006/main">
              <a:ext uri="{FF2B5EF4-FFF2-40B4-BE49-F238E27FC236}">
                <a16:creationId xmlns:a16="http://schemas.microsoft.com/office/drawing/2014/main" id="{73B58E82-D59C-471B-9115-BB2A3007F5D7}"/>
              </a:ext>
            </a:extLst>
          </p:cNvPr>
          <p:cNvGraphicFramePr/>
          <p:nvPr/>
        </p:nvGraphicFramePr>
        <p:xfrm>
          <a:off xmlns:a="http://schemas.openxmlformats.org/drawingml/2006/main" x="609600" y="2724150"/>
          <a:ext xmlns:a="http://schemas.openxmlformats.org/drawingml/2006/main" cx="12496800" cy="2047875"/>
        </p:xfrm>
        <a:graphic xmlns:a="http://schemas.openxmlformats.org/drawingml/2006/main">
          <a:graphicData uri="http://schemas.openxmlformats.org/drawingml/2006/table">
            <a:tbl>
              <a:tblPr firstRow="1" bandRow="0"/>
              <a:tblGrid>
                <a:gridCol w="3714750"/>
                <a:gridCol w="1666875"/>
                <a:gridCol w="2238375"/>
                <a:gridCol w="2428875"/>
                <a:gridCol w="2447925"/>
              </a:tblGrid>
              <a:tr h="619125">
                <a:tc>
                  <a:txBody>
                    <a:bodyPr lIns="114300" tIns="95250" rIns="114300" bIns="95250">
                      <a:noAutofit/>
                    </a:bodyPr>
                    <a:lstStyle/>
                    <a:p>
                      <a:pPr>
                        <a:lnSpc>
                          <a:spcPct val="105000"/>
                        </a:lnSpc>
                        <a:buNone/>
                      </a:pPr>
                      <a:r>
                        <a:rPr sz="1950" b="1">
                          <a:solidFill>
                            <a:srgbClr val="FFFFFF"/>
                          </a:solidFill>
                          <a:latin typeface="DejaVu Sans"/>
                          <a:ea typeface="DejaVu Sans"/>
                          <a:cs typeface="DejaVu Sans"/>
                        </a:rPr>
                        <a:t>Устройство</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950" b="1">
                          <a:solidFill>
                            <a:srgbClr val="FFFFFF"/>
                          </a:solidFill>
                          <a:latin typeface="DejaVu Sans"/>
                          <a:ea typeface="DejaVu Sans"/>
                          <a:cs typeface="DejaVu Sans"/>
                        </a:rPr>
                        <a:t>VRAM</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950" b="1">
                          <a:solidFill>
                            <a:srgbClr val="FFFFFF"/>
                          </a:solidFill>
                          <a:latin typeface="DejaVu Sans"/>
                          <a:ea typeface="DejaVu Sans"/>
                          <a:cs typeface="DejaVu Sans"/>
                        </a:rPr>
                        <a:t>Microbatch</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950" b="1">
                          <a:solidFill>
                            <a:srgbClr val="FFFFFF"/>
                          </a:solidFill>
                          <a:latin typeface="DejaVu Sans"/>
                          <a:ea typeface="DejaVu Sans"/>
                          <a:cs typeface="DejaVu Sans"/>
                        </a:rPr>
                        <a:t>Accumulation</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950" b="1">
                          <a:solidFill>
                            <a:srgbClr val="FFFFFF"/>
                          </a:solidFill>
                          <a:latin typeface="DejaVu Sans"/>
                          <a:ea typeface="DejaVu Sans"/>
                          <a:cs typeface="DejaVu Sans"/>
                        </a:rPr>
                        <a:t>Effective batch</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714375">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RTX 2060</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6 GB</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8</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4</a:t>
                      </a:r>
                    </a:p>
                  </a:txBody>
                  <a:tcPr marL="91440" marR="91440" marT="45720" marB="45720" anchor="ctr">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32</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714375">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RTX 3050 Laptop</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4 GB</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4</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8</a:t>
                      </a:r>
                    </a:p>
                  </a:txBody>
                  <a:tcPr marL="91440" marR="91440" marT="45720" marB="45720" anchor="ctr">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2025" b="0">
                          <a:solidFill>
                            <a:srgbClr val="243C31"/>
                          </a:solidFill>
                          <a:latin typeface="DejaVu Sans"/>
                          <a:ea typeface="DejaVu Sans"/>
                          <a:cs typeface="DejaVu Sans"/>
                        </a:rPr>
                        <a:t>32</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bl>
          </a:graphicData>
        </a:graphic>
      </p:graphicFrame>
      <p:sp>
        <p:nvSpPr>
          <p:cNvPr id="5" name="text-3">
            <a:extLst xmlns:a="http://schemas.openxmlformats.org/drawingml/2006/main">
              <a:ext uri="{FF2B5EF4-FFF2-40B4-BE49-F238E27FC236}">
                <a16:creationId xmlns:a16="http://schemas.microsoft.com/office/drawing/2014/main" id="{FA4A5E6B-D8E2-4B44-9BD9-2F5CEF659A20}"/>
              </a:ext>
            </a:extLst>
          </p:cNvPr>
          <p:cNvSpPr>
            <a:spLocks xmlns:a="http://schemas.openxmlformats.org/drawingml/2006/main" noGrp="1"/>
          </p:cNvSpPr>
          <p:nvPr/>
        </p:nvSpPr>
        <p:spPr>
          <a:xfrm xmlns:a="http://schemas.openxmlformats.org/drawingml/2006/main">
            <a:off x="609600" y="5038725"/>
            <a:ext cx="12496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9B713E"/>
                </a:solidFill>
                <a:latin typeface="DejaVu Sans"/>
                <a:ea typeface="DejaVu Sans"/>
                <a:cs typeface="DejaVu Sans"/>
              </a:defRPr>
            </a:defPPr>
            <a:lvl1pPr algn="l">
              <a:defRPr sz="2100" b="1">
                <a:solidFill>
                  <a:srgbClr val="9B713E"/>
                </a:solidFill>
                <a:latin typeface="DejaVu Sans"/>
                <a:ea typeface="DejaVu Sans"/>
                <a:cs typeface="DejaVu Sans"/>
              </a:defRPr>
            </a:lvl1pPr>
            <a:lvl2pPr algn="l">
              <a:defRPr sz="2100" b="1">
                <a:solidFill>
                  <a:srgbClr val="9B713E"/>
                </a:solidFill>
                <a:latin typeface="DejaVu Sans"/>
                <a:ea typeface="DejaVu Sans"/>
                <a:cs typeface="DejaVu Sans"/>
              </a:defRPr>
            </a:lvl2pPr>
            <a:lvl3pPr algn="l">
              <a:defRPr sz="2100" b="1">
                <a:solidFill>
                  <a:srgbClr val="9B713E"/>
                </a:solidFill>
                <a:latin typeface="DejaVu Sans"/>
                <a:ea typeface="DejaVu Sans"/>
                <a:cs typeface="DejaVu Sans"/>
              </a:defRPr>
            </a:lvl3pPr>
            <a:lvl4pPr algn="l">
              <a:defRPr sz="2100" b="1">
                <a:solidFill>
                  <a:srgbClr val="9B713E"/>
                </a:solidFill>
                <a:latin typeface="DejaVu Sans"/>
                <a:ea typeface="DejaVu Sans"/>
                <a:cs typeface="DejaVu Sans"/>
              </a:defRPr>
            </a:lvl4pPr>
            <a:lvl5pPr algn="l">
              <a:defRPr sz="2100" b="1">
                <a:solidFill>
                  <a:srgbClr val="9B713E"/>
                </a:solidFill>
                <a:latin typeface="DejaVu Sans"/>
                <a:ea typeface="DejaVu Sans"/>
                <a:cs typeface="DejaVu Sans"/>
              </a:defRPr>
            </a:lvl5pPr>
            <a:lvl6pPr algn="l">
              <a:defRPr sz="2100" b="1">
                <a:solidFill>
                  <a:srgbClr val="9B713E"/>
                </a:solidFill>
                <a:latin typeface="DejaVu Sans"/>
                <a:ea typeface="DejaVu Sans"/>
                <a:cs typeface="DejaVu Sans"/>
              </a:defRPr>
            </a:lvl6pPr>
            <a:lvl7pPr algn="l">
              <a:defRPr sz="2100" b="1">
                <a:solidFill>
                  <a:srgbClr val="9B713E"/>
                </a:solidFill>
                <a:latin typeface="DejaVu Sans"/>
                <a:ea typeface="DejaVu Sans"/>
                <a:cs typeface="DejaVu Sans"/>
              </a:defRPr>
            </a:lvl7pPr>
            <a:lvl8pPr algn="l">
              <a:defRPr sz="2100" b="1">
                <a:solidFill>
                  <a:srgbClr val="9B713E"/>
                </a:solidFill>
                <a:latin typeface="DejaVu Sans"/>
                <a:ea typeface="DejaVu Sans"/>
                <a:cs typeface="DejaVu Sans"/>
              </a:defRPr>
            </a:lvl8pPr>
            <a:lvl9pPr algn="l">
              <a:defRPr sz="2100" b="1">
                <a:solidFill>
                  <a:srgbClr val="9B713E"/>
                </a:solidFill>
                <a:latin typeface="DejaVu Sans"/>
                <a:ea typeface="DejaVu Sans"/>
                <a:cs typeface="DejaVu Sans"/>
              </a:defRPr>
            </a:lvl9pPr>
          </a:lstStyle>
          <a:p xmlns:a="http://schemas.openxmlformats.org/drawingml/2006/main">
            <a:pPr algn="l">
              <a:lnSpc>
                <a:spcPct val="108000"/>
              </a:lnSpc>
              <a:buNone/>
              <a:defRPr sz="2100" b="1">
                <a:solidFill>
                  <a:srgbClr val="9B713E"/>
                </a:solidFill>
                <a:latin typeface="DejaVu Sans"/>
                <a:ea typeface="DejaVu Sans"/>
                <a:cs typeface="DejaVu Sans"/>
              </a:defRPr>
            </a:pPr>
            <a:r>
              <a:rPr sz="2100" b="1">
                <a:solidFill>
                  <a:srgbClr val="9B713E"/>
                </a:solidFill>
                <a:latin typeface="DejaVu Sans"/>
                <a:ea typeface="DejaVu Sans"/>
                <a:cs typeface="DejaVu Sans"/>
              </a:rPr>
              <a:t>Стартовые оценки, а не измеренные пределы памяти</a:t>
            </a:r>
          </a:p>
        </p:txBody>
      </p:sp>
      <p:sp>
        <p:nvSpPr>
          <p:cNvPr id="6" name="text-4">
            <a:extLst xmlns:a="http://schemas.openxmlformats.org/drawingml/2006/main">
              <a:ext uri="{FF2B5EF4-FFF2-40B4-BE49-F238E27FC236}">
                <a16:creationId xmlns:a16="http://schemas.microsoft.com/office/drawing/2014/main" id="{528F6234-02E0-4046-912D-181DBA017B4E}"/>
              </a:ext>
            </a:extLst>
          </p:cNvPr>
          <p:cNvSpPr>
            <a:spLocks xmlns:a="http://schemas.openxmlformats.org/drawingml/2006/main" noGrp="1"/>
          </p:cNvSpPr>
          <p:nvPr/>
        </p:nvSpPr>
        <p:spPr>
          <a:xfrm xmlns:a="http://schemas.openxmlformats.org/drawingml/2006/main">
            <a:off x="609600" y="5657850"/>
            <a:ext cx="124968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243C31"/>
                </a:solidFill>
                <a:latin typeface="DejaVu Sans"/>
                <a:ea typeface="DejaVu Sans"/>
                <a:cs typeface="DejaVu Sans"/>
              </a:defRPr>
            </a:defPPr>
            <a:lvl1pPr algn="l">
              <a:defRPr sz="1875" b="0">
                <a:solidFill>
                  <a:srgbClr val="243C31"/>
                </a:solidFill>
                <a:latin typeface="DejaVu Sans"/>
                <a:ea typeface="DejaVu Sans"/>
                <a:cs typeface="DejaVu Sans"/>
              </a:defRPr>
            </a:lvl1pPr>
            <a:lvl2pPr algn="l">
              <a:defRPr sz="1875" b="0">
                <a:solidFill>
                  <a:srgbClr val="243C31"/>
                </a:solidFill>
                <a:latin typeface="DejaVu Sans"/>
                <a:ea typeface="DejaVu Sans"/>
                <a:cs typeface="DejaVu Sans"/>
              </a:defRPr>
            </a:lvl2pPr>
            <a:lvl3pPr algn="l">
              <a:defRPr sz="1875" b="0">
                <a:solidFill>
                  <a:srgbClr val="243C31"/>
                </a:solidFill>
                <a:latin typeface="DejaVu Sans"/>
                <a:ea typeface="DejaVu Sans"/>
                <a:cs typeface="DejaVu Sans"/>
              </a:defRPr>
            </a:lvl3pPr>
            <a:lvl4pPr algn="l">
              <a:defRPr sz="1875" b="0">
                <a:solidFill>
                  <a:srgbClr val="243C31"/>
                </a:solidFill>
                <a:latin typeface="DejaVu Sans"/>
                <a:ea typeface="DejaVu Sans"/>
                <a:cs typeface="DejaVu Sans"/>
              </a:defRPr>
            </a:lvl4pPr>
            <a:lvl5pPr algn="l">
              <a:defRPr sz="1875" b="0">
                <a:solidFill>
                  <a:srgbClr val="243C31"/>
                </a:solidFill>
                <a:latin typeface="DejaVu Sans"/>
                <a:ea typeface="DejaVu Sans"/>
                <a:cs typeface="DejaVu Sans"/>
              </a:defRPr>
            </a:lvl5pPr>
            <a:lvl6pPr algn="l">
              <a:defRPr sz="1875" b="0">
                <a:solidFill>
                  <a:srgbClr val="243C31"/>
                </a:solidFill>
                <a:latin typeface="DejaVu Sans"/>
                <a:ea typeface="DejaVu Sans"/>
                <a:cs typeface="DejaVu Sans"/>
              </a:defRPr>
            </a:lvl6pPr>
            <a:lvl7pPr algn="l">
              <a:defRPr sz="1875" b="0">
                <a:solidFill>
                  <a:srgbClr val="243C31"/>
                </a:solidFill>
                <a:latin typeface="DejaVu Sans"/>
                <a:ea typeface="DejaVu Sans"/>
                <a:cs typeface="DejaVu Sans"/>
              </a:defRPr>
            </a:lvl7pPr>
            <a:lvl8pPr algn="l">
              <a:defRPr sz="1875" b="0">
                <a:solidFill>
                  <a:srgbClr val="243C31"/>
                </a:solidFill>
                <a:latin typeface="DejaVu Sans"/>
                <a:ea typeface="DejaVu Sans"/>
                <a:cs typeface="DejaVu Sans"/>
              </a:defRPr>
            </a:lvl8pPr>
            <a:lvl9pPr algn="l">
              <a:defRPr sz="1875"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1875" b="0">
                <a:solidFill>
                  <a:srgbClr val="243C31"/>
                </a:solidFill>
                <a:latin typeface="DejaVu Sans"/>
                <a:ea typeface="DejaVu Sans"/>
                <a:cs typeface="DejaVu Sans"/>
              </a:defRPr>
            </a:pPr>
            <a:r>
              <a:rPr sz="1875">
                <a:solidFill>
                  <a:srgbClr val="243C31"/>
                </a:solidFill>
                <a:latin typeface="DejaVu Sans"/>
                <a:ea typeface="DejaVu Sans"/>
                <a:cs typeface="DejaVu Sans"/>
              </a:rPr>
              <a:t>FP16 AMP и замороженные BatchNorm statistics</a:t>
            </a:r>
          </a:p>
          <a:p xmlns:a="http://schemas.openxmlformats.org/drawingml/2006/main">
            <a:pPr marL="241300" indent="-127000" algn="l">
              <a:lnSpc>
                <a:spcPct val="108000"/>
              </a:lnSpc>
              <a:spcAft>
                <a:spcPts val="1200"/>
              </a:spcAft>
              <a:buNone/>
              <a:defRPr sz="1875" b="0">
                <a:solidFill>
                  <a:srgbClr val="243C31"/>
                </a:solidFill>
                <a:latin typeface="DejaVu Sans"/>
                <a:ea typeface="DejaVu Sans"/>
                <a:cs typeface="DejaVu Sans"/>
              </a:defRPr>
            </a:pPr>
            <a:r>
              <a:rPr sz="1875">
                <a:solidFill>
                  <a:srgbClr val="243C31"/>
                </a:solidFill>
                <a:latin typeface="DejaVu Sans"/>
                <a:ea typeface="DejaVu Sans"/>
                <a:cs typeface="DejaVu Sans"/>
              </a:rPr>
              <a:t>100 microsteps с optimizer updates на каждой GPU</a:t>
            </a:r>
          </a:p>
          <a:p xmlns:a="http://schemas.openxmlformats.org/drawingml/2006/main">
            <a:pPr marL="241300" indent="-127000" algn="l">
              <a:lnSpc>
                <a:spcPct val="108000"/>
              </a:lnSpc>
              <a:spcAft>
                <a:spcPts val="1200"/>
              </a:spcAft>
              <a:buNone/>
              <a:defRPr sz="1875" b="0">
                <a:solidFill>
                  <a:srgbClr val="243C31"/>
                </a:solidFill>
                <a:latin typeface="DejaVu Sans"/>
                <a:ea typeface="DejaVu Sans"/>
                <a:cs typeface="DejaVu Sans"/>
              </a:defRPr>
            </a:pPr>
            <a:r>
              <a:rPr sz="1875">
                <a:solidFill>
                  <a:srgbClr val="243C31"/>
                </a:solidFill>
                <a:latin typeface="DejaVu Sans"/>
                <a:ea typeface="DejaVu Sans"/>
                <a:cs typeface="DejaVu Sans"/>
              </a:rPr>
              <a:t>Эксперимент 30–60 минут: tiny-fit, память, throughput и ранний ONNX</a:t>
            </a:r>
          </a:p>
        </p:txBody>
      </p:sp>
      <p:sp>
        <p:nvSpPr>
          <p:cNvPr id="7" name="source-footer">
            <a:extLst xmlns:a="http://schemas.openxmlformats.org/drawingml/2006/main">
              <a:ext uri="{FF2B5EF4-FFF2-40B4-BE49-F238E27FC236}">
                <a16:creationId xmlns:a16="http://schemas.microsoft.com/office/drawing/2014/main" id="{B16AB615-58A2-4690-BA42-E829FBA7E80E}"/>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Две GPU работают независимо. Их память не объединяется. Полный протокол и stop rules в ml/.</a:t>
            </a:r>
          </a:p>
        </p:txBody>
      </p:sp>
    </p:spTree>
    <p:extLst>
      <p:ext uri="{BB962C8B-B14F-4D97-AF65-F5344CB8AC3E}">
        <p14:creationId xmlns:p14="http://schemas.microsoft.com/office/powerpoint/2010/main" val="931354781"/>
      </p:ext>
    </p:extLst>
  </p:cSld>
</p:sld>
</file>

<file path=ppt/slides/slide1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496F8D3-DB1A-40FD-A91D-572EC2D9EF3C}"/>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Протокол проверки результата</a:t>
            </a:r>
          </a:p>
        </p:txBody>
      </p:sp>
      <p:sp>
        <p:nvSpPr>
          <p:cNvPr id="2" name="slide-number">
            <a:extLst xmlns:a="http://schemas.openxmlformats.org/drawingml/2006/main">
              <a:ext uri="{FF2B5EF4-FFF2-40B4-BE49-F238E27FC236}">
                <a16:creationId xmlns:a16="http://schemas.microsoft.com/office/drawing/2014/main" id="{2E7BA0AC-49C3-4E02-95A2-B009B918A53B}"/>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14</a:t>
            </a:r>
          </a:p>
        </p:txBody>
      </p:sp>
      <p:sp>
        <p:nvSpPr>
          <p:cNvPr id="3" name="text-2">
            <a:extLst xmlns:a="http://schemas.openxmlformats.org/drawingml/2006/main">
              <a:ext uri="{FF2B5EF4-FFF2-40B4-BE49-F238E27FC236}">
                <a16:creationId xmlns:a16="http://schemas.microsoft.com/office/drawing/2014/main" id="{75A3F205-2AD9-41B3-A17A-E4BEA42E550F}"/>
              </a:ext>
            </a:extLst>
          </p:cNvPr>
          <p:cNvSpPr>
            <a:spLocks xmlns:a="http://schemas.openxmlformats.org/drawingml/2006/main" noGrp="1"/>
          </p:cNvSpPr>
          <p:nvPr/>
        </p:nvSpPr>
        <p:spPr>
          <a:xfrm xmlns:a="http://schemas.openxmlformats.org/drawingml/2006/main">
            <a:off x="609600" y="1381125"/>
            <a:ext cx="5772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73F32"/>
                </a:solidFill>
                <a:latin typeface="DejaVu Sans"/>
                <a:ea typeface="DejaVu Sans"/>
                <a:cs typeface="DejaVu Sans"/>
              </a:defRPr>
            </a:defPPr>
            <a:lvl1pPr algn="l">
              <a:defRPr sz="2325" b="1">
                <a:solidFill>
                  <a:srgbClr val="173F32"/>
                </a:solidFill>
                <a:latin typeface="DejaVu Sans"/>
                <a:ea typeface="DejaVu Sans"/>
                <a:cs typeface="DejaVu Sans"/>
              </a:defRPr>
            </a:lvl1pPr>
            <a:lvl2pPr algn="l">
              <a:defRPr sz="2325" b="1">
                <a:solidFill>
                  <a:srgbClr val="173F32"/>
                </a:solidFill>
                <a:latin typeface="DejaVu Sans"/>
                <a:ea typeface="DejaVu Sans"/>
                <a:cs typeface="DejaVu Sans"/>
              </a:defRPr>
            </a:lvl2pPr>
            <a:lvl3pPr algn="l">
              <a:defRPr sz="2325" b="1">
                <a:solidFill>
                  <a:srgbClr val="173F32"/>
                </a:solidFill>
                <a:latin typeface="DejaVu Sans"/>
                <a:ea typeface="DejaVu Sans"/>
                <a:cs typeface="DejaVu Sans"/>
              </a:defRPr>
            </a:lvl3pPr>
            <a:lvl4pPr algn="l">
              <a:defRPr sz="2325" b="1">
                <a:solidFill>
                  <a:srgbClr val="173F32"/>
                </a:solidFill>
                <a:latin typeface="DejaVu Sans"/>
                <a:ea typeface="DejaVu Sans"/>
                <a:cs typeface="DejaVu Sans"/>
              </a:defRPr>
            </a:lvl4pPr>
            <a:lvl5pPr algn="l">
              <a:defRPr sz="2325" b="1">
                <a:solidFill>
                  <a:srgbClr val="173F32"/>
                </a:solidFill>
                <a:latin typeface="DejaVu Sans"/>
                <a:ea typeface="DejaVu Sans"/>
                <a:cs typeface="DejaVu Sans"/>
              </a:defRPr>
            </a:lvl5pPr>
            <a:lvl6pPr algn="l">
              <a:defRPr sz="2325" b="1">
                <a:solidFill>
                  <a:srgbClr val="173F32"/>
                </a:solidFill>
                <a:latin typeface="DejaVu Sans"/>
                <a:ea typeface="DejaVu Sans"/>
                <a:cs typeface="DejaVu Sans"/>
              </a:defRPr>
            </a:lvl6pPr>
            <a:lvl7pPr algn="l">
              <a:defRPr sz="2325" b="1">
                <a:solidFill>
                  <a:srgbClr val="173F32"/>
                </a:solidFill>
                <a:latin typeface="DejaVu Sans"/>
                <a:ea typeface="DejaVu Sans"/>
                <a:cs typeface="DejaVu Sans"/>
              </a:defRPr>
            </a:lvl7pPr>
            <a:lvl8pPr algn="l">
              <a:defRPr sz="2325" b="1">
                <a:solidFill>
                  <a:srgbClr val="173F32"/>
                </a:solidFill>
                <a:latin typeface="DejaVu Sans"/>
                <a:ea typeface="DejaVu Sans"/>
                <a:cs typeface="DejaVu Sans"/>
              </a:defRPr>
            </a:lvl8pPr>
            <a:lvl9pPr algn="l">
              <a:defRPr sz="2325" b="1">
                <a:solidFill>
                  <a:srgbClr val="173F32"/>
                </a:solidFill>
                <a:latin typeface="DejaVu Sans"/>
                <a:ea typeface="DejaVu Sans"/>
                <a:cs typeface="DejaVu Sans"/>
              </a:defRPr>
            </a:lvl9pPr>
          </a:lstStyle>
          <a:p xmlns:a="http://schemas.openxmlformats.org/drawingml/2006/main">
            <a:pPr algn="l">
              <a:lnSpc>
                <a:spcPct val="108000"/>
              </a:lnSpc>
              <a:buNone/>
              <a:defRPr sz="2325" b="1">
                <a:solidFill>
                  <a:srgbClr val="173F32"/>
                </a:solidFill>
                <a:latin typeface="DejaVu Sans"/>
                <a:ea typeface="DejaVu Sans"/>
                <a:cs typeface="DejaVu Sans"/>
              </a:defRPr>
            </a:pPr>
            <a:r>
              <a:rPr sz="2325" b="1">
                <a:solidFill>
                  <a:srgbClr val="173F32"/>
                </a:solidFill>
                <a:latin typeface="DejaVu Sans"/>
                <a:ea typeface="DejaVu Sans"/>
                <a:cs typeface="DejaVu Sans"/>
              </a:rPr>
              <a:t>Качество и перенос</a:t>
            </a:r>
          </a:p>
        </p:txBody>
      </p:sp>
      <p:sp>
        <p:nvSpPr>
          <p:cNvPr id="4" name="text-3">
            <a:extLst xmlns:a="http://schemas.openxmlformats.org/drawingml/2006/main">
              <a:ext uri="{FF2B5EF4-FFF2-40B4-BE49-F238E27FC236}">
                <a16:creationId xmlns:a16="http://schemas.microsoft.com/office/drawing/2014/main" id="{4B6A11FA-4A30-473F-B35A-5E7E6AF2C931}"/>
              </a:ext>
            </a:extLst>
          </p:cNvPr>
          <p:cNvSpPr>
            <a:spLocks xmlns:a="http://schemas.openxmlformats.org/drawingml/2006/main" noGrp="1"/>
          </p:cNvSpPr>
          <p:nvPr/>
        </p:nvSpPr>
        <p:spPr>
          <a:xfrm xmlns:a="http://schemas.openxmlformats.org/drawingml/2006/main">
            <a:off x="609600" y="2390775"/>
            <a:ext cx="58293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243C31"/>
                </a:solidFill>
                <a:latin typeface="DejaVu Sans"/>
                <a:ea typeface="DejaVu Sans"/>
                <a:cs typeface="DejaVu Sans"/>
              </a:defRPr>
            </a:defPPr>
            <a:lvl1pPr algn="l">
              <a:defRPr sz="2025" b="0">
                <a:solidFill>
                  <a:srgbClr val="243C31"/>
                </a:solidFill>
                <a:latin typeface="DejaVu Sans"/>
                <a:ea typeface="DejaVu Sans"/>
                <a:cs typeface="DejaVu Sans"/>
              </a:defRPr>
            </a:lvl1pPr>
            <a:lvl2pPr algn="l">
              <a:defRPr sz="2025" b="0">
                <a:solidFill>
                  <a:srgbClr val="243C31"/>
                </a:solidFill>
                <a:latin typeface="DejaVu Sans"/>
                <a:ea typeface="DejaVu Sans"/>
                <a:cs typeface="DejaVu Sans"/>
              </a:defRPr>
            </a:lvl2pPr>
            <a:lvl3pPr algn="l">
              <a:defRPr sz="2025" b="0">
                <a:solidFill>
                  <a:srgbClr val="243C31"/>
                </a:solidFill>
                <a:latin typeface="DejaVu Sans"/>
                <a:ea typeface="DejaVu Sans"/>
                <a:cs typeface="DejaVu Sans"/>
              </a:defRPr>
            </a:lvl3pPr>
            <a:lvl4pPr algn="l">
              <a:defRPr sz="2025" b="0">
                <a:solidFill>
                  <a:srgbClr val="243C31"/>
                </a:solidFill>
                <a:latin typeface="DejaVu Sans"/>
                <a:ea typeface="DejaVu Sans"/>
                <a:cs typeface="DejaVu Sans"/>
              </a:defRPr>
            </a:lvl4pPr>
            <a:lvl5pPr algn="l">
              <a:defRPr sz="2025" b="0">
                <a:solidFill>
                  <a:srgbClr val="243C31"/>
                </a:solidFill>
                <a:latin typeface="DejaVu Sans"/>
                <a:ea typeface="DejaVu Sans"/>
                <a:cs typeface="DejaVu Sans"/>
              </a:defRPr>
            </a:lvl5pPr>
            <a:lvl6pPr algn="l">
              <a:defRPr sz="2025" b="0">
                <a:solidFill>
                  <a:srgbClr val="243C31"/>
                </a:solidFill>
                <a:latin typeface="DejaVu Sans"/>
                <a:ea typeface="DejaVu Sans"/>
                <a:cs typeface="DejaVu Sans"/>
              </a:defRPr>
            </a:lvl6pPr>
            <a:lvl7pPr algn="l">
              <a:defRPr sz="2025" b="0">
                <a:solidFill>
                  <a:srgbClr val="243C31"/>
                </a:solidFill>
                <a:latin typeface="DejaVu Sans"/>
                <a:ea typeface="DejaVu Sans"/>
                <a:cs typeface="DejaVu Sans"/>
              </a:defRPr>
            </a:lvl7pPr>
            <a:lvl8pPr algn="l">
              <a:defRPr sz="2025" b="0">
                <a:solidFill>
                  <a:srgbClr val="243C31"/>
                </a:solidFill>
                <a:latin typeface="DejaVu Sans"/>
                <a:ea typeface="DejaVu Sans"/>
                <a:cs typeface="DejaVu Sans"/>
              </a:defRPr>
            </a:lvl8pPr>
            <a:lvl9pPr algn="l">
              <a:defRPr sz="2025"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Группы листа, растения, сессии и дубликатов разделяются до обучения</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Внутренний test, отложенный источник и независимый локальный test</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Macro-F1, per-crop и per-class показатели с support</a:t>
            </a:r>
          </a:p>
        </p:txBody>
      </p:sp>
      <p:sp>
        <p:nvSpPr>
          <p:cNvPr id="5" name="text-4">
            <a:extLst xmlns:a="http://schemas.openxmlformats.org/drawingml/2006/main">
              <a:ext uri="{FF2B5EF4-FFF2-40B4-BE49-F238E27FC236}">
                <a16:creationId xmlns:a16="http://schemas.microsoft.com/office/drawing/2014/main" id="{7C3865A5-84EA-4B48-AD01-93AA89B3940E}"/>
              </a:ext>
            </a:extLst>
          </p:cNvPr>
          <p:cNvSpPr>
            <a:spLocks xmlns:a="http://schemas.openxmlformats.org/drawingml/2006/main" noGrp="1"/>
          </p:cNvSpPr>
          <p:nvPr/>
        </p:nvSpPr>
        <p:spPr>
          <a:xfrm xmlns:a="http://schemas.openxmlformats.org/drawingml/2006/main">
            <a:off x="7219950" y="1381125"/>
            <a:ext cx="5886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73F32"/>
                </a:solidFill>
                <a:latin typeface="DejaVu Sans"/>
                <a:ea typeface="DejaVu Sans"/>
                <a:cs typeface="DejaVu Sans"/>
              </a:defRPr>
            </a:defPPr>
            <a:lvl1pPr algn="l">
              <a:defRPr sz="2325" b="1">
                <a:solidFill>
                  <a:srgbClr val="173F32"/>
                </a:solidFill>
                <a:latin typeface="DejaVu Sans"/>
                <a:ea typeface="DejaVu Sans"/>
                <a:cs typeface="DejaVu Sans"/>
              </a:defRPr>
            </a:lvl1pPr>
            <a:lvl2pPr algn="l">
              <a:defRPr sz="2325" b="1">
                <a:solidFill>
                  <a:srgbClr val="173F32"/>
                </a:solidFill>
                <a:latin typeface="DejaVu Sans"/>
                <a:ea typeface="DejaVu Sans"/>
                <a:cs typeface="DejaVu Sans"/>
              </a:defRPr>
            </a:lvl2pPr>
            <a:lvl3pPr algn="l">
              <a:defRPr sz="2325" b="1">
                <a:solidFill>
                  <a:srgbClr val="173F32"/>
                </a:solidFill>
                <a:latin typeface="DejaVu Sans"/>
                <a:ea typeface="DejaVu Sans"/>
                <a:cs typeface="DejaVu Sans"/>
              </a:defRPr>
            </a:lvl3pPr>
            <a:lvl4pPr algn="l">
              <a:defRPr sz="2325" b="1">
                <a:solidFill>
                  <a:srgbClr val="173F32"/>
                </a:solidFill>
                <a:latin typeface="DejaVu Sans"/>
                <a:ea typeface="DejaVu Sans"/>
                <a:cs typeface="DejaVu Sans"/>
              </a:defRPr>
            </a:lvl4pPr>
            <a:lvl5pPr algn="l">
              <a:defRPr sz="2325" b="1">
                <a:solidFill>
                  <a:srgbClr val="173F32"/>
                </a:solidFill>
                <a:latin typeface="DejaVu Sans"/>
                <a:ea typeface="DejaVu Sans"/>
                <a:cs typeface="DejaVu Sans"/>
              </a:defRPr>
            </a:lvl5pPr>
            <a:lvl6pPr algn="l">
              <a:defRPr sz="2325" b="1">
                <a:solidFill>
                  <a:srgbClr val="173F32"/>
                </a:solidFill>
                <a:latin typeface="DejaVu Sans"/>
                <a:ea typeface="DejaVu Sans"/>
                <a:cs typeface="DejaVu Sans"/>
              </a:defRPr>
            </a:lvl6pPr>
            <a:lvl7pPr algn="l">
              <a:defRPr sz="2325" b="1">
                <a:solidFill>
                  <a:srgbClr val="173F32"/>
                </a:solidFill>
                <a:latin typeface="DejaVu Sans"/>
                <a:ea typeface="DejaVu Sans"/>
                <a:cs typeface="DejaVu Sans"/>
              </a:defRPr>
            </a:lvl7pPr>
            <a:lvl8pPr algn="l">
              <a:defRPr sz="2325" b="1">
                <a:solidFill>
                  <a:srgbClr val="173F32"/>
                </a:solidFill>
                <a:latin typeface="DejaVu Sans"/>
                <a:ea typeface="DejaVu Sans"/>
                <a:cs typeface="DejaVu Sans"/>
              </a:defRPr>
            </a:lvl8pPr>
            <a:lvl9pPr algn="l">
              <a:defRPr sz="2325" b="1">
                <a:solidFill>
                  <a:srgbClr val="173F32"/>
                </a:solidFill>
                <a:latin typeface="DejaVu Sans"/>
                <a:ea typeface="DejaVu Sans"/>
                <a:cs typeface="DejaVu Sans"/>
              </a:defRPr>
            </a:lvl9pPr>
          </a:lstStyle>
          <a:p xmlns:a="http://schemas.openxmlformats.org/drawingml/2006/main">
            <a:pPr algn="l">
              <a:lnSpc>
                <a:spcPct val="108000"/>
              </a:lnSpc>
              <a:buNone/>
              <a:defRPr sz="2325" b="1">
                <a:solidFill>
                  <a:srgbClr val="173F32"/>
                </a:solidFill>
                <a:latin typeface="DejaVu Sans"/>
                <a:ea typeface="DejaVu Sans"/>
                <a:cs typeface="DejaVu Sans"/>
              </a:defRPr>
            </a:pPr>
            <a:r>
              <a:rPr sz="2325" b="1">
                <a:solidFill>
                  <a:srgbClr val="173F32"/>
                </a:solidFill>
                <a:latin typeface="DejaVu Sans"/>
                <a:ea typeface="DejaVu Sans"/>
                <a:cs typeface="DejaVu Sans"/>
              </a:rPr>
              <a:t>Неопределённость и эксплуатация</a:t>
            </a:r>
          </a:p>
        </p:txBody>
      </p:sp>
      <p:sp>
        <p:nvSpPr>
          <p:cNvPr id="6" name="text-5">
            <a:extLst xmlns:a="http://schemas.openxmlformats.org/drawingml/2006/main">
              <a:ext uri="{FF2B5EF4-FFF2-40B4-BE49-F238E27FC236}">
                <a16:creationId xmlns:a16="http://schemas.microsoft.com/office/drawing/2014/main" id="{1A8515B6-D08A-4271-BD3D-4A933F27C850}"/>
              </a:ext>
            </a:extLst>
          </p:cNvPr>
          <p:cNvSpPr>
            <a:spLocks xmlns:a="http://schemas.openxmlformats.org/drawingml/2006/main" noGrp="1"/>
          </p:cNvSpPr>
          <p:nvPr/>
        </p:nvSpPr>
        <p:spPr>
          <a:xfrm xmlns:a="http://schemas.openxmlformats.org/drawingml/2006/main">
            <a:off x="7219950" y="2390775"/>
            <a:ext cx="5886450" cy="3457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243C31"/>
                </a:solidFill>
                <a:latin typeface="DejaVu Sans"/>
                <a:ea typeface="DejaVu Sans"/>
                <a:cs typeface="DejaVu Sans"/>
              </a:defRPr>
            </a:defPPr>
            <a:lvl1pPr algn="l">
              <a:defRPr sz="2025" b="0">
                <a:solidFill>
                  <a:srgbClr val="243C31"/>
                </a:solidFill>
                <a:latin typeface="DejaVu Sans"/>
                <a:ea typeface="DejaVu Sans"/>
                <a:cs typeface="DejaVu Sans"/>
              </a:defRPr>
            </a:lvl1pPr>
            <a:lvl2pPr algn="l">
              <a:defRPr sz="2025" b="0">
                <a:solidFill>
                  <a:srgbClr val="243C31"/>
                </a:solidFill>
                <a:latin typeface="DejaVu Sans"/>
                <a:ea typeface="DejaVu Sans"/>
                <a:cs typeface="DejaVu Sans"/>
              </a:defRPr>
            </a:lvl2pPr>
            <a:lvl3pPr algn="l">
              <a:defRPr sz="2025" b="0">
                <a:solidFill>
                  <a:srgbClr val="243C31"/>
                </a:solidFill>
                <a:latin typeface="DejaVu Sans"/>
                <a:ea typeface="DejaVu Sans"/>
                <a:cs typeface="DejaVu Sans"/>
              </a:defRPr>
            </a:lvl3pPr>
            <a:lvl4pPr algn="l">
              <a:defRPr sz="2025" b="0">
                <a:solidFill>
                  <a:srgbClr val="243C31"/>
                </a:solidFill>
                <a:latin typeface="DejaVu Sans"/>
                <a:ea typeface="DejaVu Sans"/>
                <a:cs typeface="DejaVu Sans"/>
              </a:defRPr>
            </a:lvl4pPr>
            <a:lvl5pPr algn="l">
              <a:defRPr sz="2025" b="0">
                <a:solidFill>
                  <a:srgbClr val="243C31"/>
                </a:solidFill>
                <a:latin typeface="DejaVu Sans"/>
                <a:ea typeface="DejaVu Sans"/>
                <a:cs typeface="DejaVu Sans"/>
              </a:defRPr>
            </a:lvl5pPr>
            <a:lvl6pPr algn="l">
              <a:defRPr sz="2025" b="0">
                <a:solidFill>
                  <a:srgbClr val="243C31"/>
                </a:solidFill>
                <a:latin typeface="DejaVu Sans"/>
                <a:ea typeface="DejaVu Sans"/>
                <a:cs typeface="DejaVu Sans"/>
              </a:defRPr>
            </a:lvl6pPr>
            <a:lvl7pPr algn="l">
              <a:defRPr sz="2025" b="0">
                <a:solidFill>
                  <a:srgbClr val="243C31"/>
                </a:solidFill>
                <a:latin typeface="DejaVu Sans"/>
                <a:ea typeface="DejaVu Sans"/>
                <a:cs typeface="DejaVu Sans"/>
              </a:defRPr>
            </a:lvl7pPr>
            <a:lvl8pPr algn="l">
              <a:defRPr sz="2025" b="0">
                <a:solidFill>
                  <a:srgbClr val="243C31"/>
                </a:solidFill>
                <a:latin typeface="DejaVu Sans"/>
                <a:ea typeface="DejaVu Sans"/>
                <a:cs typeface="DejaVu Sans"/>
              </a:defRPr>
            </a:lvl8pPr>
            <a:lvl9pPr algn="l">
              <a:defRPr sz="2025"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Отдельный calibration split и risk–coverage</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Неизвестные состояния и конфликт культуры</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ONNX parity, CPU p50/p95 и память</a:t>
            </a:r>
          </a:p>
          <a:p xmlns:a="http://schemas.openxmlformats.org/drawingml/2006/main">
            <a:pPr marL="241300" indent="-127000" algn="l">
              <a:lnSpc>
                <a:spcPct val="108000"/>
              </a:lnSpc>
              <a:spcAft>
                <a:spcPts val="1200"/>
              </a:spcAft>
              <a:buNone/>
              <a:defRPr sz="2025" b="0">
                <a:solidFill>
                  <a:srgbClr val="243C31"/>
                </a:solidFill>
                <a:latin typeface="DejaVu Sans"/>
                <a:ea typeface="DejaVu Sans"/>
                <a:cs typeface="DejaVu Sans"/>
              </a:defRPr>
            </a:pPr>
            <a:r>
              <a:rPr sz="2025">
                <a:solidFill>
                  <a:srgbClr val="243C31"/>
                </a:solidFill>
                <a:latin typeface="DejaVu Sans"/>
                <a:ea typeface="DejaVu Sans"/>
                <a:cs typeface="DejaVu Sans"/>
              </a:rPr>
              <a:t>Повторы запросов, restart и чужие object IDs</a:t>
            </a:r>
          </a:p>
        </p:txBody>
      </p:sp>
      <p:sp>
        <p:nvSpPr>
          <p:cNvPr id="7" name="text-6">
            <a:extLst xmlns:a="http://schemas.openxmlformats.org/drawingml/2006/main">
              <a:ext uri="{FF2B5EF4-FFF2-40B4-BE49-F238E27FC236}">
                <a16:creationId xmlns:a16="http://schemas.microsoft.com/office/drawing/2014/main" id="{881E06EC-2301-45B6-816D-CEB9D2E2B9B2}"/>
              </a:ext>
            </a:extLst>
          </p:cNvPr>
          <p:cNvSpPr>
            <a:spLocks xmlns:a="http://schemas.openxmlformats.org/drawingml/2006/main" noGrp="1"/>
          </p:cNvSpPr>
          <p:nvPr/>
        </p:nvSpPr>
        <p:spPr>
          <a:xfrm xmlns:a="http://schemas.openxmlformats.org/drawingml/2006/main">
            <a:off x="609600" y="6038850"/>
            <a:ext cx="12496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243C31"/>
                </a:solidFill>
                <a:latin typeface="DejaVu Sans"/>
                <a:ea typeface="DejaVu Sans"/>
                <a:cs typeface="DejaVu Sans"/>
              </a:defRPr>
            </a:defPPr>
            <a:lvl1pPr algn="l">
              <a:defRPr sz="2100" b="1">
                <a:solidFill>
                  <a:srgbClr val="243C31"/>
                </a:solidFill>
                <a:latin typeface="DejaVu Sans"/>
                <a:ea typeface="DejaVu Sans"/>
                <a:cs typeface="DejaVu Sans"/>
              </a:defRPr>
            </a:lvl1pPr>
            <a:lvl2pPr algn="l">
              <a:defRPr sz="2100" b="1">
                <a:solidFill>
                  <a:srgbClr val="243C31"/>
                </a:solidFill>
                <a:latin typeface="DejaVu Sans"/>
                <a:ea typeface="DejaVu Sans"/>
                <a:cs typeface="DejaVu Sans"/>
              </a:defRPr>
            </a:lvl2pPr>
            <a:lvl3pPr algn="l">
              <a:defRPr sz="2100" b="1">
                <a:solidFill>
                  <a:srgbClr val="243C31"/>
                </a:solidFill>
                <a:latin typeface="DejaVu Sans"/>
                <a:ea typeface="DejaVu Sans"/>
                <a:cs typeface="DejaVu Sans"/>
              </a:defRPr>
            </a:lvl3pPr>
            <a:lvl4pPr algn="l">
              <a:defRPr sz="2100" b="1">
                <a:solidFill>
                  <a:srgbClr val="243C31"/>
                </a:solidFill>
                <a:latin typeface="DejaVu Sans"/>
                <a:ea typeface="DejaVu Sans"/>
                <a:cs typeface="DejaVu Sans"/>
              </a:defRPr>
            </a:lvl4pPr>
            <a:lvl5pPr algn="l">
              <a:defRPr sz="2100" b="1">
                <a:solidFill>
                  <a:srgbClr val="243C31"/>
                </a:solidFill>
                <a:latin typeface="DejaVu Sans"/>
                <a:ea typeface="DejaVu Sans"/>
                <a:cs typeface="DejaVu Sans"/>
              </a:defRPr>
            </a:lvl5pPr>
            <a:lvl6pPr algn="l">
              <a:defRPr sz="2100" b="1">
                <a:solidFill>
                  <a:srgbClr val="243C31"/>
                </a:solidFill>
                <a:latin typeface="DejaVu Sans"/>
                <a:ea typeface="DejaVu Sans"/>
                <a:cs typeface="DejaVu Sans"/>
              </a:defRPr>
            </a:lvl6pPr>
            <a:lvl7pPr algn="l">
              <a:defRPr sz="2100" b="1">
                <a:solidFill>
                  <a:srgbClr val="243C31"/>
                </a:solidFill>
                <a:latin typeface="DejaVu Sans"/>
                <a:ea typeface="DejaVu Sans"/>
                <a:cs typeface="DejaVu Sans"/>
              </a:defRPr>
            </a:lvl7pPr>
            <a:lvl8pPr algn="l">
              <a:defRPr sz="2100" b="1">
                <a:solidFill>
                  <a:srgbClr val="243C31"/>
                </a:solidFill>
                <a:latin typeface="DejaVu Sans"/>
                <a:ea typeface="DejaVu Sans"/>
                <a:cs typeface="DejaVu Sans"/>
              </a:defRPr>
            </a:lvl8pPr>
            <a:lvl9pPr algn="l">
              <a:defRPr sz="2100" b="1">
                <a:solidFill>
                  <a:srgbClr val="243C31"/>
                </a:solidFill>
                <a:latin typeface="DejaVu Sans"/>
                <a:ea typeface="DejaVu Sans"/>
                <a:cs typeface="DejaVu Sans"/>
              </a:defRPr>
            </a:lvl9pPr>
          </a:lstStyle>
          <a:p xmlns:a="http://schemas.openxmlformats.org/drawingml/2006/main">
            <a:pPr algn="l">
              <a:lnSpc>
                <a:spcPct val="108000"/>
              </a:lnSpc>
              <a:buNone/>
              <a:defRPr sz="2100" b="1">
                <a:solidFill>
                  <a:srgbClr val="243C31"/>
                </a:solidFill>
                <a:latin typeface="DejaVu Sans"/>
                <a:ea typeface="DejaVu Sans"/>
                <a:cs typeface="DejaVu Sans"/>
              </a:defRPr>
            </a:pPr>
            <a:r>
              <a:rPr sz="2100" b="1">
                <a:solidFill>
                  <a:srgbClr val="243C31"/>
                </a:solidFill>
                <a:latin typeface="DejaVu Sans"/>
                <a:ea typeface="DejaVu Sans"/>
                <a:cs typeface="DejaVu Sans"/>
              </a:rPr>
              <a:t>Пороги фиксируются до final test. Выбор культуры сохраняет исходную crop mass. Без локального теста локальная валидированность остаётся недоказанной.</a:t>
            </a:r>
          </a:p>
        </p:txBody>
      </p:sp>
      <p:sp>
        <p:nvSpPr>
          <p:cNvPr id="8" name="source-footer">
            <a:extLst xmlns:a="http://schemas.openxmlformats.org/drawingml/2006/main">
              <a:ext uri="{FF2B5EF4-FFF2-40B4-BE49-F238E27FC236}">
                <a16:creationId xmlns:a16="http://schemas.microsoft.com/office/drawing/2014/main" id="{0C9F8DD3-44D5-425B-83AF-786F54EB4563}"/>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Guo 2017, Ovadia 2019. Порогов и метрик AgroVision пока нет.</a:t>
            </a:r>
          </a:p>
        </p:txBody>
      </p:sp>
    </p:spTree>
    <p:extLst>
      <p:ext uri="{BB962C8B-B14F-4D97-AF65-F5344CB8AC3E}">
        <p14:creationId xmlns:p14="http://schemas.microsoft.com/office/powerpoint/2010/main" val="2048309441"/>
      </p:ext>
    </p:extLst>
  </p:cSld>
</p:sld>
</file>

<file path=ppt/slides/slide1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C06A9F3-AAE5-4005-9837-F99516ABBD0E}"/>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173F32"/>
                </a:solidFill>
                <a:latin typeface="DejaVu Sans"/>
                <a:ea typeface="DejaVu Sans"/>
                <a:cs typeface="DejaVu Sans"/>
              </a:defRPr>
            </a:defPPr>
            <a:lvl1pPr algn="l">
              <a:defRPr sz="3450" b="1">
                <a:solidFill>
                  <a:srgbClr val="173F32"/>
                </a:solidFill>
                <a:latin typeface="DejaVu Sans"/>
                <a:ea typeface="DejaVu Sans"/>
                <a:cs typeface="DejaVu Sans"/>
              </a:defRPr>
            </a:lvl1pPr>
            <a:lvl2pPr algn="l">
              <a:defRPr sz="3450" b="1">
                <a:solidFill>
                  <a:srgbClr val="173F32"/>
                </a:solidFill>
                <a:latin typeface="DejaVu Sans"/>
                <a:ea typeface="DejaVu Sans"/>
                <a:cs typeface="DejaVu Sans"/>
              </a:defRPr>
            </a:lvl2pPr>
            <a:lvl3pPr algn="l">
              <a:defRPr sz="3450" b="1">
                <a:solidFill>
                  <a:srgbClr val="173F32"/>
                </a:solidFill>
                <a:latin typeface="DejaVu Sans"/>
                <a:ea typeface="DejaVu Sans"/>
                <a:cs typeface="DejaVu Sans"/>
              </a:defRPr>
            </a:lvl3pPr>
            <a:lvl4pPr algn="l">
              <a:defRPr sz="3450" b="1">
                <a:solidFill>
                  <a:srgbClr val="173F32"/>
                </a:solidFill>
                <a:latin typeface="DejaVu Sans"/>
                <a:ea typeface="DejaVu Sans"/>
                <a:cs typeface="DejaVu Sans"/>
              </a:defRPr>
            </a:lvl4pPr>
            <a:lvl5pPr algn="l">
              <a:defRPr sz="3450" b="1">
                <a:solidFill>
                  <a:srgbClr val="173F32"/>
                </a:solidFill>
                <a:latin typeface="DejaVu Sans"/>
                <a:ea typeface="DejaVu Sans"/>
                <a:cs typeface="DejaVu Sans"/>
              </a:defRPr>
            </a:lvl5pPr>
            <a:lvl6pPr algn="l">
              <a:defRPr sz="3450" b="1">
                <a:solidFill>
                  <a:srgbClr val="173F32"/>
                </a:solidFill>
                <a:latin typeface="DejaVu Sans"/>
                <a:ea typeface="DejaVu Sans"/>
                <a:cs typeface="DejaVu Sans"/>
              </a:defRPr>
            </a:lvl6pPr>
            <a:lvl7pPr algn="l">
              <a:defRPr sz="3450" b="1">
                <a:solidFill>
                  <a:srgbClr val="173F32"/>
                </a:solidFill>
                <a:latin typeface="DejaVu Sans"/>
                <a:ea typeface="DejaVu Sans"/>
                <a:cs typeface="DejaVu Sans"/>
              </a:defRPr>
            </a:lvl7pPr>
            <a:lvl8pPr algn="l">
              <a:defRPr sz="3450" b="1">
                <a:solidFill>
                  <a:srgbClr val="173F32"/>
                </a:solidFill>
                <a:latin typeface="DejaVu Sans"/>
                <a:ea typeface="DejaVu Sans"/>
                <a:cs typeface="DejaVu Sans"/>
              </a:defRPr>
            </a:lvl8pPr>
            <a:lvl9pPr algn="l">
              <a:defRPr sz="3450" b="1">
                <a:solidFill>
                  <a:srgbClr val="173F32"/>
                </a:solidFill>
                <a:latin typeface="DejaVu Sans"/>
                <a:ea typeface="DejaVu Sans"/>
                <a:cs typeface="DejaVu Sans"/>
              </a:defRPr>
            </a:lvl9pPr>
          </a:lstStyle>
          <a:p xmlns:a="http://schemas.openxmlformats.org/drawingml/2006/main">
            <a:pPr algn="l">
              <a:lnSpc>
                <a:spcPct val="108000"/>
              </a:lnSpc>
              <a:buNone/>
              <a:defRPr sz="3450" b="1">
                <a:solidFill>
                  <a:srgbClr val="173F32"/>
                </a:solidFill>
                <a:latin typeface="DejaVu Sans"/>
                <a:ea typeface="DejaVu Sans"/>
                <a:cs typeface="DejaVu Sans"/>
              </a:defRPr>
            </a:pPr>
            <a:r>
              <a:rPr sz="3450" b="1">
                <a:solidFill>
                  <a:srgbClr val="173F32"/>
                </a:solidFill>
                <a:latin typeface="DejaVu Sans"/>
                <a:ea typeface="DejaVu Sans"/>
                <a:cs typeface="DejaVu Sans"/>
              </a:rPr>
              <a:t>План реализации и риски</a:t>
            </a:r>
          </a:p>
        </p:txBody>
      </p:sp>
      <p:sp>
        <p:nvSpPr>
          <p:cNvPr id="2" name="slide-number">
            <a:extLst xmlns:a="http://schemas.openxmlformats.org/drawingml/2006/main">
              <a:ext uri="{FF2B5EF4-FFF2-40B4-BE49-F238E27FC236}">
                <a16:creationId xmlns:a16="http://schemas.microsoft.com/office/drawing/2014/main" id="{B29BB792-8EFD-4F79-A8C8-704C21594F9C}"/>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B7064"/>
                </a:solidFill>
                <a:latin typeface="DejaVu Sans"/>
                <a:ea typeface="DejaVu Sans"/>
                <a:cs typeface="DejaVu Sans"/>
              </a:defRPr>
            </a:defPPr>
            <a:lvl1pPr algn="r">
              <a:defRPr sz="1200" b="0">
                <a:solidFill>
                  <a:srgbClr val="5B7064"/>
                </a:solidFill>
                <a:latin typeface="DejaVu Sans"/>
                <a:ea typeface="DejaVu Sans"/>
                <a:cs typeface="DejaVu Sans"/>
              </a:defRPr>
            </a:lvl1pPr>
            <a:lvl2pPr algn="r">
              <a:defRPr sz="1200" b="0">
                <a:solidFill>
                  <a:srgbClr val="5B7064"/>
                </a:solidFill>
                <a:latin typeface="DejaVu Sans"/>
                <a:ea typeface="DejaVu Sans"/>
                <a:cs typeface="DejaVu Sans"/>
              </a:defRPr>
            </a:lvl2pPr>
            <a:lvl3pPr algn="r">
              <a:defRPr sz="1200" b="0">
                <a:solidFill>
                  <a:srgbClr val="5B7064"/>
                </a:solidFill>
                <a:latin typeface="DejaVu Sans"/>
                <a:ea typeface="DejaVu Sans"/>
                <a:cs typeface="DejaVu Sans"/>
              </a:defRPr>
            </a:lvl3pPr>
            <a:lvl4pPr algn="r">
              <a:defRPr sz="1200" b="0">
                <a:solidFill>
                  <a:srgbClr val="5B7064"/>
                </a:solidFill>
                <a:latin typeface="DejaVu Sans"/>
                <a:ea typeface="DejaVu Sans"/>
                <a:cs typeface="DejaVu Sans"/>
              </a:defRPr>
            </a:lvl4pPr>
            <a:lvl5pPr algn="r">
              <a:defRPr sz="1200" b="0">
                <a:solidFill>
                  <a:srgbClr val="5B7064"/>
                </a:solidFill>
                <a:latin typeface="DejaVu Sans"/>
                <a:ea typeface="DejaVu Sans"/>
                <a:cs typeface="DejaVu Sans"/>
              </a:defRPr>
            </a:lvl5pPr>
            <a:lvl6pPr algn="r">
              <a:defRPr sz="1200" b="0">
                <a:solidFill>
                  <a:srgbClr val="5B7064"/>
                </a:solidFill>
                <a:latin typeface="DejaVu Sans"/>
                <a:ea typeface="DejaVu Sans"/>
                <a:cs typeface="DejaVu Sans"/>
              </a:defRPr>
            </a:lvl6pPr>
            <a:lvl7pPr algn="r">
              <a:defRPr sz="1200" b="0">
                <a:solidFill>
                  <a:srgbClr val="5B7064"/>
                </a:solidFill>
                <a:latin typeface="DejaVu Sans"/>
                <a:ea typeface="DejaVu Sans"/>
                <a:cs typeface="DejaVu Sans"/>
              </a:defRPr>
            </a:lvl7pPr>
            <a:lvl8pPr algn="r">
              <a:defRPr sz="1200" b="0">
                <a:solidFill>
                  <a:srgbClr val="5B7064"/>
                </a:solidFill>
                <a:latin typeface="DejaVu Sans"/>
                <a:ea typeface="DejaVu Sans"/>
                <a:cs typeface="DejaVu Sans"/>
              </a:defRPr>
            </a:lvl8pPr>
            <a:lvl9pPr algn="r">
              <a:defRPr sz="1200" b="0">
                <a:solidFill>
                  <a:srgbClr val="5B7064"/>
                </a:solidFill>
                <a:latin typeface="DejaVu Sans"/>
                <a:ea typeface="DejaVu Sans"/>
                <a:cs typeface="DejaVu Sans"/>
              </a:defRPr>
            </a:lvl9pPr>
          </a:lstStyle>
          <a:p xmlns:a="http://schemas.openxmlformats.org/drawingml/2006/main">
            <a:pPr algn="r">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15</a:t>
            </a:r>
          </a:p>
        </p:txBody>
      </p:sp>
      <p:graphicFrame>
        <p:nvGraphicFramePr>
          <p:cNvPr id="3" name="">
            <a:extLst xmlns:a="http://schemas.openxmlformats.org/drawingml/2006/main">
              <a:ext uri="{FF2B5EF4-FFF2-40B4-BE49-F238E27FC236}">
                <a16:creationId xmlns:a16="http://schemas.microsoft.com/office/drawing/2014/main" id="{97456856-D345-48C3-89D5-CA5A7725344A}"/>
              </a:ext>
            </a:extLst>
          </p:cNvPr>
          <p:cNvGraphicFramePr/>
          <p:nvPr/>
        </p:nvGraphicFramePr>
        <p:xfrm>
          <a:off xmlns:a="http://schemas.openxmlformats.org/drawingml/2006/main" x="609600" y="1495425"/>
          <a:ext xmlns:a="http://schemas.openxmlformats.org/drawingml/2006/main" cx="8239125" cy="3876675"/>
        </p:xfrm>
        <a:graphic xmlns:a="http://schemas.openxmlformats.org/drawingml/2006/main">
          <a:graphicData uri="http://schemas.openxmlformats.org/drawingml/2006/table">
            <a:tbl>
              <a:tblPr firstRow="1" bandRow="0"/>
              <a:tblGrid>
                <a:gridCol w="2286000"/>
                <a:gridCol w="5953125"/>
              </a:tblGrid>
              <a:tr h="542925">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Этап</a:t>
                      </a:r>
                    </a:p>
                  </a:txBody>
                  <a:tcPr marL="91440" marR="91440" marT="45720" marB="45720" anchor="ctr">
                    <a:lnL w="5715">
                      <a:solidFill>
                        <a:srgbClr val="CBD9CC"/>
                      </a:solidFill>
                      <a:prstDash val="solid"/>
                    </a:lnL>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c>
                  <a:txBody>
                    <a:bodyPr lIns="114300" tIns="95250" rIns="114300" bIns="95250">
                      <a:noAutofit/>
                    </a:bodyPr>
                    <a:lstStyle/>
                    <a:p>
                      <a:pPr>
                        <a:lnSpc>
                          <a:spcPct val="105000"/>
                        </a:lnSpc>
                        <a:buNone/>
                      </a:pPr>
                      <a:r>
                        <a:rPr sz="1800" b="1">
                          <a:solidFill>
                            <a:srgbClr val="FFFFFF"/>
                          </a:solidFill>
                          <a:latin typeface="DejaVu Sans"/>
                          <a:ea typeface="DejaVu Sans"/>
                          <a:cs typeface="DejaVu Sans"/>
                        </a:rPr>
                        <a:t>Проверяемый выход</a:t>
                      </a:r>
                    </a:p>
                  </a:txBody>
                  <a:tcPr marL="91440" marR="91440" marT="45720" marB="45720" anchor="ctr">
                    <a:lnR w="5715">
                      <a:solidFill>
                        <a:srgbClr val="CBD9CC"/>
                      </a:solidFill>
                      <a:prstDash val="solid"/>
                    </a:lnR>
                    <a:lnT w="5715">
                      <a:solidFill>
                        <a:srgbClr val="CBD9CC"/>
                      </a:solidFill>
                      <a:prstDash val="solid"/>
                    </a:lnT>
                    <a:lnB w="5715">
                      <a:solidFill>
                        <a:srgbClr val="CBD9CC"/>
                      </a:solidFill>
                      <a:prstDash val="solid"/>
                    </a:lnB>
                    <a:solidFill>
                      <a:srgbClr val="173F32"/>
                    </a:solidFill>
                  </a:tcPr>
                </a:tc>
              </a:tr>
              <a:tr h="6667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До 24 октября</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Документы, mobile-макеты, реальные внешние свидетельства</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667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W1–W2</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Среда, аудит данных, splits и feasibility</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6667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W3–W5</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Надёжный сервер и сравнение ML-кандидатов</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r h="6667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W4–W6</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6F3EB"/>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Bundle и реальная интеграция Android</a:t>
                      </a:r>
                    </a:p>
                  </a:txBody>
                  <a:tcPr marL="91440" marR="91440" marT="45720" marB="45720" anchor="ctr">
                    <a:lnR w="5715">
                      <a:solidFill>
                        <a:srgbClr val="CBD9CC"/>
                      </a:solidFill>
                      <a:prstDash val="solid"/>
                    </a:lnR>
                    <a:lnB w="5715">
                      <a:solidFill>
                        <a:srgbClr val="CBD9CC"/>
                      </a:solidFill>
                      <a:prstDash val="solid"/>
                    </a:lnB>
                    <a:solidFill>
                      <a:srgbClr val="F6F3EB"/>
                    </a:solidFill>
                  </a:tcPr>
                </a:tc>
              </a:tr>
              <a:tr h="666750">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W7–W8</a:t>
                      </a:r>
                    </a:p>
                  </a:txBody>
                  <a:tcPr marL="91440" marR="91440" marT="45720" marB="45720" anchor="ctr">
                    <a:lnL w="5715">
                      <a:solidFill>
                        <a:srgbClr val="CBD9CC"/>
                      </a:solidFill>
                      <a:prstDash val="solid"/>
                    </a:lnL>
                    <a:lnR w="5715">
                      <a:solidFill>
                        <a:srgbClr val="CBD9CC"/>
                      </a:solidFill>
                      <a:prstDash val="solid"/>
                    </a:lnR>
                    <a:lnB w="5715">
                      <a:solidFill>
                        <a:srgbClr val="CBD9CC"/>
                      </a:solidFill>
                      <a:prstDash val="solid"/>
                    </a:lnB>
                    <a:solidFill>
                      <a:srgbClr val="FFFFFF"/>
                    </a:solidFill>
                  </a:tcPr>
                </a:tc>
                <a:tc>
                  <a:txBody>
                    <a:bodyPr lIns="114300" tIns="95250" rIns="114300" bIns="95250">
                      <a:noAutofit/>
                    </a:bodyPr>
                    <a:lstStyle/>
                    <a:p>
                      <a:pPr>
                        <a:lnSpc>
                          <a:spcPct val="105000"/>
                        </a:lnSpc>
                        <a:buNone/>
                      </a:pPr>
                      <a:r>
                        <a:rPr sz="1875" b="0">
                          <a:solidFill>
                            <a:srgbClr val="243C31"/>
                          </a:solidFill>
                          <a:latin typeface="DejaVu Sans"/>
                          <a:ea typeface="DejaVu Sans"/>
                          <a:cs typeface="DejaVu Sans"/>
                        </a:rPr>
                        <a:t>Независимая оценка, UX и воспроизводимый отчёт</a:t>
                      </a:r>
                    </a:p>
                  </a:txBody>
                  <a:tcPr marL="91440" marR="91440" marT="45720" marB="45720" anchor="ctr">
                    <a:lnR w="5715">
                      <a:solidFill>
                        <a:srgbClr val="CBD9CC"/>
                      </a:solidFill>
                      <a:prstDash val="solid"/>
                    </a:lnR>
                    <a:lnB w="5715">
                      <a:solidFill>
                        <a:srgbClr val="CBD9CC"/>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BE2B66B4-6030-465A-87A1-2517B920B445}"/>
              </a:ext>
            </a:extLst>
          </p:cNvPr>
          <p:cNvSpPr>
            <a:spLocks xmlns:a="http://schemas.openxmlformats.org/drawingml/2006/main" noGrp="1"/>
          </p:cNvSpPr>
          <p:nvPr/>
        </p:nvSpPr>
        <p:spPr>
          <a:xfrm xmlns:a="http://schemas.openxmlformats.org/drawingml/2006/main">
            <a:off x="9334500" y="1514475"/>
            <a:ext cx="3771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73F32"/>
                </a:solidFill>
                <a:latin typeface="DejaVu Sans"/>
                <a:ea typeface="DejaVu Sans"/>
                <a:cs typeface="DejaVu Sans"/>
              </a:defRPr>
            </a:defPPr>
            <a:lvl1pPr algn="l">
              <a:defRPr sz="2175" b="1">
                <a:solidFill>
                  <a:srgbClr val="173F32"/>
                </a:solidFill>
                <a:latin typeface="DejaVu Sans"/>
                <a:ea typeface="DejaVu Sans"/>
                <a:cs typeface="DejaVu Sans"/>
              </a:defRPr>
            </a:lvl1pPr>
            <a:lvl2pPr algn="l">
              <a:defRPr sz="2175" b="1">
                <a:solidFill>
                  <a:srgbClr val="173F32"/>
                </a:solidFill>
                <a:latin typeface="DejaVu Sans"/>
                <a:ea typeface="DejaVu Sans"/>
                <a:cs typeface="DejaVu Sans"/>
              </a:defRPr>
            </a:lvl2pPr>
            <a:lvl3pPr algn="l">
              <a:defRPr sz="2175" b="1">
                <a:solidFill>
                  <a:srgbClr val="173F32"/>
                </a:solidFill>
                <a:latin typeface="DejaVu Sans"/>
                <a:ea typeface="DejaVu Sans"/>
                <a:cs typeface="DejaVu Sans"/>
              </a:defRPr>
            </a:lvl3pPr>
            <a:lvl4pPr algn="l">
              <a:defRPr sz="2175" b="1">
                <a:solidFill>
                  <a:srgbClr val="173F32"/>
                </a:solidFill>
                <a:latin typeface="DejaVu Sans"/>
                <a:ea typeface="DejaVu Sans"/>
                <a:cs typeface="DejaVu Sans"/>
              </a:defRPr>
            </a:lvl4pPr>
            <a:lvl5pPr algn="l">
              <a:defRPr sz="2175" b="1">
                <a:solidFill>
                  <a:srgbClr val="173F32"/>
                </a:solidFill>
                <a:latin typeface="DejaVu Sans"/>
                <a:ea typeface="DejaVu Sans"/>
                <a:cs typeface="DejaVu Sans"/>
              </a:defRPr>
            </a:lvl5pPr>
            <a:lvl6pPr algn="l">
              <a:defRPr sz="2175" b="1">
                <a:solidFill>
                  <a:srgbClr val="173F32"/>
                </a:solidFill>
                <a:latin typeface="DejaVu Sans"/>
                <a:ea typeface="DejaVu Sans"/>
                <a:cs typeface="DejaVu Sans"/>
              </a:defRPr>
            </a:lvl6pPr>
            <a:lvl7pPr algn="l">
              <a:defRPr sz="2175" b="1">
                <a:solidFill>
                  <a:srgbClr val="173F32"/>
                </a:solidFill>
                <a:latin typeface="DejaVu Sans"/>
                <a:ea typeface="DejaVu Sans"/>
                <a:cs typeface="DejaVu Sans"/>
              </a:defRPr>
            </a:lvl7pPr>
            <a:lvl8pPr algn="l">
              <a:defRPr sz="2175" b="1">
                <a:solidFill>
                  <a:srgbClr val="173F32"/>
                </a:solidFill>
                <a:latin typeface="DejaVu Sans"/>
                <a:ea typeface="DejaVu Sans"/>
                <a:cs typeface="DejaVu Sans"/>
              </a:defRPr>
            </a:lvl8pPr>
            <a:lvl9pPr algn="l">
              <a:defRPr sz="2175" b="1">
                <a:solidFill>
                  <a:srgbClr val="173F32"/>
                </a:solidFill>
                <a:latin typeface="DejaVu Sans"/>
                <a:ea typeface="DejaVu Sans"/>
                <a:cs typeface="DejaVu Sans"/>
              </a:defRPr>
            </a:lvl9pPr>
          </a:lstStyle>
          <a:p xmlns:a="http://schemas.openxmlformats.org/drawingml/2006/main">
            <a:pPr algn="l">
              <a:lnSpc>
                <a:spcPct val="108000"/>
              </a:lnSpc>
              <a:buNone/>
              <a:defRPr sz="2175" b="1">
                <a:solidFill>
                  <a:srgbClr val="173F32"/>
                </a:solidFill>
                <a:latin typeface="DejaVu Sans"/>
                <a:ea typeface="DejaVu Sans"/>
                <a:cs typeface="DejaVu Sans"/>
              </a:defRPr>
            </a:pPr>
            <a:r>
              <a:rPr sz="2175" b="1">
                <a:solidFill>
                  <a:srgbClr val="173F32"/>
                </a:solidFill>
                <a:latin typeface="DejaVu Sans"/>
                <a:ea typeface="DejaVu Sans"/>
                <a:cs typeface="DejaVu Sans"/>
              </a:rPr>
              <a:t>Основные риски</a:t>
            </a:r>
          </a:p>
        </p:txBody>
      </p:sp>
      <p:sp>
        <p:nvSpPr>
          <p:cNvPr id="5" name="text-3">
            <a:extLst xmlns:a="http://schemas.openxmlformats.org/drawingml/2006/main">
              <a:ext uri="{FF2B5EF4-FFF2-40B4-BE49-F238E27FC236}">
                <a16:creationId xmlns:a16="http://schemas.microsoft.com/office/drawing/2014/main" id="{D6F297B7-08EF-438B-BB5D-8AEC58092355}"/>
              </a:ext>
            </a:extLst>
          </p:cNvPr>
          <p:cNvSpPr>
            <a:spLocks xmlns:a="http://schemas.openxmlformats.org/drawingml/2006/main" noGrp="1"/>
          </p:cNvSpPr>
          <p:nvPr/>
        </p:nvSpPr>
        <p:spPr>
          <a:xfrm xmlns:a="http://schemas.openxmlformats.org/drawingml/2006/main">
            <a:off x="9334500" y="2209800"/>
            <a:ext cx="3771900" cy="3400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243C31"/>
                </a:solidFill>
                <a:latin typeface="DejaVu Sans"/>
                <a:ea typeface="DejaVu Sans"/>
                <a:cs typeface="DejaVu Sans"/>
              </a:defRPr>
            </a:defPPr>
            <a:lvl1pPr algn="l">
              <a:defRPr sz="1800" b="0">
                <a:solidFill>
                  <a:srgbClr val="243C31"/>
                </a:solidFill>
                <a:latin typeface="DejaVu Sans"/>
                <a:ea typeface="DejaVu Sans"/>
                <a:cs typeface="DejaVu Sans"/>
              </a:defRPr>
            </a:lvl1pPr>
            <a:lvl2pPr algn="l">
              <a:defRPr sz="1800" b="0">
                <a:solidFill>
                  <a:srgbClr val="243C31"/>
                </a:solidFill>
                <a:latin typeface="DejaVu Sans"/>
                <a:ea typeface="DejaVu Sans"/>
                <a:cs typeface="DejaVu Sans"/>
              </a:defRPr>
            </a:lvl2pPr>
            <a:lvl3pPr algn="l">
              <a:defRPr sz="1800" b="0">
                <a:solidFill>
                  <a:srgbClr val="243C31"/>
                </a:solidFill>
                <a:latin typeface="DejaVu Sans"/>
                <a:ea typeface="DejaVu Sans"/>
                <a:cs typeface="DejaVu Sans"/>
              </a:defRPr>
            </a:lvl3pPr>
            <a:lvl4pPr algn="l">
              <a:defRPr sz="1800" b="0">
                <a:solidFill>
                  <a:srgbClr val="243C31"/>
                </a:solidFill>
                <a:latin typeface="DejaVu Sans"/>
                <a:ea typeface="DejaVu Sans"/>
                <a:cs typeface="DejaVu Sans"/>
              </a:defRPr>
            </a:lvl4pPr>
            <a:lvl5pPr algn="l">
              <a:defRPr sz="1800" b="0">
                <a:solidFill>
                  <a:srgbClr val="243C31"/>
                </a:solidFill>
                <a:latin typeface="DejaVu Sans"/>
                <a:ea typeface="DejaVu Sans"/>
                <a:cs typeface="DejaVu Sans"/>
              </a:defRPr>
            </a:lvl5pPr>
            <a:lvl6pPr algn="l">
              <a:defRPr sz="1800" b="0">
                <a:solidFill>
                  <a:srgbClr val="243C31"/>
                </a:solidFill>
                <a:latin typeface="DejaVu Sans"/>
                <a:ea typeface="DejaVu Sans"/>
                <a:cs typeface="DejaVu Sans"/>
              </a:defRPr>
            </a:lvl6pPr>
            <a:lvl7pPr algn="l">
              <a:defRPr sz="1800" b="0">
                <a:solidFill>
                  <a:srgbClr val="243C31"/>
                </a:solidFill>
                <a:latin typeface="DejaVu Sans"/>
                <a:ea typeface="DejaVu Sans"/>
                <a:cs typeface="DejaVu Sans"/>
              </a:defRPr>
            </a:lvl7pPr>
            <a:lvl8pPr algn="l">
              <a:defRPr sz="1800" b="0">
                <a:solidFill>
                  <a:srgbClr val="243C31"/>
                </a:solidFill>
                <a:latin typeface="DejaVu Sans"/>
                <a:ea typeface="DejaVu Sans"/>
                <a:cs typeface="DejaVu Sans"/>
              </a:defRPr>
            </a:lvl8pPr>
            <a:lvl9pPr algn="l">
              <a:defRPr sz="1800" b="0">
                <a:solidFill>
                  <a:srgbClr val="243C31"/>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1800" b="0">
                <a:solidFill>
                  <a:srgbClr val="243C31"/>
                </a:solidFill>
                <a:latin typeface="DejaVu Sans"/>
                <a:ea typeface="DejaVu Sans"/>
                <a:cs typeface="DejaVu Sans"/>
              </a:defRPr>
            </a:pPr>
            <a:r>
              <a:rPr sz="1800">
                <a:solidFill>
                  <a:srgbClr val="243C31"/>
                </a:solidFill>
                <a:latin typeface="DejaVu Sans"/>
                <a:ea typeface="DejaVu Sans"/>
                <a:cs typeface="DejaVu Sans"/>
              </a:rPr>
              <a:t>Нет локальных данных: ограничить выводы</a:t>
            </a:r>
          </a:p>
          <a:p xmlns:a="http://schemas.openxmlformats.org/drawingml/2006/main">
            <a:pPr marL="241300" indent="-127000" algn="l">
              <a:lnSpc>
                <a:spcPct val="108000"/>
              </a:lnSpc>
              <a:spcAft>
                <a:spcPts val="1200"/>
              </a:spcAft>
              <a:buNone/>
              <a:defRPr sz="1800" b="0">
                <a:solidFill>
                  <a:srgbClr val="243C31"/>
                </a:solidFill>
                <a:latin typeface="DejaVu Sans"/>
                <a:ea typeface="DejaVu Sans"/>
                <a:cs typeface="DejaVu Sans"/>
              </a:defRPr>
            </a:pPr>
            <a:r>
              <a:rPr sz="1800">
                <a:solidFill>
                  <a:srgbClr val="243C31"/>
                </a:solidFill>
                <a:latin typeface="DejaVu Sans"/>
                <a:ea typeface="DejaVu Sans"/>
                <a:cs typeface="DejaVu Sans"/>
              </a:rPr>
              <a:t>Утечки split: grouping и dedup</a:t>
            </a:r>
          </a:p>
          <a:p xmlns:a="http://schemas.openxmlformats.org/drawingml/2006/main">
            <a:pPr marL="241300" indent="-127000" algn="l">
              <a:lnSpc>
                <a:spcPct val="108000"/>
              </a:lnSpc>
              <a:spcAft>
                <a:spcPts val="1200"/>
              </a:spcAft>
              <a:buNone/>
              <a:defRPr sz="1800" b="0">
                <a:solidFill>
                  <a:srgbClr val="243C31"/>
                </a:solidFill>
                <a:latin typeface="DejaVu Sans"/>
                <a:ea typeface="DejaVu Sans"/>
                <a:cs typeface="DejaVu Sans"/>
              </a:defRPr>
            </a:pPr>
            <a:r>
              <a:rPr sz="1800">
                <a:solidFill>
                  <a:srgbClr val="243C31"/>
                </a:solidFill>
                <a:latin typeface="DejaVu Sans"/>
                <a:ea typeface="DejaVu Sans"/>
                <a:cs typeface="DejaVu Sans"/>
              </a:rPr>
              <a:t>OOM: 100-step проверка и меньший batch</a:t>
            </a:r>
          </a:p>
          <a:p xmlns:a="http://schemas.openxmlformats.org/drawingml/2006/main">
            <a:pPr marL="241300" indent="-127000" algn="l">
              <a:lnSpc>
                <a:spcPct val="108000"/>
              </a:lnSpc>
              <a:spcAft>
                <a:spcPts val="1200"/>
              </a:spcAft>
              <a:buNone/>
              <a:defRPr sz="1800" b="0">
                <a:solidFill>
                  <a:srgbClr val="243C31"/>
                </a:solidFill>
                <a:latin typeface="DejaVu Sans"/>
                <a:ea typeface="DejaVu Sans"/>
                <a:cs typeface="DejaVu Sans"/>
              </a:defRPr>
            </a:pPr>
            <a:r>
              <a:rPr sz="1800">
                <a:solidFill>
                  <a:srgbClr val="243C31"/>
                </a:solidFill>
                <a:latin typeface="DejaVu Sans"/>
                <a:ea typeface="DejaVu Sans"/>
                <a:cs typeface="DejaVu Sans"/>
              </a:rPr>
              <a:t>Нет интервью/отзыва: критерий остаётся открытым</a:t>
            </a:r>
          </a:p>
        </p:txBody>
      </p:sp>
      <p:sp>
        <p:nvSpPr>
          <p:cNvPr id="6" name="text-4">
            <a:extLst xmlns:a="http://schemas.openxmlformats.org/drawingml/2006/main">
              <a:ext uri="{FF2B5EF4-FFF2-40B4-BE49-F238E27FC236}">
                <a16:creationId xmlns:a16="http://schemas.microsoft.com/office/drawing/2014/main" id="{2AE4F2ED-9006-4DC0-BE5C-F7CE698BAE6F}"/>
              </a:ext>
            </a:extLst>
          </p:cNvPr>
          <p:cNvSpPr>
            <a:spLocks xmlns:a="http://schemas.openxmlformats.org/drawingml/2006/main" noGrp="1"/>
          </p:cNvSpPr>
          <p:nvPr/>
        </p:nvSpPr>
        <p:spPr>
          <a:xfrm xmlns:a="http://schemas.openxmlformats.org/drawingml/2006/main">
            <a:off x="609600" y="588645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3C31"/>
                </a:solidFill>
                <a:latin typeface="DejaVu Sans"/>
                <a:ea typeface="DejaVu Sans"/>
                <a:cs typeface="DejaVu Sans"/>
              </a:defRPr>
            </a:defPPr>
            <a:lvl1pPr algn="l">
              <a:defRPr sz="2175" b="1">
                <a:solidFill>
                  <a:srgbClr val="243C31"/>
                </a:solidFill>
                <a:latin typeface="DejaVu Sans"/>
                <a:ea typeface="DejaVu Sans"/>
                <a:cs typeface="DejaVu Sans"/>
              </a:defRPr>
            </a:lvl1pPr>
            <a:lvl2pPr algn="l">
              <a:defRPr sz="2175" b="1">
                <a:solidFill>
                  <a:srgbClr val="243C31"/>
                </a:solidFill>
                <a:latin typeface="DejaVu Sans"/>
                <a:ea typeface="DejaVu Sans"/>
                <a:cs typeface="DejaVu Sans"/>
              </a:defRPr>
            </a:lvl2pPr>
            <a:lvl3pPr algn="l">
              <a:defRPr sz="2175" b="1">
                <a:solidFill>
                  <a:srgbClr val="243C31"/>
                </a:solidFill>
                <a:latin typeface="DejaVu Sans"/>
                <a:ea typeface="DejaVu Sans"/>
                <a:cs typeface="DejaVu Sans"/>
              </a:defRPr>
            </a:lvl3pPr>
            <a:lvl4pPr algn="l">
              <a:defRPr sz="2175" b="1">
                <a:solidFill>
                  <a:srgbClr val="243C31"/>
                </a:solidFill>
                <a:latin typeface="DejaVu Sans"/>
                <a:ea typeface="DejaVu Sans"/>
                <a:cs typeface="DejaVu Sans"/>
              </a:defRPr>
            </a:lvl4pPr>
            <a:lvl5pPr algn="l">
              <a:defRPr sz="2175" b="1">
                <a:solidFill>
                  <a:srgbClr val="243C31"/>
                </a:solidFill>
                <a:latin typeface="DejaVu Sans"/>
                <a:ea typeface="DejaVu Sans"/>
                <a:cs typeface="DejaVu Sans"/>
              </a:defRPr>
            </a:lvl5pPr>
            <a:lvl6pPr algn="l">
              <a:defRPr sz="2175" b="1">
                <a:solidFill>
                  <a:srgbClr val="243C31"/>
                </a:solidFill>
                <a:latin typeface="DejaVu Sans"/>
                <a:ea typeface="DejaVu Sans"/>
                <a:cs typeface="DejaVu Sans"/>
              </a:defRPr>
            </a:lvl6pPr>
            <a:lvl7pPr algn="l">
              <a:defRPr sz="2175" b="1">
                <a:solidFill>
                  <a:srgbClr val="243C31"/>
                </a:solidFill>
                <a:latin typeface="DejaVu Sans"/>
                <a:ea typeface="DejaVu Sans"/>
                <a:cs typeface="DejaVu Sans"/>
              </a:defRPr>
            </a:lvl7pPr>
            <a:lvl8pPr algn="l">
              <a:defRPr sz="2175" b="1">
                <a:solidFill>
                  <a:srgbClr val="243C31"/>
                </a:solidFill>
                <a:latin typeface="DejaVu Sans"/>
                <a:ea typeface="DejaVu Sans"/>
                <a:cs typeface="DejaVu Sans"/>
              </a:defRPr>
            </a:lvl8pPr>
            <a:lvl9pPr algn="l">
              <a:defRPr sz="2175" b="1">
                <a:solidFill>
                  <a:srgbClr val="243C31"/>
                </a:solidFill>
                <a:latin typeface="DejaVu Sans"/>
                <a:ea typeface="DejaVu Sans"/>
                <a:cs typeface="DejaVu Sans"/>
              </a:defRPr>
            </a:lvl9pPr>
          </a:lstStyle>
          <a:p xmlns:a="http://schemas.openxmlformats.org/drawingml/2006/main">
            <a:pPr algn="l">
              <a:lnSpc>
                <a:spcPct val="108000"/>
              </a:lnSpc>
              <a:buNone/>
              <a:defRPr sz="2175" b="1">
                <a:solidFill>
                  <a:srgbClr val="243C31"/>
                </a:solidFill>
                <a:latin typeface="DejaVu Sans"/>
                <a:ea typeface="DejaVu Sans"/>
                <a:cs typeface="DejaVu Sans"/>
              </a:defRPr>
            </a:pPr>
            <a:r>
              <a:rPr sz="2175" b="1">
                <a:solidFill>
                  <a:srgbClr val="243C31"/>
                </a:solidFill>
                <a:latin typeface="DejaVu Sans"/>
                <a:ea typeface="DejaVu Sans"/>
                <a:cs typeface="DejaVu Sans"/>
              </a:rPr>
              <a:t>Мақсат: software и интеграция</a:t>
            </a:r>
          </a:p>
          <a:p xmlns:a="http://schemas.openxmlformats.org/drawingml/2006/main">
            <a:pPr algn="l">
              <a:lnSpc>
                <a:spcPct val="108000"/>
              </a:lnSpc>
              <a:buNone/>
              <a:defRPr sz="2175" b="1">
                <a:solidFill>
                  <a:srgbClr val="243C31"/>
                </a:solidFill>
                <a:latin typeface="DejaVu Sans"/>
                <a:ea typeface="DejaVu Sans"/>
                <a:cs typeface="DejaVu Sans"/>
              </a:defRPr>
            </a:pPr>
            <a:r>
              <a:rPr sz="2175" b="1">
                <a:solidFill>
                  <a:srgbClr val="243C31"/>
                </a:solidFill>
                <a:latin typeface="DejaVu Sans"/>
                <a:ea typeface="DejaVu Sans"/>
                <a:cs typeface="DejaVu Sans"/>
              </a:rPr>
              <a:t>Қайсар: данные, ML и оценка</a:t>
            </a:r>
          </a:p>
        </p:txBody>
      </p:sp>
      <p:sp>
        <p:nvSpPr>
          <p:cNvPr id="7" name="text-5">
            <a:extLst xmlns:a="http://schemas.openxmlformats.org/drawingml/2006/main">
              <a:ext uri="{FF2B5EF4-FFF2-40B4-BE49-F238E27FC236}">
                <a16:creationId xmlns:a16="http://schemas.microsoft.com/office/drawing/2014/main" id="{487701A6-0A27-44A8-924F-DFADC3B4E872}"/>
              </a:ext>
            </a:extLst>
          </p:cNvPr>
          <p:cNvSpPr>
            <a:spLocks xmlns:a="http://schemas.openxmlformats.org/drawingml/2006/main" noGrp="1"/>
          </p:cNvSpPr>
          <p:nvPr/>
        </p:nvSpPr>
        <p:spPr>
          <a:xfrm xmlns:a="http://schemas.openxmlformats.org/drawingml/2006/main">
            <a:off x="9334500" y="6067425"/>
            <a:ext cx="3771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B7064"/>
                </a:solidFill>
                <a:latin typeface="DejaVu Sans"/>
                <a:ea typeface="DejaVu Sans"/>
                <a:cs typeface="DejaVu Sans"/>
              </a:defRPr>
            </a:defPPr>
            <a:lvl1pPr algn="l">
              <a:defRPr sz="1800" b="0">
                <a:solidFill>
                  <a:srgbClr val="5B7064"/>
                </a:solidFill>
                <a:latin typeface="DejaVu Sans"/>
                <a:ea typeface="DejaVu Sans"/>
                <a:cs typeface="DejaVu Sans"/>
              </a:defRPr>
            </a:lvl1pPr>
            <a:lvl2pPr algn="l">
              <a:defRPr sz="1800" b="0">
                <a:solidFill>
                  <a:srgbClr val="5B7064"/>
                </a:solidFill>
                <a:latin typeface="DejaVu Sans"/>
                <a:ea typeface="DejaVu Sans"/>
                <a:cs typeface="DejaVu Sans"/>
              </a:defRPr>
            </a:lvl2pPr>
            <a:lvl3pPr algn="l">
              <a:defRPr sz="1800" b="0">
                <a:solidFill>
                  <a:srgbClr val="5B7064"/>
                </a:solidFill>
                <a:latin typeface="DejaVu Sans"/>
                <a:ea typeface="DejaVu Sans"/>
                <a:cs typeface="DejaVu Sans"/>
              </a:defRPr>
            </a:lvl3pPr>
            <a:lvl4pPr algn="l">
              <a:defRPr sz="1800" b="0">
                <a:solidFill>
                  <a:srgbClr val="5B7064"/>
                </a:solidFill>
                <a:latin typeface="DejaVu Sans"/>
                <a:ea typeface="DejaVu Sans"/>
                <a:cs typeface="DejaVu Sans"/>
              </a:defRPr>
            </a:lvl4pPr>
            <a:lvl5pPr algn="l">
              <a:defRPr sz="1800" b="0">
                <a:solidFill>
                  <a:srgbClr val="5B7064"/>
                </a:solidFill>
                <a:latin typeface="DejaVu Sans"/>
                <a:ea typeface="DejaVu Sans"/>
                <a:cs typeface="DejaVu Sans"/>
              </a:defRPr>
            </a:lvl5pPr>
            <a:lvl6pPr algn="l">
              <a:defRPr sz="1800" b="0">
                <a:solidFill>
                  <a:srgbClr val="5B7064"/>
                </a:solidFill>
                <a:latin typeface="DejaVu Sans"/>
                <a:ea typeface="DejaVu Sans"/>
                <a:cs typeface="DejaVu Sans"/>
              </a:defRPr>
            </a:lvl6pPr>
            <a:lvl7pPr algn="l">
              <a:defRPr sz="1800" b="0">
                <a:solidFill>
                  <a:srgbClr val="5B7064"/>
                </a:solidFill>
                <a:latin typeface="DejaVu Sans"/>
                <a:ea typeface="DejaVu Sans"/>
                <a:cs typeface="DejaVu Sans"/>
              </a:defRPr>
            </a:lvl7pPr>
            <a:lvl8pPr algn="l">
              <a:defRPr sz="1800" b="0">
                <a:solidFill>
                  <a:srgbClr val="5B7064"/>
                </a:solidFill>
                <a:latin typeface="DejaVu Sans"/>
                <a:ea typeface="DejaVu Sans"/>
                <a:cs typeface="DejaVu Sans"/>
              </a:defRPr>
            </a:lvl8pPr>
            <a:lvl9pPr algn="l">
              <a:defRPr sz="1800" b="0">
                <a:solidFill>
                  <a:srgbClr val="5B7064"/>
                </a:solidFill>
                <a:latin typeface="DejaVu Sans"/>
                <a:ea typeface="DejaVu Sans"/>
                <a:cs typeface="DejaVu Sans"/>
              </a:defRPr>
            </a:lvl9pPr>
          </a:lstStyle>
          <a:p xmlns:a="http://schemas.openxmlformats.org/drawingml/2006/main">
            <a:pPr algn="l">
              <a:lnSpc>
                <a:spcPct val="108000"/>
              </a:lnSpc>
              <a:buNone/>
              <a:defRPr sz="1800" b="0">
                <a:solidFill>
                  <a:srgbClr val="5B7064"/>
                </a:solidFill>
                <a:latin typeface="DejaVu Sans"/>
                <a:ea typeface="DejaVu Sans"/>
                <a:cs typeface="DejaVu Sans"/>
              </a:defRPr>
            </a:pPr>
            <a:r>
              <a:rPr sz="1800" b="0">
                <a:solidFill>
                  <a:srgbClr val="5B7064"/>
                </a:solidFill>
                <a:latin typeface="DejaVu Sans"/>
                <a:ea typeface="DejaVu Sans"/>
                <a:cs typeface="DejaVu Sans"/>
              </a:rPr>
              <a:t>28 задач proposed</a:t>
            </a:r>
          </a:p>
          <a:p xmlns:a="http://schemas.openxmlformats.org/drawingml/2006/main">
            <a:pPr algn="l">
              <a:lnSpc>
                <a:spcPct val="108000"/>
              </a:lnSpc>
              <a:buNone/>
              <a:defRPr sz="1800" b="0">
                <a:solidFill>
                  <a:srgbClr val="5B7064"/>
                </a:solidFill>
                <a:latin typeface="DejaVu Sans"/>
                <a:ea typeface="DejaVu Sans"/>
                <a:cs typeface="DejaVu Sans"/>
              </a:defRPr>
            </a:pPr>
            <a:r>
              <a:rPr sz="1800" b="0">
                <a:solidFill>
                  <a:srgbClr val="5B7064"/>
                </a:solidFill>
                <a:latin typeface="DejaVu Sans"/>
                <a:ea typeface="DejaVu Sans"/>
                <a:cs typeface="DejaVu Sans"/>
              </a:rPr>
              <a:t>Реальные YouTrack IDs ещё не внесены</a:t>
            </a:r>
          </a:p>
        </p:txBody>
      </p:sp>
      <p:sp>
        <p:nvSpPr>
          <p:cNvPr id="8" name="source-footer">
            <a:extLst xmlns:a="http://schemas.openxmlformats.org/drawingml/2006/main">
              <a:ext uri="{FF2B5EF4-FFF2-40B4-BE49-F238E27FC236}">
                <a16:creationId xmlns:a16="http://schemas.microsoft.com/office/drawing/2014/main" id="{1A9FD2A8-F208-4A51-8573-73551131B0D7}"/>
              </a:ext>
            </a:extLst>
          </p:cNvPr>
          <p:cNvSpPr>
            <a:spLocks xmlns:a="http://schemas.openxmlformats.org/drawingml/2006/main" noGrp="1"/>
          </p:cNvSpPr>
          <p:nvPr/>
        </p:nvSpPr>
        <p:spPr>
          <a:xfrm xmlns:a="http://schemas.openxmlformats.org/drawingml/2006/main">
            <a:off x="609600" y="7191375"/>
            <a:ext cx="1152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5B7064"/>
                </a:solidFill>
                <a:latin typeface="DejaVu Sans"/>
                <a:ea typeface="DejaVu Sans"/>
                <a:cs typeface="DejaVu Sans"/>
              </a:defRPr>
            </a:defPPr>
            <a:lvl1pPr algn="l">
              <a:defRPr sz="1200" b="0">
                <a:solidFill>
                  <a:srgbClr val="5B7064"/>
                </a:solidFill>
                <a:latin typeface="DejaVu Sans"/>
                <a:ea typeface="DejaVu Sans"/>
                <a:cs typeface="DejaVu Sans"/>
              </a:defRPr>
            </a:lvl1pPr>
            <a:lvl2pPr algn="l">
              <a:defRPr sz="1200" b="0">
                <a:solidFill>
                  <a:srgbClr val="5B7064"/>
                </a:solidFill>
                <a:latin typeface="DejaVu Sans"/>
                <a:ea typeface="DejaVu Sans"/>
                <a:cs typeface="DejaVu Sans"/>
              </a:defRPr>
            </a:lvl2pPr>
            <a:lvl3pPr algn="l">
              <a:defRPr sz="1200" b="0">
                <a:solidFill>
                  <a:srgbClr val="5B7064"/>
                </a:solidFill>
                <a:latin typeface="DejaVu Sans"/>
                <a:ea typeface="DejaVu Sans"/>
                <a:cs typeface="DejaVu Sans"/>
              </a:defRPr>
            </a:lvl3pPr>
            <a:lvl4pPr algn="l">
              <a:defRPr sz="1200" b="0">
                <a:solidFill>
                  <a:srgbClr val="5B7064"/>
                </a:solidFill>
                <a:latin typeface="DejaVu Sans"/>
                <a:ea typeface="DejaVu Sans"/>
                <a:cs typeface="DejaVu Sans"/>
              </a:defRPr>
            </a:lvl4pPr>
            <a:lvl5pPr algn="l">
              <a:defRPr sz="1200" b="0">
                <a:solidFill>
                  <a:srgbClr val="5B7064"/>
                </a:solidFill>
                <a:latin typeface="DejaVu Sans"/>
                <a:ea typeface="DejaVu Sans"/>
                <a:cs typeface="DejaVu Sans"/>
              </a:defRPr>
            </a:lvl5pPr>
            <a:lvl6pPr algn="l">
              <a:defRPr sz="1200" b="0">
                <a:solidFill>
                  <a:srgbClr val="5B7064"/>
                </a:solidFill>
                <a:latin typeface="DejaVu Sans"/>
                <a:ea typeface="DejaVu Sans"/>
                <a:cs typeface="DejaVu Sans"/>
              </a:defRPr>
            </a:lvl6pPr>
            <a:lvl7pPr algn="l">
              <a:defRPr sz="1200" b="0">
                <a:solidFill>
                  <a:srgbClr val="5B7064"/>
                </a:solidFill>
                <a:latin typeface="DejaVu Sans"/>
                <a:ea typeface="DejaVu Sans"/>
                <a:cs typeface="DejaVu Sans"/>
              </a:defRPr>
            </a:lvl7pPr>
            <a:lvl8pPr algn="l">
              <a:defRPr sz="1200" b="0">
                <a:solidFill>
                  <a:srgbClr val="5B7064"/>
                </a:solidFill>
                <a:latin typeface="DejaVu Sans"/>
                <a:ea typeface="DejaVu Sans"/>
                <a:cs typeface="DejaVu Sans"/>
              </a:defRPr>
            </a:lvl8pPr>
            <a:lvl9pPr algn="l">
              <a:defRPr sz="1200" b="0">
                <a:solidFill>
                  <a:srgbClr val="5B7064"/>
                </a:solidFill>
                <a:latin typeface="DejaVu Sans"/>
                <a:ea typeface="DejaVu Sans"/>
                <a:cs typeface="DejaVu Sans"/>
              </a:defRPr>
            </a:lvl9pPr>
          </a:lstStyle>
          <a:p xmlns:a="http://schemas.openxmlformats.org/drawingml/2006/main">
            <a:pPr algn="l">
              <a:lnSpc>
                <a:spcPct val="108000"/>
              </a:lnSpc>
              <a:buNone/>
              <a:defRPr sz="1200" b="0">
                <a:solidFill>
                  <a:srgbClr val="5B7064"/>
                </a:solidFill>
                <a:latin typeface="DejaVu Sans"/>
                <a:ea typeface="DejaVu Sans"/>
                <a:cs typeface="DejaVu Sans"/>
              </a:defRPr>
            </a:pPr>
            <a:r>
              <a:rPr sz="1200" b="0">
                <a:solidFill>
                  <a:srgbClr val="5B7064"/>
                </a:solidFill>
                <a:latin typeface="DejaVu Sans"/>
                <a:ea typeface="DejaVu Sans"/>
                <a:cs typeface="DejaVu Sans"/>
              </a:rPr>
              <a:t>W1–W8 — относительные ориентиры после проверки свежего кода и ресурсов.</a:t>
            </a:r>
          </a:p>
        </p:txBody>
      </p:sp>
    </p:spTree>
    <p:extLst>
      <p:ext uri="{BB962C8B-B14F-4D97-AF65-F5344CB8AC3E}">
        <p14:creationId xmlns:p14="http://schemas.microsoft.com/office/powerpoint/2010/main" val="2078014571"/>
      </p:ext>
    </p:extLst>
  </p:cSld>
</p:sld>
</file>

<file path=ppt/slides/slide16.xml><?xml version="1.0" encoding="utf-8"?>
<p:sld xmlns:p="http://schemas.openxmlformats.org/presentationml/2006/main">
  <p:cSld>
    <p:bg>
      <p:bgPr>
        <a:solidFill xmlns:a="http://schemas.openxmlformats.org/drawingml/2006/main">
          <a:srgbClr val="173F32"/>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11DE56D-3BDF-48A0-9C39-CF89A77F932B}"/>
              </a:ext>
            </a:extLst>
          </p:cNvPr>
          <p:cNvSpPr>
            <a:spLocks xmlns:a="http://schemas.openxmlformats.org/drawingml/2006/main" noGrp="1"/>
          </p:cNvSpPr>
          <p:nvPr/>
        </p:nvSpPr>
        <p:spPr>
          <a:xfrm xmlns:a="http://schemas.openxmlformats.org/drawingml/2006/main">
            <a:off x="609600" y="361950"/>
            <a:ext cx="12496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F6F3EB"/>
                </a:solidFill>
                <a:latin typeface="DejaVu Sans"/>
                <a:ea typeface="DejaVu Sans"/>
                <a:cs typeface="DejaVu Sans"/>
              </a:defRPr>
            </a:defPPr>
            <a:lvl1pPr algn="l">
              <a:defRPr sz="3450" b="1">
                <a:solidFill>
                  <a:srgbClr val="F6F3EB"/>
                </a:solidFill>
                <a:latin typeface="DejaVu Sans"/>
                <a:ea typeface="DejaVu Sans"/>
                <a:cs typeface="DejaVu Sans"/>
              </a:defRPr>
            </a:lvl1pPr>
            <a:lvl2pPr algn="l">
              <a:defRPr sz="3450" b="1">
                <a:solidFill>
                  <a:srgbClr val="F6F3EB"/>
                </a:solidFill>
                <a:latin typeface="DejaVu Sans"/>
                <a:ea typeface="DejaVu Sans"/>
                <a:cs typeface="DejaVu Sans"/>
              </a:defRPr>
            </a:lvl2pPr>
            <a:lvl3pPr algn="l">
              <a:defRPr sz="3450" b="1">
                <a:solidFill>
                  <a:srgbClr val="F6F3EB"/>
                </a:solidFill>
                <a:latin typeface="DejaVu Sans"/>
                <a:ea typeface="DejaVu Sans"/>
                <a:cs typeface="DejaVu Sans"/>
              </a:defRPr>
            </a:lvl3pPr>
            <a:lvl4pPr algn="l">
              <a:defRPr sz="3450" b="1">
                <a:solidFill>
                  <a:srgbClr val="F6F3EB"/>
                </a:solidFill>
                <a:latin typeface="DejaVu Sans"/>
                <a:ea typeface="DejaVu Sans"/>
                <a:cs typeface="DejaVu Sans"/>
              </a:defRPr>
            </a:lvl4pPr>
            <a:lvl5pPr algn="l">
              <a:defRPr sz="3450" b="1">
                <a:solidFill>
                  <a:srgbClr val="F6F3EB"/>
                </a:solidFill>
                <a:latin typeface="DejaVu Sans"/>
                <a:ea typeface="DejaVu Sans"/>
                <a:cs typeface="DejaVu Sans"/>
              </a:defRPr>
            </a:lvl5pPr>
            <a:lvl6pPr algn="l">
              <a:defRPr sz="3450" b="1">
                <a:solidFill>
                  <a:srgbClr val="F6F3EB"/>
                </a:solidFill>
                <a:latin typeface="DejaVu Sans"/>
                <a:ea typeface="DejaVu Sans"/>
                <a:cs typeface="DejaVu Sans"/>
              </a:defRPr>
            </a:lvl6pPr>
            <a:lvl7pPr algn="l">
              <a:defRPr sz="3450" b="1">
                <a:solidFill>
                  <a:srgbClr val="F6F3EB"/>
                </a:solidFill>
                <a:latin typeface="DejaVu Sans"/>
                <a:ea typeface="DejaVu Sans"/>
                <a:cs typeface="DejaVu Sans"/>
              </a:defRPr>
            </a:lvl7pPr>
            <a:lvl8pPr algn="l">
              <a:defRPr sz="3450" b="1">
                <a:solidFill>
                  <a:srgbClr val="F6F3EB"/>
                </a:solidFill>
                <a:latin typeface="DejaVu Sans"/>
                <a:ea typeface="DejaVu Sans"/>
                <a:cs typeface="DejaVu Sans"/>
              </a:defRPr>
            </a:lvl8pPr>
            <a:lvl9pPr algn="l">
              <a:defRPr sz="3450" b="1">
                <a:solidFill>
                  <a:srgbClr val="F6F3EB"/>
                </a:solidFill>
                <a:latin typeface="DejaVu Sans"/>
                <a:ea typeface="DejaVu Sans"/>
                <a:cs typeface="DejaVu Sans"/>
              </a:defRPr>
            </a:lvl9pPr>
          </a:lstStyle>
          <a:p xmlns:a="http://schemas.openxmlformats.org/drawingml/2006/main">
            <a:pPr algn="l">
              <a:lnSpc>
                <a:spcPct val="108000"/>
              </a:lnSpc>
              <a:buNone/>
              <a:defRPr sz="3450" b="1">
                <a:solidFill>
                  <a:srgbClr val="F6F3EB"/>
                </a:solidFill>
                <a:latin typeface="DejaVu Sans"/>
                <a:ea typeface="DejaVu Sans"/>
                <a:cs typeface="DejaVu Sans"/>
              </a:defRPr>
            </a:pPr>
            <a:r>
              <a:rPr sz="3450" b="1">
                <a:solidFill>
                  <a:srgbClr val="F6F3EB"/>
                </a:solidFill>
                <a:latin typeface="DejaVu Sans"/>
                <a:ea typeface="DejaVu Sans"/>
                <a:cs typeface="DejaVu Sans"/>
              </a:rPr>
              <a:t>Состояние материалов и внешние зависимости</a:t>
            </a:r>
          </a:p>
        </p:txBody>
      </p:sp>
      <p:sp>
        <p:nvSpPr>
          <p:cNvPr id="2" name="slide-number">
            <a:extLst xmlns:a="http://schemas.openxmlformats.org/drawingml/2006/main">
              <a:ext uri="{FF2B5EF4-FFF2-40B4-BE49-F238E27FC236}">
                <a16:creationId xmlns:a16="http://schemas.microsoft.com/office/drawing/2014/main" id="{EAC0219E-7DAF-4DC4-AA63-23C782C04842}"/>
              </a:ext>
            </a:extLst>
          </p:cNvPr>
          <p:cNvSpPr>
            <a:spLocks xmlns:a="http://schemas.openxmlformats.org/drawingml/2006/main" noGrp="1"/>
          </p:cNvSpPr>
          <p:nvPr/>
        </p:nvSpPr>
        <p:spPr>
          <a:xfrm xmlns:a="http://schemas.openxmlformats.org/drawingml/2006/main">
            <a:off x="12573000" y="733425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B9CEC0"/>
                </a:solidFill>
                <a:latin typeface="DejaVu Sans"/>
                <a:ea typeface="DejaVu Sans"/>
                <a:cs typeface="DejaVu Sans"/>
              </a:defRPr>
            </a:defPPr>
            <a:lvl1pPr algn="r">
              <a:defRPr sz="1200" b="0">
                <a:solidFill>
                  <a:srgbClr val="B9CEC0"/>
                </a:solidFill>
                <a:latin typeface="DejaVu Sans"/>
                <a:ea typeface="DejaVu Sans"/>
                <a:cs typeface="DejaVu Sans"/>
              </a:defRPr>
            </a:lvl1pPr>
            <a:lvl2pPr algn="r">
              <a:defRPr sz="1200" b="0">
                <a:solidFill>
                  <a:srgbClr val="B9CEC0"/>
                </a:solidFill>
                <a:latin typeface="DejaVu Sans"/>
                <a:ea typeface="DejaVu Sans"/>
                <a:cs typeface="DejaVu Sans"/>
              </a:defRPr>
            </a:lvl2pPr>
            <a:lvl3pPr algn="r">
              <a:defRPr sz="1200" b="0">
                <a:solidFill>
                  <a:srgbClr val="B9CEC0"/>
                </a:solidFill>
                <a:latin typeface="DejaVu Sans"/>
                <a:ea typeface="DejaVu Sans"/>
                <a:cs typeface="DejaVu Sans"/>
              </a:defRPr>
            </a:lvl3pPr>
            <a:lvl4pPr algn="r">
              <a:defRPr sz="1200" b="0">
                <a:solidFill>
                  <a:srgbClr val="B9CEC0"/>
                </a:solidFill>
                <a:latin typeface="DejaVu Sans"/>
                <a:ea typeface="DejaVu Sans"/>
                <a:cs typeface="DejaVu Sans"/>
              </a:defRPr>
            </a:lvl4pPr>
            <a:lvl5pPr algn="r">
              <a:defRPr sz="1200" b="0">
                <a:solidFill>
                  <a:srgbClr val="B9CEC0"/>
                </a:solidFill>
                <a:latin typeface="DejaVu Sans"/>
                <a:ea typeface="DejaVu Sans"/>
                <a:cs typeface="DejaVu Sans"/>
              </a:defRPr>
            </a:lvl5pPr>
            <a:lvl6pPr algn="r">
              <a:defRPr sz="1200" b="0">
                <a:solidFill>
                  <a:srgbClr val="B9CEC0"/>
                </a:solidFill>
                <a:latin typeface="DejaVu Sans"/>
                <a:ea typeface="DejaVu Sans"/>
                <a:cs typeface="DejaVu Sans"/>
              </a:defRPr>
            </a:lvl6pPr>
            <a:lvl7pPr algn="r">
              <a:defRPr sz="1200" b="0">
                <a:solidFill>
                  <a:srgbClr val="B9CEC0"/>
                </a:solidFill>
                <a:latin typeface="DejaVu Sans"/>
                <a:ea typeface="DejaVu Sans"/>
                <a:cs typeface="DejaVu Sans"/>
              </a:defRPr>
            </a:lvl7pPr>
            <a:lvl8pPr algn="r">
              <a:defRPr sz="1200" b="0">
                <a:solidFill>
                  <a:srgbClr val="B9CEC0"/>
                </a:solidFill>
                <a:latin typeface="DejaVu Sans"/>
                <a:ea typeface="DejaVu Sans"/>
                <a:cs typeface="DejaVu Sans"/>
              </a:defRPr>
            </a:lvl8pPr>
            <a:lvl9pPr algn="r">
              <a:defRPr sz="1200" b="0">
                <a:solidFill>
                  <a:srgbClr val="B9CEC0"/>
                </a:solidFill>
                <a:latin typeface="DejaVu Sans"/>
                <a:ea typeface="DejaVu Sans"/>
                <a:cs typeface="DejaVu Sans"/>
              </a:defRPr>
            </a:lvl9pPr>
          </a:lstStyle>
          <a:p xmlns:a="http://schemas.openxmlformats.org/drawingml/2006/main">
            <a:pPr algn="r">
              <a:lnSpc>
                <a:spcPct val="108000"/>
              </a:lnSpc>
              <a:buNone/>
              <a:defRPr sz="1200" b="0">
                <a:solidFill>
                  <a:srgbClr val="B9CEC0"/>
                </a:solidFill>
                <a:latin typeface="DejaVu Sans"/>
                <a:ea typeface="DejaVu Sans"/>
                <a:cs typeface="DejaVu Sans"/>
              </a:defRPr>
            </a:pPr>
            <a:r>
              <a:rPr sz="1200" b="0">
                <a:solidFill>
                  <a:srgbClr val="B9CEC0"/>
                </a:solidFill>
                <a:latin typeface="DejaVu Sans"/>
                <a:ea typeface="DejaVu Sans"/>
                <a:cs typeface="DejaVu Sans"/>
              </a:rPr>
              <a:t>16</a:t>
            </a:r>
          </a:p>
        </p:txBody>
      </p:sp>
      <p:sp>
        <p:nvSpPr>
          <p:cNvPr id="3" name="text-2">
            <a:extLst xmlns:a="http://schemas.openxmlformats.org/drawingml/2006/main">
              <a:ext uri="{FF2B5EF4-FFF2-40B4-BE49-F238E27FC236}">
                <a16:creationId xmlns:a16="http://schemas.microsoft.com/office/drawing/2014/main" id="{A311FB5A-E963-4BEB-B287-B81657400148}"/>
              </a:ext>
            </a:extLst>
          </p:cNvPr>
          <p:cNvSpPr>
            <a:spLocks xmlns:a="http://schemas.openxmlformats.org/drawingml/2006/main" noGrp="1"/>
          </p:cNvSpPr>
          <p:nvPr/>
        </p:nvSpPr>
        <p:spPr>
          <a:xfrm xmlns:a="http://schemas.openxmlformats.org/drawingml/2006/main">
            <a:off x="609600" y="160020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6F3EB"/>
                </a:solidFill>
                <a:latin typeface="DejaVu Sans"/>
                <a:ea typeface="DejaVu Sans"/>
                <a:cs typeface="DejaVu Sans"/>
              </a:defRPr>
            </a:defPPr>
            <a:lvl1pPr algn="l">
              <a:defRPr sz="2475" b="1">
                <a:solidFill>
                  <a:srgbClr val="F6F3EB"/>
                </a:solidFill>
                <a:latin typeface="DejaVu Sans"/>
                <a:ea typeface="DejaVu Sans"/>
                <a:cs typeface="DejaVu Sans"/>
              </a:defRPr>
            </a:lvl1pPr>
            <a:lvl2pPr algn="l">
              <a:defRPr sz="2475" b="1">
                <a:solidFill>
                  <a:srgbClr val="F6F3EB"/>
                </a:solidFill>
                <a:latin typeface="DejaVu Sans"/>
                <a:ea typeface="DejaVu Sans"/>
                <a:cs typeface="DejaVu Sans"/>
              </a:defRPr>
            </a:lvl2pPr>
            <a:lvl3pPr algn="l">
              <a:defRPr sz="2475" b="1">
                <a:solidFill>
                  <a:srgbClr val="F6F3EB"/>
                </a:solidFill>
                <a:latin typeface="DejaVu Sans"/>
                <a:ea typeface="DejaVu Sans"/>
                <a:cs typeface="DejaVu Sans"/>
              </a:defRPr>
            </a:lvl3pPr>
            <a:lvl4pPr algn="l">
              <a:defRPr sz="2475" b="1">
                <a:solidFill>
                  <a:srgbClr val="F6F3EB"/>
                </a:solidFill>
                <a:latin typeface="DejaVu Sans"/>
                <a:ea typeface="DejaVu Sans"/>
                <a:cs typeface="DejaVu Sans"/>
              </a:defRPr>
            </a:lvl4pPr>
            <a:lvl5pPr algn="l">
              <a:defRPr sz="2475" b="1">
                <a:solidFill>
                  <a:srgbClr val="F6F3EB"/>
                </a:solidFill>
                <a:latin typeface="DejaVu Sans"/>
                <a:ea typeface="DejaVu Sans"/>
                <a:cs typeface="DejaVu Sans"/>
              </a:defRPr>
            </a:lvl5pPr>
            <a:lvl6pPr algn="l">
              <a:defRPr sz="2475" b="1">
                <a:solidFill>
                  <a:srgbClr val="F6F3EB"/>
                </a:solidFill>
                <a:latin typeface="DejaVu Sans"/>
                <a:ea typeface="DejaVu Sans"/>
                <a:cs typeface="DejaVu Sans"/>
              </a:defRPr>
            </a:lvl6pPr>
            <a:lvl7pPr algn="l">
              <a:defRPr sz="2475" b="1">
                <a:solidFill>
                  <a:srgbClr val="F6F3EB"/>
                </a:solidFill>
                <a:latin typeface="DejaVu Sans"/>
                <a:ea typeface="DejaVu Sans"/>
                <a:cs typeface="DejaVu Sans"/>
              </a:defRPr>
            </a:lvl7pPr>
            <a:lvl8pPr algn="l">
              <a:defRPr sz="2475" b="1">
                <a:solidFill>
                  <a:srgbClr val="F6F3EB"/>
                </a:solidFill>
                <a:latin typeface="DejaVu Sans"/>
                <a:ea typeface="DejaVu Sans"/>
                <a:cs typeface="DejaVu Sans"/>
              </a:defRPr>
            </a:lvl8pPr>
            <a:lvl9pPr algn="l">
              <a:defRPr sz="2475" b="1">
                <a:solidFill>
                  <a:srgbClr val="F6F3EB"/>
                </a:solidFill>
                <a:latin typeface="DejaVu Sans"/>
                <a:ea typeface="DejaVu Sans"/>
                <a:cs typeface="DejaVu Sans"/>
              </a:defRPr>
            </a:lvl9pPr>
          </a:lstStyle>
          <a:p xmlns:a="http://schemas.openxmlformats.org/drawingml/2006/main">
            <a:pPr algn="l">
              <a:lnSpc>
                <a:spcPct val="108000"/>
              </a:lnSpc>
              <a:buNone/>
              <a:defRPr sz="2475" b="1">
                <a:solidFill>
                  <a:srgbClr val="F6F3EB"/>
                </a:solidFill>
                <a:latin typeface="DejaVu Sans"/>
                <a:ea typeface="DejaVu Sans"/>
                <a:cs typeface="DejaVu Sans"/>
              </a:defRPr>
            </a:pPr>
            <a:r>
              <a:rPr sz="2475" b="1">
                <a:solidFill>
                  <a:srgbClr val="F6F3EB"/>
                </a:solidFill>
                <a:latin typeface="DejaVu Sans"/>
                <a:ea typeface="DejaVu Sans"/>
                <a:cs typeface="DejaVu Sans"/>
              </a:rPr>
              <a:t>Подготовлены</a:t>
            </a:r>
          </a:p>
        </p:txBody>
      </p:sp>
      <p:sp>
        <p:nvSpPr>
          <p:cNvPr id="4" name="text-3">
            <a:extLst xmlns:a="http://schemas.openxmlformats.org/drawingml/2006/main">
              <a:ext uri="{FF2B5EF4-FFF2-40B4-BE49-F238E27FC236}">
                <a16:creationId xmlns:a16="http://schemas.microsoft.com/office/drawing/2014/main" id="{6E17F42E-070B-49BD-BECB-1A270771AB05}"/>
              </a:ext>
            </a:extLst>
          </p:cNvPr>
          <p:cNvSpPr>
            <a:spLocks xmlns:a="http://schemas.openxmlformats.org/drawingml/2006/main" noGrp="1"/>
          </p:cNvSpPr>
          <p:nvPr/>
        </p:nvSpPr>
        <p:spPr>
          <a:xfrm xmlns:a="http://schemas.openxmlformats.org/drawingml/2006/main">
            <a:off x="609600" y="2457450"/>
            <a:ext cx="5762625" cy="3114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F6F3EB"/>
                </a:solidFill>
                <a:latin typeface="DejaVu Sans"/>
                <a:ea typeface="DejaVu Sans"/>
                <a:cs typeface="DejaVu Sans"/>
              </a:defRPr>
            </a:defPPr>
            <a:lvl1pPr algn="l">
              <a:defRPr sz="2100" b="0">
                <a:solidFill>
                  <a:srgbClr val="F6F3EB"/>
                </a:solidFill>
                <a:latin typeface="DejaVu Sans"/>
                <a:ea typeface="DejaVu Sans"/>
                <a:cs typeface="DejaVu Sans"/>
              </a:defRPr>
            </a:lvl1pPr>
            <a:lvl2pPr algn="l">
              <a:defRPr sz="2100" b="0">
                <a:solidFill>
                  <a:srgbClr val="F6F3EB"/>
                </a:solidFill>
                <a:latin typeface="DejaVu Sans"/>
                <a:ea typeface="DejaVu Sans"/>
                <a:cs typeface="DejaVu Sans"/>
              </a:defRPr>
            </a:lvl2pPr>
            <a:lvl3pPr algn="l">
              <a:defRPr sz="2100" b="0">
                <a:solidFill>
                  <a:srgbClr val="F6F3EB"/>
                </a:solidFill>
                <a:latin typeface="DejaVu Sans"/>
                <a:ea typeface="DejaVu Sans"/>
                <a:cs typeface="DejaVu Sans"/>
              </a:defRPr>
            </a:lvl3pPr>
            <a:lvl4pPr algn="l">
              <a:defRPr sz="2100" b="0">
                <a:solidFill>
                  <a:srgbClr val="F6F3EB"/>
                </a:solidFill>
                <a:latin typeface="DejaVu Sans"/>
                <a:ea typeface="DejaVu Sans"/>
                <a:cs typeface="DejaVu Sans"/>
              </a:defRPr>
            </a:lvl4pPr>
            <a:lvl5pPr algn="l">
              <a:defRPr sz="2100" b="0">
                <a:solidFill>
                  <a:srgbClr val="F6F3EB"/>
                </a:solidFill>
                <a:latin typeface="DejaVu Sans"/>
                <a:ea typeface="DejaVu Sans"/>
                <a:cs typeface="DejaVu Sans"/>
              </a:defRPr>
            </a:lvl5pPr>
            <a:lvl6pPr algn="l">
              <a:defRPr sz="2100" b="0">
                <a:solidFill>
                  <a:srgbClr val="F6F3EB"/>
                </a:solidFill>
                <a:latin typeface="DejaVu Sans"/>
                <a:ea typeface="DejaVu Sans"/>
                <a:cs typeface="DejaVu Sans"/>
              </a:defRPr>
            </a:lvl6pPr>
            <a:lvl7pPr algn="l">
              <a:defRPr sz="2100" b="0">
                <a:solidFill>
                  <a:srgbClr val="F6F3EB"/>
                </a:solidFill>
                <a:latin typeface="DejaVu Sans"/>
                <a:ea typeface="DejaVu Sans"/>
                <a:cs typeface="DejaVu Sans"/>
              </a:defRPr>
            </a:lvl7pPr>
            <a:lvl8pPr algn="l">
              <a:defRPr sz="2100" b="0">
                <a:solidFill>
                  <a:srgbClr val="F6F3EB"/>
                </a:solidFill>
                <a:latin typeface="DejaVu Sans"/>
                <a:ea typeface="DejaVu Sans"/>
                <a:cs typeface="DejaVu Sans"/>
              </a:defRPr>
            </a:lvl8pPr>
            <a:lvl9pPr algn="l">
              <a:defRPr sz="2100" b="0">
                <a:solidFill>
                  <a:srgbClr val="F6F3EB"/>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Proposal и критический обзор</a:t>
            </a:r>
          </a:p>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Сравнения, требования и шесть ADR</a:t>
            </a:r>
          </a:p>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Три схемы и mobile-прототип</a:t>
            </a:r>
          </a:p>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ML-протокол, backlog и план проверки</a:t>
            </a:r>
          </a:p>
        </p:txBody>
      </p:sp>
      <p:sp>
        <p:nvSpPr>
          <p:cNvPr id="5" name="text-4">
            <a:extLst xmlns:a="http://schemas.openxmlformats.org/drawingml/2006/main">
              <a:ext uri="{FF2B5EF4-FFF2-40B4-BE49-F238E27FC236}">
                <a16:creationId xmlns:a16="http://schemas.microsoft.com/office/drawing/2014/main" id="{7480B410-618B-4DE6-B940-BCBBB667E6AA}"/>
              </a:ext>
            </a:extLst>
          </p:cNvPr>
          <p:cNvSpPr>
            <a:spLocks xmlns:a="http://schemas.openxmlformats.org/drawingml/2006/main" noGrp="1"/>
          </p:cNvSpPr>
          <p:nvPr/>
        </p:nvSpPr>
        <p:spPr>
          <a:xfrm xmlns:a="http://schemas.openxmlformats.org/drawingml/2006/main">
            <a:off x="7267575" y="1600200"/>
            <a:ext cx="583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6F3EB"/>
                </a:solidFill>
                <a:latin typeface="DejaVu Sans"/>
                <a:ea typeface="DejaVu Sans"/>
                <a:cs typeface="DejaVu Sans"/>
              </a:defRPr>
            </a:defPPr>
            <a:lvl1pPr algn="l">
              <a:defRPr sz="2475" b="1">
                <a:solidFill>
                  <a:srgbClr val="F6F3EB"/>
                </a:solidFill>
                <a:latin typeface="DejaVu Sans"/>
                <a:ea typeface="DejaVu Sans"/>
                <a:cs typeface="DejaVu Sans"/>
              </a:defRPr>
            </a:lvl1pPr>
            <a:lvl2pPr algn="l">
              <a:defRPr sz="2475" b="1">
                <a:solidFill>
                  <a:srgbClr val="F6F3EB"/>
                </a:solidFill>
                <a:latin typeface="DejaVu Sans"/>
                <a:ea typeface="DejaVu Sans"/>
                <a:cs typeface="DejaVu Sans"/>
              </a:defRPr>
            </a:lvl2pPr>
            <a:lvl3pPr algn="l">
              <a:defRPr sz="2475" b="1">
                <a:solidFill>
                  <a:srgbClr val="F6F3EB"/>
                </a:solidFill>
                <a:latin typeface="DejaVu Sans"/>
                <a:ea typeface="DejaVu Sans"/>
                <a:cs typeface="DejaVu Sans"/>
              </a:defRPr>
            </a:lvl3pPr>
            <a:lvl4pPr algn="l">
              <a:defRPr sz="2475" b="1">
                <a:solidFill>
                  <a:srgbClr val="F6F3EB"/>
                </a:solidFill>
                <a:latin typeface="DejaVu Sans"/>
                <a:ea typeface="DejaVu Sans"/>
                <a:cs typeface="DejaVu Sans"/>
              </a:defRPr>
            </a:lvl4pPr>
            <a:lvl5pPr algn="l">
              <a:defRPr sz="2475" b="1">
                <a:solidFill>
                  <a:srgbClr val="F6F3EB"/>
                </a:solidFill>
                <a:latin typeface="DejaVu Sans"/>
                <a:ea typeface="DejaVu Sans"/>
                <a:cs typeface="DejaVu Sans"/>
              </a:defRPr>
            </a:lvl5pPr>
            <a:lvl6pPr algn="l">
              <a:defRPr sz="2475" b="1">
                <a:solidFill>
                  <a:srgbClr val="F6F3EB"/>
                </a:solidFill>
                <a:latin typeface="DejaVu Sans"/>
                <a:ea typeface="DejaVu Sans"/>
                <a:cs typeface="DejaVu Sans"/>
              </a:defRPr>
            </a:lvl6pPr>
            <a:lvl7pPr algn="l">
              <a:defRPr sz="2475" b="1">
                <a:solidFill>
                  <a:srgbClr val="F6F3EB"/>
                </a:solidFill>
                <a:latin typeface="DejaVu Sans"/>
                <a:ea typeface="DejaVu Sans"/>
                <a:cs typeface="DejaVu Sans"/>
              </a:defRPr>
            </a:lvl7pPr>
            <a:lvl8pPr algn="l">
              <a:defRPr sz="2475" b="1">
                <a:solidFill>
                  <a:srgbClr val="F6F3EB"/>
                </a:solidFill>
                <a:latin typeface="DejaVu Sans"/>
                <a:ea typeface="DejaVu Sans"/>
                <a:cs typeface="DejaVu Sans"/>
              </a:defRPr>
            </a:lvl8pPr>
            <a:lvl9pPr algn="l">
              <a:defRPr sz="2475" b="1">
                <a:solidFill>
                  <a:srgbClr val="F6F3EB"/>
                </a:solidFill>
                <a:latin typeface="DejaVu Sans"/>
                <a:ea typeface="DejaVu Sans"/>
                <a:cs typeface="DejaVu Sans"/>
              </a:defRPr>
            </a:lvl9pPr>
          </a:lstStyle>
          <a:p xmlns:a="http://schemas.openxmlformats.org/drawingml/2006/main">
            <a:pPr algn="l">
              <a:lnSpc>
                <a:spcPct val="108000"/>
              </a:lnSpc>
              <a:buNone/>
              <a:defRPr sz="2475" b="1">
                <a:solidFill>
                  <a:srgbClr val="F6F3EB"/>
                </a:solidFill>
                <a:latin typeface="DejaVu Sans"/>
                <a:ea typeface="DejaVu Sans"/>
                <a:cs typeface="DejaVu Sans"/>
              </a:defRPr>
            </a:pPr>
            <a:r>
              <a:rPr sz="2475" b="1">
                <a:solidFill>
                  <a:srgbClr val="F6F3EB"/>
                </a:solidFill>
                <a:latin typeface="DejaVu Sans"/>
                <a:ea typeface="DejaVu Sans"/>
                <a:cs typeface="DejaVu Sans"/>
              </a:rPr>
              <a:t>Нужны реальные свидетельства</a:t>
            </a:r>
          </a:p>
        </p:txBody>
      </p:sp>
      <p:sp>
        <p:nvSpPr>
          <p:cNvPr id="6" name="text-5">
            <a:extLst xmlns:a="http://schemas.openxmlformats.org/drawingml/2006/main">
              <a:ext uri="{FF2B5EF4-FFF2-40B4-BE49-F238E27FC236}">
                <a16:creationId xmlns:a16="http://schemas.microsoft.com/office/drawing/2014/main" id="{04960A77-69F4-4301-93A6-9E70829595B4}"/>
              </a:ext>
            </a:extLst>
          </p:cNvPr>
          <p:cNvSpPr>
            <a:spLocks xmlns:a="http://schemas.openxmlformats.org/drawingml/2006/main" noGrp="1"/>
          </p:cNvSpPr>
          <p:nvPr/>
        </p:nvSpPr>
        <p:spPr>
          <a:xfrm xmlns:a="http://schemas.openxmlformats.org/drawingml/2006/main">
            <a:off x="7267575" y="2457450"/>
            <a:ext cx="5838825" cy="3114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0">
                <a:solidFill>
                  <a:srgbClr val="F6F3EB"/>
                </a:solidFill>
                <a:latin typeface="DejaVu Sans"/>
                <a:ea typeface="DejaVu Sans"/>
                <a:cs typeface="DejaVu Sans"/>
              </a:defRPr>
            </a:defPPr>
            <a:lvl1pPr algn="l">
              <a:defRPr sz="2100" b="0">
                <a:solidFill>
                  <a:srgbClr val="F6F3EB"/>
                </a:solidFill>
                <a:latin typeface="DejaVu Sans"/>
                <a:ea typeface="DejaVu Sans"/>
                <a:cs typeface="DejaVu Sans"/>
              </a:defRPr>
            </a:lvl1pPr>
            <a:lvl2pPr algn="l">
              <a:defRPr sz="2100" b="0">
                <a:solidFill>
                  <a:srgbClr val="F6F3EB"/>
                </a:solidFill>
                <a:latin typeface="DejaVu Sans"/>
                <a:ea typeface="DejaVu Sans"/>
                <a:cs typeface="DejaVu Sans"/>
              </a:defRPr>
            </a:lvl2pPr>
            <a:lvl3pPr algn="l">
              <a:defRPr sz="2100" b="0">
                <a:solidFill>
                  <a:srgbClr val="F6F3EB"/>
                </a:solidFill>
                <a:latin typeface="DejaVu Sans"/>
                <a:ea typeface="DejaVu Sans"/>
                <a:cs typeface="DejaVu Sans"/>
              </a:defRPr>
            </a:lvl3pPr>
            <a:lvl4pPr algn="l">
              <a:defRPr sz="2100" b="0">
                <a:solidFill>
                  <a:srgbClr val="F6F3EB"/>
                </a:solidFill>
                <a:latin typeface="DejaVu Sans"/>
                <a:ea typeface="DejaVu Sans"/>
                <a:cs typeface="DejaVu Sans"/>
              </a:defRPr>
            </a:lvl4pPr>
            <a:lvl5pPr algn="l">
              <a:defRPr sz="2100" b="0">
                <a:solidFill>
                  <a:srgbClr val="F6F3EB"/>
                </a:solidFill>
                <a:latin typeface="DejaVu Sans"/>
                <a:ea typeface="DejaVu Sans"/>
                <a:cs typeface="DejaVu Sans"/>
              </a:defRPr>
            </a:lvl5pPr>
            <a:lvl6pPr algn="l">
              <a:defRPr sz="2100" b="0">
                <a:solidFill>
                  <a:srgbClr val="F6F3EB"/>
                </a:solidFill>
                <a:latin typeface="DejaVu Sans"/>
                <a:ea typeface="DejaVu Sans"/>
                <a:cs typeface="DejaVu Sans"/>
              </a:defRPr>
            </a:lvl6pPr>
            <a:lvl7pPr algn="l">
              <a:defRPr sz="2100" b="0">
                <a:solidFill>
                  <a:srgbClr val="F6F3EB"/>
                </a:solidFill>
                <a:latin typeface="DejaVu Sans"/>
                <a:ea typeface="DejaVu Sans"/>
                <a:cs typeface="DejaVu Sans"/>
              </a:defRPr>
            </a:lvl7pPr>
            <a:lvl8pPr algn="l">
              <a:defRPr sz="2100" b="0">
                <a:solidFill>
                  <a:srgbClr val="F6F3EB"/>
                </a:solidFill>
                <a:latin typeface="DejaVu Sans"/>
                <a:ea typeface="DejaVu Sans"/>
                <a:cs typeface="DejaVu Sans"/>
              </a:defRPr>
            </a:lvl8pPr>
            <a:lvl9pPr algn="l">
              <a:defRPr sz="2100" b="0">
                <a:solidFill>
                  <a:srgbClr val="F6F3EB"/>
                </a:solidFill>
                <a:latin typeface="DejaVu Sans"/>
                <a:ea typeface="DejaVu Sans"/>
                <a:cs typeface="DejaVu Sans"/>
              </a:defRPr>
            </a:lvl9pPr>
          </a:lstStyle>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3–5 обсуждений или реальный заказчик</a:t>
            </a:r>
          </a:p>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Проверенные Git и YouTrack с историей</a:t>
            </a:r>
          </a:p>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Отзыв руководителя и решения по нему</a:t>
            </a:r>
          </a:p>
          <a:p xmlns:a="http://schemas.openxmlformats.org/drawingml/2006/main">
            <a:pPr marL="241300" indent="-127000" algn="l">
              <a:lnSpc>
                <a:spcPct val="108000"/>
              </a:lnSpc>
              <a:spcAft>
                <a:spcPts val="1200"/>
              </a:spcAft>
              <a:buNone/>
              <a:defRPr sz="2100" b="0">
                <a:solidFill>
                  <a:srgbClr val="F6F3EB"/>
                </a:solidFill>
                <a:latin typeface="DejaVu Sans"/>
                <a:ea typeface="DejaVu Sans"/>
                <a:cs typeface="DejaVu Sans"/>
              </a:defRPr>
            </a:pPr>
            <a:r>
              <a:rPr sz="2100">
                <a:solidFill>
                  <a:srgbClr val="F6F3EB"/>
                </a:solidFill>
                <a:latin typeface="DejaVu Sans"/>
                <a:ea typeface="DejaVu Sans"/>
                <a:cs typeface="DejaVu Sans"/>
              </a:rPr>
              <a:t>Позднее: запуски, метрики и локальный тест</a:t>
            </a:r>
          </a:p>
        </p:txBody>
      </p:sp>
      <p:sp>
        <p:nvSpPr>
          <p:cNvPr id="7" name="text-6">
            <a:extLst xmlns:a="http://schemas.openxmlformats.org/drawingml/2006/main">
              <a:ext uri="{FF2B5EF4-FFF2-40B4-BE49-F238E27FC236}">
                <a16:creationId xmlns:a16="http://schemas.microsoft.com/office/drawing/2014/main" id="{AC3ED2C5-D9A0-469D-9B61-875684A7D9CC}"/>
              </a:ext>
            </a:extLst>
          </p:cNvPr>
          <p:cNvSpPr>
            <a:spLocks xmlns:a="http://schemas.openxmlformats.org/drawingml/2006/main" noGrp="1"/>
          </p:cNvSpPr>
          <p:nvPr/>
        </p:nvSpPr>
        <p:spPr>
          <a:xfrm xmlns:a="http://schemas.openxmlformats.org/drawingml/2006/main">
            <a:off x="609600" y="6191250"/>
            <a:ext cx="12496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F6F3EB"/>
                </a:solidFill>
                <a:latin typeface="DejaVu Sans"/>
                <a:ea typeface="DejaVu Sans"/>
                <a:cs typeface="DejaVu Sans"/>
              </a:defRPr>
            </a:defPPr>
            <a:lvl1pPr algn="l">
              <a:defRPr sz="2325" b="1">
                <a:solidFill>
                  <a:srgbClr val="F6F3EB"/>
                </a:solidFill>
                <a:latin typeface="DejaVu Sans"/>
                <a:ea typeface="DejaVu Sans"/>
                <a:cs typeface="DejaVu Sans"/>
              </a:defRPr>
            </a:lvl1pPr>
            <a:lvl2pPr algn="l">
              <a:defRPr sz="2325" b="1">
                <a:solidFill>
                  <a:srgbClr val="F6F3EB"/>
                </a:solidFill>
                <a:latin typeface="DejaVu Sans"/>
                <a:ea typeface="DejaVu Sans"/>
                <a:cs typeface="DejaVu Sans"/>
              </a:defRPr>
            </a:lvl2pPr>
            <a:lvl3pPr algn="l">
              <a:defRPr sz="2325" b="1">
                <a:solidFill>
                  <a:srgbClr val="F6F3EB"/>
                </a:solidFill>
                <a:latin typeface="DejaVu Sans"/>
                <a:ea typeface="DejaVu Sans"/>
                <a:cs typeface="DejaVu Sans"/>
              </a:defRPr>
            </a:lvl3pPr>
            <a:lvl4pPr algn="l">
              <a:defRPr sz="2325" b="1">
                <a:solidFill>
                  <a:srgbClr val="F6F3EB"/>
                </a:solidFill>
                <a:latin typeface="DejaVu Sans"/>
                <a:ea typeface="DejaVu Sans"/>
                <a:cs typeface="DejaVu Sans"/>
              </a:defRPr>
            </a:lvl4pPr>
            <a:lvl5pPr algn="l">
              <a:defRPr sz="2325" b="1">
                <a:solidFill>
                  <a:srgbClr val="F6F3EB"/>
                </a:solidFill>
                <a:latin typeface="DejaVu Sans"/>
                <a:ea typeface="DejaVu Sans"/>
                <a:cs typeface="DejaVu Sans"/>
              </a:defRPr>
            </a:lvl5pPr>
            <a:lvl6pPr algn="l">
              <a:defRPr sz="2325" b="1">
                <a:solidFill>
                  <a:srgbClr val="F6F3EB"/>
                </a:solidFill>
                <a:latin typeface="DejaVu Sans"/>
                <a:ea typeface="DejaVu Sans"/>
                <a:cs typeface="DejaVu Sans"/>
              </a:defRPr>
            </a:lvl6pPr>
            <a:lvl7pPr algn="l">
              <a:defRPr sz="2325" b="1">
                <a:solidFill>
                  <a:srgbClr val="F6F3EB"/>
                </a:solidFill>
                <a:latin typeface="DejaVu Sans"/>
                <a:ea typeface="DejaVu Sans"/>
                <a:cs typeface="DejaVu Sans"/>
              </a:defRPr>
            </a:lvl7pPr>
            <a:lvl8pPr algn="l">
              <a:defRPr sz="2325" b="1">
                <a:solidFill>
                  <a:srgbClr val="F6F3EB"/>
                </a:solidFill>
                <a:latin typeface="DejaVu Sans"/>
                <a:ea typeface="DejaVu Sans"/>
                <a:cs typeface="DejaVu Sans"/>
              </a:defRPr>
            </a:lvl8pPr>
            <a:lvl9pPr algn="l">
              <a:defRPr sz="2325" b="1">
                <a:solidFill>
                  <a:srgbClr val="F6F3EB"/>
                </a:solidFill>
                <a:latin typeface="DejaVu Sans"/>
                <a:ea typeface="DejaVu Sans"/>
                <a:cs typeface="DejaVu Sans"/>
              </a:defRPr>
            </a:lvl9pPr>
          </a:lstStyle>
          <a:p xmlns:a="http://schemas.openxmlformats.org/drawingml/2006/main">
            <a:pPr algn="l">
              <a:lnSpc>
                <a:spcPct val="108000"/>
              </a:lnSpc>
              <a:buNone/>
              <a:defRPr sz="2325" b="1">
                <a:solidFill>
                  <a:srgbClr val="F6F3EB"/>
                </a:solidFill>
                <a:latin typeface="DejaVu Sans"/>
                <a:ea typeface="DejaVu Sans"/>
                <a:cs typeface="DejaVu Sans"/>
              </a:defRPr>
            </a:pPr>
            <a:r>
              <a:rPr sz="2325" b="1">
                <a:solidFill>
                  <a:srgbClr val="F6F3EB"/>
                </a:solidFill>
                <a:latin typeface="DejaVu Sans"/>
                <a:ea typeface="DejaVu Sans"/>
                <a:cs typeface="DejaVu Sans"/>
              </a:rPr>
              <a:t>Вклад диплома: проверяемая многокультурная система</a:t>
            </a:r>
          </a:p>
          <a:p xmlns:a="http://schemas.openxmlformats.org/drawingml/2006/main">
            <a:pPr algn="l">
              <a:lnSpc>
                <a:spcPct val="108000"/>
              </a:lnSpc>
              <a:buNone/>
              <a:defRPr sz="2325" b="1">
                <a:solidFill>
                  <a:srgbClr val="F6F3EB"/>
                </a:solidFill>
                <a:latin typeface="DejaVu Sans"/>
                <a:ea typeface="DejaVu Sans"/>
                <a:cs typeface="DejaVu Sans"/>
              </a:defRPr>
            </a:pPr>
            <a:r>
              <a:rPr sz="2325" b="1">
                <a:solidFill>
                  <a:srgbClr val="F6F3EB"/>
                </a:solidFill>
                <a:latin typeface="DejaVu Sans"/>
                <a:ea typeface="DejaVu Sans"/>
                <a:cs typeface="DejaVu Sans"/>
              </a:rPr>
              <a:t>с измеренными границами применения в местных условиях</a:t>
            </a:r>
          </a:p>
        </p:txBody>
      </p:sp>
    </p:spTree>
    <p:extLst>
      <p:ext uri="{BB962C8B-B14F-4D97-AF65-F5344CB8AC3E}">
        <p14:creationId xmlns:p14="http://schemas.microsoft.com/office/powerpoint/2010/main" val="2144365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2026-10-21T13:24:35.7240000Z</dcterms:created>
  <dcterms:modified xsi:type="dcterms:W3CDTF">2026-10-21T13:24:35.7240000Z</dcterms:modified>
</coreProperties>
</file>